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webextensions/webextension1.xml" ContentType="application/vnd.ms-office.webextension+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webextensions/webextension2.xml" ContentType="application/vnd.ms-office.webextension+xml"/>
  <Override PartName="/ppt/webextensions/webextension3.xml" ContentType="application/vnd.ms-office.webextension+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39"/>
  </p:notesMasterIdLst>
  <p:sldIdLst>
    <p:sldId id="275" r:id="rId2"/>
    <p:sldId id="327" r:id="rId3"/>
    <p:sldId id="326" r:id="rId4"/>
    <p:sldId id="310" r:id="rId5"/>
    <p:sldId id="287" r:id="rId6"/>
    <p:sldId id="288" r:id="rId7"/>
    <p:sldId id="290" r:id="rId8"/>
    <p:sldId id="291" r:id="rId9"/>
    <p:sldId id="259" r:id="rId10"/>
    <p:sldId id="316" r:id="rId11"/>
    <p:sldId id="317" r:id="rId12"/>
    <p:sldId id="319" r:id="rId13"/>
    <p:sldId id="264" r:id="rId14"/>
    <p:sldId id="320" r:id="rId15"/>
    <p:sldId id="301" r:id="rId16"/>
    <p:sldId id="292" r:id="rId17"/>
    <p:sldId id="280" r:id="rId18"/>
    <p:sldId id="293" r:id="rId19"/>
    <p:sldId id="281" r:id="rId20"/>
    <p:sldId id="282" r:id="rId21"/>
    <p:sldId id="283" r:id="rId22"/>
    <p:sldId id="321" r:id="rId23"/>
    <p:sldId id="285" r:id="rId24"/>
    <p:sldId id="294" r:id="rId25"/>
    <p:sldId id="296" r:id="rId26"/>
    <p:sldId id="272" r:id="rId27"/>
    <p:sldId id="297" r:id="rId28"/>
    <p:sldId id="299" r:id="rId29"/>
    <p:sldId id="300" r:id="rId30"/>
    <p:sldId id="304" r:id="rId31"/>
    <p:sldId id="269" r:id="rId32"/>
    <p:sldId id="271" r:id="rId33"/>
    <p:sldId id="323" r:id="rId34"/>
    <p:sldId id="322" r:id="rId35"/>
    <p:sldId id="324" r:id="rId36"/>
    <p:sldId id="325" r:id="rId37"/>
    <p:sldId id="273" r:id="rId38"/>
  </p:sldIdLst>
  <p:sldSz cx="12192000" cy="6858000"/>
  <p:notesSz cx="6858000" cy="12192000"/>
  <p:custDataLst>
    <p:tags r:id="rId4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1DF12DA-67FE-47F6-A2B8-3FF7CF5E2825}">
          <p14:sldIdLst>
            <p14:sldId id="275"/>
            <p14:sldId id="327"/>
            <p14:sldId id="326"/>
            <p14:sldId id="310"/>
            <p14:sldId id="287"/>
            <p14:sldId id="288"/>
            <p14:sldId id="290"/>
            <p14:sldId id="291"/>
            <p14:sldId id="259"/>
            <p14:sldId id="316"/>
          </p14:sldIdLst>
        </p14:section>
        <p14:section name="ethics" id="{F3A14362-01A8-4673-AD33-7303AEBB9B38}">
          <p14:sldIdLst>
            <p14:sldId id="317"/>
            <p14:sldId id="319"/>
            <p14:sldId id="264"/>
            <p14:sldId id="320"/>
            <p14:sldId id="301"/>
            <p14:sldId id="292"/>
            <p14:sldId id="280"/>
            <p14:sldId id="293"/>
            <p14:sldId id="281"/>
            <p14:sldId id="282"/>
            <p14:sldId id="283"/>
            <p14:sldId id="321"/>
            <p14:sldId id="285"/>
            <p14:sldId id="294"/>
            <p14:sldId id="296"/>
            <p14:sldId id="272"/>
            <p14:sldId id="297"/>
            <p14:sldId id="299"/>
            <p14:sldId id="300"/>
            <p14:sldId id="304"/>
            <p14:sldId id="269"/>
            <p14:sldId id="271"/>
            <p14:sldId id="323"/>
            <p14:sldId id="322"/>
            <p14:sldId id="324"/>
            <p14:sldId id="325"/>
            <p14:sldId id="273"/>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afi Jahin" initials="RJ" lastIdx="1" clrIdx="0">
    <p:extLst>
      <p:ext uri="{19B8F6BF-5375-455C-9EA6-DF929625EA0E}">
        <p15:presenceInfo xmlns:p15="http://schemas.microsoft.com/office/powerpoint/2012/main" userId="S::jahin@unfpa.org::858e3fde-eb08-4aba-b467-4a500fc148be"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448" autoAdjust="0"/>
    <p:restoredTop sz="94613"/>
  </p:normalViewPr>
  <p:slideViewPr>
    <p:cSldViewPr snapToGrid="0" snapToObjects="1">
      <p:cViewPr varScale="1">
        <p:scale>
          <a:sx n="73" d="100"/>
          <a:sy n="73" d="100"/>
        </p:scale>
        <p:origin x="232"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ags" Target="tags/tag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414574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384282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186762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5</a:t>
            </a:fld>
            <a:endParaRPr lang="en-US"/>
          </a:p>
        </p:txBody>
      </p:sp>
    </p:spTree>
    <p:extLst>
      <p:ext uri="{BB962C8B-B14F-4D97-AF65-F5344CB8AC3E}">
        <p14:creationId xmlns:p14="http://schemas.microsoft.com/office/powerpoint/2010/main" val="18917278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917628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015554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001446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919239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587441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522309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14</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675276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15</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650992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16</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611113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17</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7996577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18</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1962495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19</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4799861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20</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068916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5113197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22</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6556870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23</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899175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Important</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24</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3605593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25</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5641974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monitoring and evaluation framework for the GenAI-powered Evaluation Strategy includes a comprehensive set of output and outcome indicators to track the responsible and ethical integration of GenAI solutions across centralized, decentralized, and joint/system-wide evaluations, as well as the progress in building national evaluation capacity, particularly in the Global South.</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27</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3502391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6574030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29</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5252683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30</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6333887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menti.com/aln1jrqyqbcm" TargetMode="External"/><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microsoft.com/office/2011/relationships/webextension" Target="../webextensions/webextension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slides/_rels/slide6.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slides/_rels/slide7.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svg"/></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sv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8.svg"/><Relationship Id="rId5" Type="http://schemas.openxmlformats.org/officeDocument/2006/relationships/image" Target="../media/image27.png"/><Relationship Id="rId4" Type="http://schemas.openxmlformats.org/officeDocument/2006/relationships/image" Target="../media/image26.sv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8" Type="http://schemas.openxmlformats.org/officeDocument/2006/relationships/image" Target="../media/image22.svg"/><Relationship Id="rId3" Type="http://schemas.openxmlformats.org/officeDocument/2006/relationships/image" Target="../media/image29.png"/><Relationship Id="rId7"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32.svg"/><Relationship Id="rId5" Type="http://schemas.openxmlformats.org/officeDocument/2006/relationships/image" Target="../media/image31.png"/><Relationship Id="rId4" Type="http://schemas.openxmlformats.org/officeDocument/2006/relationships/image" Target="../media/image30.sv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8" Type="http://schemas.openxmlformats.org/officeDocument/2006/relationships/image" Target="../media/image38.svg"/><Relationship Id="rId13" Type="http://schemas.openxmlformats.org/officeDocument/2006/relationships/image" Target="../media/image43.png"/><Relationship Id="rId18" Type="http://schemas.openxmlformats.org/officeDocument/2006/relationships/image" Target="../media/image48.svg"/><Relationship Id="rId3" Type="http://schemas.openxmlformats.org/officeDocument/2006/relationships/image" Target="../media/image33.png"/><Relationship Id="rId7" Type="http://schemas.openxmlformats.org/officeDocument/2006/relationships/image" Target="../media/image37.png"/><Relationship Id="rId12" Type="http://schemas.openxmlformats.org/officeDocument/2006/relationships/image" Target="../media/image42.svg"/><Relationship Id="rId17" Type="http://schemas.openxmlformats.org/officeDocument/2006/relationships/image" Target="../media/image47.png"/><Relationship Id="rId2" Type="http://schemas.openxmlformats.org/officeDocument/2006/relationships/notesSlide" Target="../notesSlides/notesSlide15.xml"/><Relationship Id="rId16" Type="http://schemas.openxmlformats.org/officeDocument/2006/relationships/image" Target="../media/image46.svg"/><Relationship Id="rId1" Type="http://schemas.openxmlformats.org/officeDocument/2006/relationships/slideLayout" Target="../slideLayouts/slideLayout1.xml"/><Relationship Id="rId6" Type="http://schemas.openxmlformats.org/officeDocument/2006/relationships/image" Target="../media/image36.svg"/><Relationship Id="rId11" Type="http://schemas.openxmlformats.org/officeDocument/2006/relationships/image" Target="../media/image41.png"/><Relationship Id="rId5" Type="http://schemas.openxmlformats.org/officeDocument/2006/relationships/image" Target="../media/image35.png"/><Relationship Id="rId15" Type="http://schemas.openxmlformats.org/officeDocument/2006/relationships/image" Target="../media/image45.png"/><Relationship Id="rId10" Type="http://schemas.openxmlformats.org/officeDocument/2006/relationships/image" Target="../media/image40.svg"/><Relationship Id="rId4" Type="http://schemas.openxmlformats.org/officeDocument/2006/relationships/image" Target="../media/image34.svg"/><Relationship Id="rId9" Type="http://schemas.openxmlformats.org/officeDocument/2006/relationships/image" Target="../media/image39.png"/><Relationship Id="rId14" Type="http://schemas.openxmlformats.org/officeDocument/2006/relationships/image" Target="../media/image44.svg"/></Relationships>
</file>

<file path=ppt/slides/_rels/slide18.xml.rels><?xml version="1.0" encoding="UTF-8" standalone="yes"?>
<Relationships xmlns="http://schemas.openxmlformats.org/package/2006/relationships"><Relationship Id="rId8" Type="http://schemas.openxmlformats.org/officeDocument/2006/relationships/image" Target="../media/image54.svg"/><Relationship Id="rId3" Type="http://schemas.openxmlformats.org/officeDocument/2006/relationships/image" Target="../media/image49.png"/><Relationship Id="rId7" Type="http://schemas.openxmlformats.org/officeDocument/2006/relationships/image" Target="../media/image53.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52.svg"/><Relationship Id="rId5" Type="http://schemas.openxmlformats.org/officeDocument/2006/relationships/image" Target="../media/image51.png"/><Relationship Id="rId10" Type="http://schemas.openxmlformats.org/officeDocument/2006/relationships/image" Target="../media/image56.svg"/><Relationship Id="rId4" Type="http://schemas.openxmlformats.org/officeDocument/2006/relationships/image" Target="../media/image50.svg"/><Relationship Id="rId9" Type="http://schemas.openxmlformats.org/officeDocument/2006/relationships/image" Target="../media/image55.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8" Type="http://schemas.openxmlformats.org/officeDocument/2006/relationships/image" Target="../media/image62.svg"/><Relationship Id="rId13" Type="http://schemas.openxmlformats.org/officeDocument/2006/relationships/image" Target="../media/image67.png"/><Relationship Id="rId3" Type="http://schemas.openxmlformats.org/officeDocument/2006/relationships/image" Target="../media/image57.png"/><Relationship Id="rId7" Type="http://schemas.openxmlformats.org/officeDocument/2006/relationships/image" Target="../media/image61.png"/><Relationship Id="rId12" Type="http://schemas.openxmlformats.org/officeDocument/2006/relationships/image" Target="../media/image66.sv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60.svg"/><Relationship Id="rId11" Type="http://schemas.openxmlformats.org/officeDocument/2006/relationships/image" Target="../media/image65.png"/><Relationship Id="rId5" Type="http://schemas.openxmlformats.org/officeDocument/2006/relationships/image" Target="../media/image59.png"/><Relationship Id="rId10" Type="http://schemas.openxmlformats.org/officeDocument/2006/relationships/image" Target="../media/image64.svg"/><Relationship Id="rId4" Type="http://schemas.openxmlformats.org/officeDocument/2006/relationships/image" Target="../media/image58.svg"/><Relationship Id="rId9" Type="http://schemas.openxmlformats.org/officeDocument/2006/relationships/image" Target="../media/image63.png"/><Relationship Id="rId14" Type="http://schemas.openxmlformats.org/officeDocument/2006/relationships/image" Target="../media/image68.svg"/></Relationships>
</file>

<file path=ppt/slides/_rels/slide23.xml.rels><?xml version="1.0" encoding="UTF-8" standalone="yes"?>
<Relationships xmlns="http://schemas.openxmlformats.org/package/2006/relationships"><Relationship Id="rId8" Type="http://schemas.openxmlformats.org/officeDocument/2006/relationships/image" Target="../media/image74.svg"/><Relationship Id="rId3" Type="http://schemas.openxmlformats.org/officeDocument/2006/relationships/image" Target="../media/image69.png"/><Relationship Id="rId7" Type="http://schemas.openxmlformats.org/officeDocument/2006/relationships/image" Target="../media/image73.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72.svg"/><Relationship Id="rId5" Type="http://schemas.openxmlformats.org/officeDocument/2006/relationships/image" Target="../media/image71.png"/><Relationship Id="rId10" Type="http://schemas.openxmlformats.org/officeDocument/2006/relationships/image" Target="../media/image76.svg"/><Relationship Id="rId4" Type="http://schemas.openxmlformats.org/officeDocument/2006/relationships/image" Target="../media/image70.svg"/><Relationship Id="rId9" Type="http://schemas.openxmlformats.org/officeDocument/2006/relationships/image" Target="../media/image75.png"/></Relationships>
</file>

<file path=ppt/slides/_rels/slide24.xml.rels><?xml version="1.0" encoding="UTF-8" standalone="yes"?>
<Relationships xmlns="http://schemas.openxmlformats.org/package/2006/relationships"><Relationship Id="rId8" Type="http://schemas.openxmlformats.org/officeDocument/2006/relationships/image" Target="../media/image82.svg"/><Relationship Id="rId3" Type="http://schemas.openxmlformats.org/officeDocument/2006/relationships/image" Target="../media/image77.png"/><Relationship Id="rId7" Type="http://schemas.openxmlformats.org/officeDocument/2006/relationships/image" Target="../media/image81.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80.svg"/><Relationship Id="rId5" Type="http://schemas.openxmlformats.org/officeDocument/2006/relationships/image" Target="../media/image79.png"/><Relationship Id="rId4" Type="http://schemas.openxmlformats.org/officeDocument/2006/relationships/image" Target="../media/image78.svg"/></Relationships>
</file>

<file path=ppt/slides/_rels/slide25.xml.rels><?xml version="1.0" encoding="UTF-8" standalone="yes"?>
<Relationships xmlns="http://schemas.openxmlformats.org/package/2006/relationships"><Relationship Id="rId8" Type="http://schemas.openxmlformats.org/officeDocument/2006/relationships/image" Target="../media/image88.svg"/><Relationship Id="rId3" Type="http://schemas.openxmlformats.org/officeDocument/2006/relationships/image" Target="../media/image83.png"/><Relationship Id="rId7" Type="http://schemas.openxmlformats.org/officeDocument/2006/relationships/image" Target="../media/image87.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86.svg"/><Relationship Id="rId5" Type="http://schemas.openxmlformats.org/officeDocument/2006/relationships/image" Target="../media/image85.png"/><Relationship Id="rId10" Type="http://schemas.openxmlformats.org/officeDocument/2006/relationships/image" Target="../media/image90.svg"/><Relationship Id="rId4" Type="http://schemas.openxmlformats.org/officeDocument/2006/relationships/image" Target="../media/image84.svg"/><Relationship Id="rId9" Type="http://schemas.openxmlformats.org/officeDocument/2006/relationships/image" Target="../media/image89.png"/></Relationships>
</file>

<file path=ppt/slides/_rels/slide26.xml.rels><?xml version="1.0" encoding="UTF-8" standalone="yes"?>
<Relationships xmlns="http://schemas.openxmlformats.org/package/2006/relationships"><Relationship Id="rId8" Type="http://schemas.openxmlformats.org/officeDocument/2006/relationships/image" Target="../media/image22.svg"/><Relationship Id="rId3" Type="http://schemas.openxmlformats.org/officeDocument/2006/relationships/image" Target="../media/image91.png"/><Relationship Id="rId7" Type="http://schemas.openxmlformats.org/officeDocument/2006/relationships/image" Target="../media/image21.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94.svg"/><Relationship Id="rId5" Type="http://schemas.openxmlformats.org/officeDocument/2006/relationships/image" Target="../media/image93.png"/><Relationship Id="rId10" Type="http://schemas.openxmlformats.org/officeDocument/2006/relationships/image" Target="../media/image96.svg"/><Relationship Id="rId4" Type="http://schemas.openxmlformats.org/officeDocument/2006/relationships/image" Target="../media/image92.svg"/><Relationship Id="rId9" Type="http://schemas.openxmlformats.org/officeDocument/2006/relationships/image" Target="../media/image95.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100.svg"/><Relationship Id="rId5" Type="http://schemas.openxmlformats.org/officeDocument/2006/relationships/image" Target="../media/image99.png"/><Relationship Id="rId4" Type="http://schemas.openxmlformats.org/officeDocument/2006/relationships/image" Target="../media/image98.sv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102.png"/><Relationship Id="rId2" Type="http://schemas.microsoft.com/office/2011/relationships/webextension" Target="../webextensions/webextension2.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103.png"/><Relationship Id="rId2" Type="http://schemas.microsoft.com/office/2011/relationships/webextension" Target="../webextensions/webextension3.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8" Type="http://schemas.openxmlformats.org/officeDocument/2006/relationships/image" Target="../media/image109.svg"/><Relationship Id="rId3" Type="http://schemas.openxmlformats.org/officeDocument/2006/relationships/image" Target="../media/image104.png"/><Relationship Id="rId7" Type="http://schemas.openxmlformats.org/officeDocument/2006/relationships/image" Target="../media/image108.png"/><Relationship Id="rId2" Type="http://schemas.openxmlformats.org/officeDocument/2006/relationships/notesSlide" Target="../notesSlides/notesSlide31.xml"/><Relationship Id="rId1" Type="http://schemas.openxmlformats.org/officeDocument/2006/relationships/slideLayout" Target="../slideLayouts/slideLayout1.xml"/><Relationship Id="rId6" Type="http://schemas.openxmlformats.org/officeDocument/2006/relationships/image" Target="../media/image107.svg"/><Relationship Id="rId5" Type="http://schemas.openxmlformats.org/officeDocument/2006/relationships/image" Target="../media/image106.png"/><Relationship Id="rId4" Type="http://schemas.openxmlformats.org/officeDocument/2006/relationships/image" Target="../media/image105.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380905" y="1472633"/>
            <a:ext cx="9282272" cy="3002898"/>
          </a:xfrm>
          <a:prstGeom prst="rect">
            <a:avLst/>
          </a:prstGeom>
          <a:noFill/>
        </p:spPr>
        <p:txBody>
          <a:bodyPr wrap="square" lIns="0" tIns="0" rIns="0" bIns="0" rtlCol="0" anchor="ctr"/>
          <a:lstStyle/>
          <a:p>
            <a:pPr marL="0" marR="0" lvl="0" indent="0" algn="l" defTabSz="914400" rtl="0" eaLnBrk="1" fontAlgn="auto" latinLnBrk="0" hangingPunct="1">
              <a:lnSpc>
                <a:spcPts val="7884"/>
              </a:lnSpc>
              <a:spcBef>
                <a:spcPts val="0"/>
              </a:spcBef>
              <a:spcAft>
                <a:spcPts val="0"/>
              </a:spcAft>
              <a:buClrTx/>
              <a:buSzTx/>
              <a:buFontTx/>
              <a:buNone/>
              <a:tabLst/>
              <a:defRPr/>
            </a:pPr>
            <a:r>
              <a:rPr kumimoji="0" lang="en-US" sz="6750" b="1" i="0" u="none" strike="noStrike" kern="0" cap="none" spc="-405" normalizeH="0" baseline="0" noProof="0" dirty="0">
                <a:ln>
                  <a:noFill/>
                </a:ln>
                <a:solidFill>
                  <a:srgbClr val="333333"/>
                </a:solidFill>
                <a:effectLst/>
                <a:uLnTx/>
                <a:uFillTx/>
                <a:latin typeface="Inter" pitchFamily="34" charset="0"/>
                <a:ea typeface="Inter" pitchFamily="34" charset="-122"/>
                <a:cs typeface="Inter" pitchFamily="34" charset="-120"/>
              </a:rPr>
              <a:t>UNFPA Gen AI-Powered Evaluation Strategy</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3" name="Object 2"/>
          <p:cNvSpPr/>
          <p:nvPr/>
        </p:nvSpPr>
        <p:spPr>
          <a:xfrm>
            <a:off x="380905" y="4575222"/>
            <a:ext cx="12350837" cy="713204"/>
          </a:xfrm>
          <a:prstGeom prst="rect">
            <a:avLst/>
          </a:prstGeom>
          <a:noFill/>
        </p:spPr>
        <p:txBody>
          <a:bodyPr wrap="square" lIns="0" tIns="0" rIns="0" bIns="0" rtlCol="0" anchor="ctr"/>
          <a:lstStyle/>
          <a:p>
            <a:pPr marL="0" marR="0" lvl="0" indent="0" algn="l" defTabSz="914400" rtl="0" eaLnBrk="1" fontAlgn="auto" latinLnBrk="0" hangingPunct="1">
              <a:lnSpc>
                <a:spcPts val="2809"/>
              </a:lnSpc>
              <a:spcBef>
                <a:spcPts val="770"/>
              </a:spcBef>
              <a:spcAft>
                <a:spcPts val="0"/>
              </a:spcAft>
              <a:buClrTx/>
              <a:buSzTx/>
              <a:buFontTx/>
              <a:buNone/>
              <a:tabLst/>
              <a:defRPr/>
            </a:pPr>
            <a:r>
              <a:rPr kumimoji="0" lang="en-US" sz="2025" b="0" i="0" u="none" strike="noStrike" kern="0" cap="none" spc="-40" normalizeH="0" baseline="0" noProof="0" dirty="0">
                <a:ln>
                  <a:noFill/>
                </a:ln>
                <a:solidFill>
                  <a:srgbClr val="000000">
                    <a:alpha val="56000"/>
                  </a:srgbClr>
                </a:solidFill>
                <a:effectLst/>
                <a:uLnTx/>
                <a:uFillTx/>
                <a:latin typeface="Inter" pitchFamily="34" charset="0"/>
                <a:ea typeface="Inter" pitchFamily="34" charset="-122"/>
                <a:cs typeface="Inter" pitchFamily="34" charset="-120"/>
              </a:rPr>
              <a:t>An introductory slide highlighting UNFPA's vision and approach to leveraging generative AI to transform its evaluation function through ethical and responsible implementation.</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Tree>
    <p:extLst>
      <p:ext uri="{BB962C8B-B14F-4D97-AF65-F5344CB8AC3E}">
        <p14:creationId xmlns:p14="http://schemas.microsoft.com/office/powerpoint/2010/main" val="18214783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DCEEF40-6329-1127-11CE-1C518577F4B0}"/>
              </a:ext>
            </a:extLst>
          </p:cNvPr>
          <p:cNvPicPr>
            <a:picLocks noChangeAspect="1"/>
          </p:cNvPicPr>
          <p:nvPr/>
        </p:nvPicPr>
        <p:blipFill>
          <a:blip r:embed="rId2"/>
          <a:stretch>
            <a:fillRect/>
          </a:stretch>
        </p:blipFill>
        <p:spPr>
          <a:xfrm>
            <a:off x="2760616" y="166551"/>
            <a:ext cx="6093823" cy="6093823"/>
          </a:xfrm>
          <a:prstGeom prst="rect">
            <a:avLst/>
          </a:prstGeom>
        </p:spPr>
      </p:pic>
      <p:sp>
        <p:nvSpPr>
          <p:cNvPr id="4" name="TextBox 3">
            <a:extLst>
              <a:ext uri="{FF2B5EF4-FFF2-40B4-BE49-F238E27FC236}">
                <a16:creationId xmlns:a16="http://schemas.microsoft.com/office/drawing/2014/main" id="{E6CFA71C-C9F1-F7F0-58D4-BA1705FF8012}"/>
              </a:ext>
            </a:extLst>
          </p:cNvPr>
          <p:cNvSpPr txBox="1"/>
          <p:nvPr/>
        </p:nvSpPr>
        <p:spPr>
          <a:xfrm>
            <a:off x="2760616" y="6322117"/>
            <a:ext cx="6975566" cy="369332"/>
          </a:xfrm>
          <a:prstGeom prst="rect">
            <a:avLst/>
          </a:prstGeom>
          <a:noFill/>
        </p:spPr>
        <p:txBody>
          <a:bodyPr wrap="square" rtlCol="0">
            <a:spAutoFit/>
          </a:bodyPr>
          <a:lstStyle/>
          <a:p>
            <a:r>
              <a:rPr lang="en-US" dirty="0">
                <a:hlinkClick r:id="rId3"/>
              </a:rPr>
              <a:t>https://www.menti.com/aln1jrqyqbcm</a:t>
            </a:r>
            <a:r>
              <a:rPr lang="en-US" dirty="0"/>
              <a:t> </a:t>
            </a:r>
          </a:p>
        </p:txBody>
      </p:sp>
    </p:spTree>
    <p:extLst>
      <p:ext uri="{BB962C8B-B14F-4D97-AF65-F5344CB8AC3E}">
        <p14:creationId xmlns:p14="http://schemas.microsoft.com/office/powerpoint/2010/main" val="37407003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we="http://schemas.microsoft.com/office/webextensions/webextension/2010/11" xmlns:pca="http://schemas.microsoft.com/office/powerpoint/2013/contentapp" Requires="we pca">
          <p:graphicFrame>
            <p:nvGraphicFramePr>
              <p:cNvPr id="2" name="Add-in 1">
                <a:extLst>
                  <a:ext uri="{FF2B5EF4-FFF2-40B4-BE49-F238E27FC236}">
                    <a16:creationId xmlns:a16="http://schemas.microsoft.com/office/drawing/2014/main" id="{B10B267F-9317-61E2-224F-051358BFF269}"/>
                  </a:ext>
                </a:extLst>
              </p:cNvPr>
              <p:cNvGraphicFramePr>
                <a:graphicFrameLocks noGrp="1"/>
              </p:cNvGraphicFramePr>
              <p:nvPr/>
            </p:nvGraphicFramePr>
            <p:xfrm>
              <a:off x="1809750" y="1019174"/>
              <a:ext cx="8572500" cy="4819650"/>
            </p:xfrm>
            <a:graphic>
              <a:graphicData uri="http://schemas.microsoft.com/office/webextensions/webextension/2010/11">
                <we:webextensionref xmlns:we="http://schemas.microsoft.com/office/webextensions/webextension/2010/11" xmlns:r="http://schemas.openxmlformats.org/officeDocument/2006/relationships" r:id="rId2"/>
              </a:graphicData>
            </a:graphic>
          </p:graphicFrame>
        </mc:Choice>
        <mc:Fallback>
          <p:pic>
            <p:nvPicPr>
              <p:cNvPr id="2" name="Add-in 1">
                <a:extLst>
                  <a:ext uri="{FF2B5EF4-FFF2-40B4-BE49-F238E27FC236}">
                    <a16:creationId xmlns:a16="http://schemas.microsoft.com/office/drawing/2014/main" id="{B10B267F-9317-61E2-224F-051358BFF269}"/>
                  </a:ext>
                </a:extLst>
              </p:cNvPr>
              <p:cNvPicPr>
                <a:picLocks noGrp="1" noRot="1" noChangeAspect="1" noMove="1" noResize="1" noEditPoints="1" noAdjustHandles="1" noChangeArrowheads="1" noChangeShapeType="1"/>
              </p:cNvPicPr>
              <p:nvPr/>
            </p:nvPicPr>
            <p:blipFill>
              <a:blip r:embed="rId3"/>
              <a:stretch>
                <a:fillRect/>
              </a:stretch>
            </p:blipFill>
            <p:spPr>
              <a:xfrm>
                <a:off x="1809750" y="1019174"/>
                <a:ext cx="8572500" cy="4819650"/>
              </a:xfrm>
              <a:prstGeom prst="rect">
                <a:avLst/>
              </a:prstGeom>
            </p:spPr>
          </p:pic>
        </mc:Fallback>
      </mc:AlternateContent>
    </p:spTree>
    <p:extLst>
      <p:ext uri="{BB962C8B-B14F-4D97-AF65-F5344CB8AC3E}">
        <p14:creationId xmlns:p14="http://schemas.microsoft.com/office/powerpoint/2010/main" val="29982645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1">
            <a:extLst>
              <a:ext uri="{FF2B5EF4-FFF2-40B4-BE49-F238E27FC236}">
                <a16:creationId xmlns:a16="http://schemas.microsoft.com/office/drawing/2014/main" id="{D6EDC991-9C55-1516-2A43-FEEC9BB4BA26}"/>
              </a:ext>
            </a:extLst>
          </p:cNvPr>
          <p:cNvSpPr/>
          <p:nvPr/>
        </p:nvSpPr>
        <p:spPr>
          <a:xfrm>
            <a:off x="0" y="379020"/>
            <a:ext cx="12188952" cy="556081"/>
          </a:xfrm>
          <a:prstGeom prst="rect">
            <a:avLst/>
          </a:prstGeom>
          <a:noFill/>
        </p:spPr>
        <p:txBody>
          <a:bodyPr wrap="square" lIns="0" tIns="0" rIns="0" bIns="0" rtlCol="0" anchor="t"/>
          <a:lstStyle/>
          <a:p>
            <a:pPr marL="0" marR="0" lvl="0" indent="0" algn="ctr" defTabSz="914400" rtl="0" eaLnBrk="1" fontAlgn="auto" latinLnBrk="0" hangingPunct="1">
              <a:lnSpc>
                <a:spcPts val="4380"/>
              </a:lnSpc>
              <a:spcBef>
                <a:spcPts val="0"/>
              </a:spcBef>
              <a:spcAft>
                <a:spcPts val="0"/>
              </a:spcAft>
              <a:buClrTx/>
              <a:buSzTx/>
              <a:buFontTx/>
              <a:buNone/>
              <a:tabLst/>
              <a:defRPr/>
            </a:pPr>
            <a:r>
              <a:rPr lang="en-US" sz="4000" b="1" dirty="0"/>
              <a:t>What Is Generative AI?</a:t>
            </a:r>
            <a:endParaRPr kumimoji="0" lang="en-US" sz="1800" b="1" i="0" u="none" strike="noStrike" kern="1200" cap="none" spc="0" normalizeH="0" baseline="0" noProof="0" dirty="0">
              <a:ln>
                <a:noFill/>
              </a:ln>
              <a:effectLst/>
              <a:uLnTx/>
              <a:uFillTx/>
              <a:latin typeface="Arial"/>
              <a:ea typeface="+mn-ea"/>
              <a:cs typeface="+mn-cs"/>
            </a:endParaRPr>
          </a:p>
        </p:txBody>
      </p:sp>
      <p:sp>
        <p:nvSpPr>
          <p:cNvPr id="13" name="Object 14">
            <a:extLst>
              <a:ext uri="{FF2B5EF4-FFF2-40B4-BE49-F238E27FC236}">
                <a16:creationId xmlns:a16="http://schemas.microsoft.com/office/drawing/2014/main" id="{BA194337-BD25-C7F1-C66E-EAC9DA1D9762}"/>
              </a:ext>
            </a:extLst>
          </p:cNvPr>
          <p:cNvSpPr/>
          <p:nvPr/>
        </p:nvSpPr>
        <p:spPr>
          <a:xfrm>
            <a:off x="0" y="5721531"/>
            <a:ext cx="12188952" cy="1134754"/>
          </a:xfrm>
          <a:prstGeom prst="rect">
            <a:avLst/>
          </a:prstGeom>
          <a:solidFill>
            <a:srgbClr val="FD864D"/>
          </a:solidFill>
        </p:spPr>
        <p:txBody>
          <a:bodyPr/>
          <a:lstStyle/>
          <a:p>
            <a:endParaRPr lang="en-US" dirty="0"/>
          </a:p>
        </p:txBody>
      </p:sp>
      <p:sp>
        <p:nvSpPr>
          <p:cNvPr id="12" name="TextBox 11">
            <a:extLst>
              <a:ext uri="{FF2B5EF4-FFF2-40B4-BE49-F238E27FC236}">
                <a16:creationId xmlns:a16="http://schemas.microsoft.com/office/drawing/2014/main" id="{3C4EAA54-8CBD-8BF0-6BC6-5060D6F036F7}"/>
              </a:ext>
            </a:extLst>
          </p:cNvPr>
          <p:cNvSpPr txBox="1"/>
          <p:nvPr/>
        </p:nvSpPr>
        <p:spPr>
          <a:xfrm>
            <a:off x="1210491" y="1564587"/>
            <a:ext cx="9683932" cy="3365024"/>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GB" b="1" dirty="0"/>
              <a:t>A creative AI: </a:t>
            </a:r>
            <a:r>
              <a:rPr lang="en-GB" dirty="0"/>
              <a:t>It’s a kind of artificial intelligence that doesn’t just analyse data—it generates brand-new content.</a:t>
            </a:r>
          </a:p>
          <a:p>
            <a:pPr marL="285750" indent="-285750" algn="just">
              <a:lnSpc>
                <a:spcPct val="150000"/>
              </a:lnSpc>
              <a:buFont typeface="Arial" panose="020B0604020202020204" pitchFamily="34" charset="0"/>
              <a:buChar char="•"/>
            </a:pPr>
            <a:r>
              <a:rPr lang="en-GB" b="1" dirty="0"/>
              <a:t>Learns patterns: </a:t>
            </a:r>
            <a:r>
              <a:rPr lang="en-GB" dirty="0"/>
              <a:t>By studying huge amounts of existing text, images, code, or audio, it learns the “style” and structure of that content.</a:t>
            </a:r>
          </a:p>
          <a:p>
            <a:pPr marL="285750" indent="-285750" algn="just">
              <a:lnSpc>
                <a:spcPct val="150000"/>
              </a:lnSpc>
              <a:buFont typeface="Arial" panose="020B0604020202020204" pitchFamily="34" charset="0"/>
              <a:buChar char="•"/>
            </a:pPr>
            <a:r>
              <a:rPr lang="en-GB" b="1" dirty="0"/>
              <a:t>On-demand creation: </a:t>
            </a:r>
            <a:r>
              <a:rPr lang="en-GB" dirty="0"/>
              <a:t>You give it a prompt (“Write me a poem about M&amp;E”; “Draw a rainforest at sunset”), and it produces original text, images, music, or even code.</a:t>
            </a:r>
          </a:p>
          <a:p>
            <a:pPr marL="285750" indent="-285750" algn="just">
              <a:lnSpc>
                <a:spcPct val="150000"/>
              </a:lnSpc>
              <a:buFont typeface="Arial" panose="020B0604020202020204" pitchFamily="34" charset="0"/>
              <a:buChar char="•"/>
            </a:pPr>
            <a:r>
              <a:rPr lang="en-GB" b="1" dirty="0"/>
              <a:t>Why it matters: </a:t>
            </a:r>
            <a:r>
              <a:rPr lang="en-GB" dirty="0"/>
              <a:t>Automates creative and repetitive tasks, sparks new ideas, fills in gaps so your team can focus on strategy, insight, and human judgment.</a:t>
            </a:r>
            <a:endParaRPr lang="en-US" dirty="0"/>
          </a:p>
        </p:txBody>
      </p:sp>
      <p:sp>
        <p:nvSpPr>
          <p:cNvPr id="14" name="TextBox 13">
            <a:extLst>
              <a:ext uri="{FF2B5EF4-FFF2-40B4-BE49-F238E27FC236}">
                <a16:creationId xmlns:a16="http://schemas.microsoft.com/office/drawing/2014/main" id="{84C0D285-1655-E0DF-153D-7BD592C827EE}"/>
              </a:ext>
            </a:extLst>
          </p:cNvPr>
          <p:cNvSpPr txBox="1"/>
          <p:nvPr/>
        </p:nvSpPr>
        <p:spPr>
          <a:xfrm>
            <a:off x="1323703" y="5939246"/>
            <a:ext cx="9570720" cy="646331"/>
          </a:xfrm>
          <a:prstGeom prst="rect">
            <a:avLst/>
          </a:prstGeom>
          <a:noFill/>
        </p:spPr>
        <p:txBody>
          <a:bodyPr wrap="square" rtlCol="0">
            <a:spAutoFit/>
          </a:bodyPr>
          <a:lstStyle/>
          <a:p>
            <a:pPr algn="ctr"/>
            <a:r>
              <a:rPr lang="en-GB" dirty="0"/>
              <a:t>All Generative AI is AI, but not all AI is Generative. Traditional AI helps you </a:t>
            </a:r>
            <a:r>
              <a:rPr lang="en-GB" b="1" dirty="0"/>
              <a:t>understand</a:t>
            </a:r>
            <a:r>
              <a:rPr lang="en-GB" dirty="0"/>
              <a:t> data—Generative AI helps you </a:t>
            </a:r>
            <a:r>
              <a:rPr lang="en-GB" b="1" dirty="0"/>
              <a:t>produce</a:t>
            </a:r>
            <a:r>
              <a:rPr lang="en-GB" dirty="0"/>
              <a:t> new content</a:t>
            </a:r>
            <a:endParaRPr lang="en-US" dirty="0">
              <a:latin typeface="+mj-lt"/>
            </a:endParaRPr>
          </a:p>
        </p:txBody>
      </p:sp>
    </p:spTree>
    <p:extLst>
      <p:ext uri="{BB962C8B-B14F-4D97-AF65-F5344CB8AC3E}">
        <p14:creationId xmlns:p14="http://schemas.microsoft.com/office/powerpoint/2010/main" val="9752613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0" y="379020"/>
            <a:ext cx="12188952" cy="556081"/>
          </a:xfrm>
          <a:prstGeom prst="rect">
            <a:avLst/>
          </a:prstGeom>
          <a:noFill/>
        </p:spPr>
        <p:txBody>
          <a:bodyPr wrap="square" lIns="0" tIns="0" rIns="0" bIns="0" rtlCol="0" anchor="t"/>
          <a:lstStyle/>
          <a:p>
            <a:pPr algn="ctr">
              <a:lnSpc>
                <a:spcPts val="4380"/>
              </a:lnSpc>
              <a:buNone/>
            </a:pPr>
            <a:r>
              <a:rPr lang="en-US" sz="3750" b="1" kern="0" spc="-225" dirty="0">
                <a:latin typeface="Inter" pitchFamily="34" charset="0"/>
                <a:ea typeface="Inter" pitchFamily="34" charset="-122"/>
                <a:cs typeface="Inter" pitchFamily="34" charset="-120"/>
              </a:rPr>
              <a:t>Background and Challenges</a:t>
            </a:r>
            <a:endParaRPr lang="en-US" dirty="0"/>
          </a:p>
        </p:txBody>
      </p:sp>
      <p:sp>
        <p:nvSpPr>
          <p:cNvPr id="3" name="Object 2"/>
          <p:cNvSpPr/>
          <p:nvPr/>
        </p:nvSpPr>
        <p:spPr>
          <a:xfrm>
            <a:off x="476131" y="1590277"/>
            <a:ext cx="714196" cy="714196"/>
          </a:xfrm>
          <a:prstGeom prst="ellipse">
            <a:avLst/>
          </a:prstGeom>
          <a:solidFill>
            <a:srgbClr val="22AAEE"/>
          </a:solidFill>
        </p:spPr>
      </p:sp>
      <p:pic>
        <p:nvPicPr>
          <p:cNvPr id="4" name="Object 3"/>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90936" y="1800909"/>
            <a:ext cx="295201" cy="295201"/>
          </a:xfrm>
          <a:prstGeom prst="rect">
            <a:avLst/>
          </a:prstGeom>
        </p:spPr>
      </p:pic>
      <p:sp>
        <p:nvSpPr>
          <p:cNvPr id="5" name="Object 4"/>
          <p:cNvSpPr/>
          <p:nvPr/>
        </p:nvSpPr>
        <p:spPr>
          <a:xfrm>
            <a:off x="1380780" y="1543656"/>
            <a:ext cx="2775843" cy="533862"/>
          </a:xfrm>
          <a:prstGeom prst="rect">
            <a:avLst/>
          </a:prstGeom>
          <a:noFill/>
        </p:spPr>
        <p:txBody>
          <a:bodyPr wrap="square" lIns="0" tIns="0" rIns="0" bIns="0" rtlCol="0" anchor="t"/>
          <a:lstStyle/>
          <a:p>
            <a:pPr algn="l">
              <a:lnSpc>
                <a:spcPts val="2102"/>
              </a:lnSpc>
              <a:buNone/>
            </a:pPr>
            <a:r>
              <a:rPr lang="en-US" sz="1800" b="1" kern="0" spc="-108" dirty="0">
                <a:latin typeface="Inter" pitchFamily="34" charset="0"/>
                <a:ea typeface="Inter" pitchFamily="34" charset="-122"/>
                <a:cs typeface="Inter" pitchFamily="34" charset="-120"/>
              </a:rPr>
              <a:t>Traditional evaluations at risk of obsolescence</a:t>
            </a:r>
            <a:endParaRPr lang="en-US" dirty="0"/>
          </a:p>
        </p:txBody>
      </p:sp>
      <p:sp>
        <p:nvSpPr>
          <p:cNvPr id="6" name="Object 5"/>
          <p:cNvSpPr/>
          <p:nvPr/>
        </p:nvSpPr>
        <p:spPr>
          <a:xfrm>
            <a:off x="1380780" y="2154691"/>
            <a:ext cx="2775843" cy="1320767"/>
          </a:xfrm>
          <a:prstGeom prst="rect">
            <a:avLst/>
          </a:prstGeom>
          <a:noFill/>
        </p:spPr>
        <p:txBody>
          <a:bodyPr wrap="square" lIns="0" tIns="0" rIns="0" bIns="0" rtlCol="0" anchor="t"/>
          <a:lstStyle/>
          <a:p>
            <a:pPr algn="l">
              <a:lnSpc>
                <a:spcPts val="2081"/>
              </a:lnSpc>
              <a:spcBef>
                <a:spcPts val="596"/>
              </a:spcBef>
              <a:buNone/>
            </a:pPr>
            <a:r>
              <a:rPr lang="en-US" sz="1500" kern="0" spc="-30" dirty="0">
                <a:latin typeface="Inter" pitchFamily="34" charset="0"/>
                <a:ea typeface="Inter" pitchFamily="34" charset="-122"/>
                <a:cs typeface="Inter" pitchFamily="34" charset="-120"/>
              </a:rPr>
              <a:t>Evaluation practices must evolve to keep up with the digital transformation, or risk becoming outdated and ineffective.</a:t>
            </a:r>
            <a:endParaRPr lang="en-US" dirty="0"/>
          </a:p>
        </p:txBody>
      </p:sp>
      <p:sp>
        <p:nvSpPr>
          <p:cNvPr id="7" name="Object 6"/>
          <p:cNvSpPr/>
          <p:nvPr/>
        </p:nvSpPr>
        <p:spPr>
          <a:xfrm>
            <a:off x="4347075" y="1515491"/>
            <a:ext cx="714196" cy="714196"/>
          </a:xfrm>
          <a:prstGeom prst="ellipse">
            <a:avLst/>
          </a:prstGeom>
          <a:solidFill>
            <a:srgbClr val="FFD9AD"/>
          </a:solidFill>
        </p:spPr>
        <p:txBody>
          <a:bodyPr/>
          <a:lstStyle/>
          <a:p>
            <a:endParaRPr lang="en-US" dirty="0"/>
          </a:p>
        </p:txBody>
      </p:sp>
      <p:sp>
        <p:nvSpPr>
          <p:cNvPr id="9" name="Object 8"/>
          <p:cNvSpPr/>
          <p:nvPr/>
        </p:nvSpPr>
        <p:spPr>
          <a:xfrm>
            <a:off x="5285053" y="1543656"/>
            <a:ext cx="2775843" cy="533862"/>
          </a:xfrm>
          <a:prstGeom prst="rect">
            <a:avLst/>
          </a:prstGeom>
          <a:noFill/>
        </p:spPr>
        <p:txBody>
          <a:bodyPr wrap="square" lIns="0" tIns="0" rIns="0" bIns="0" rtlCol="0" anchor="t"/>
          <a:lstStyle/>
          <a:p>
            <a:pPr algn="l">
              <a:lnSpc>
                <a:spcPts val="2102"/>
              </a:lnSpc>
              <a:buNone/>
            </a:pPr>
            <a:r>
              <a:rPr lang="en-US" sz="1800" b="1" kern="0" spc="-108" dirty="0">
                <a:latin typeface="Inter" pitchFamily="34" charset="0"/>
                <a:ea typeface="Inter" pitchFamily="34" charset="-122"/>
                <a:cs typeface="Inter" pitchFamily="34" charset="-120"/>
              </a:rPr>
              <a:t>UNFPA's commitment to responsible AI</a:t>
            </a:r>
            <a:endParaRPr lang="en-US" dirty="0"/>
          </a:p>
        </p:txBody>
      </p:sp>
      <p:sp>
        <p:nvSpPr>
          <p:cNvPr id="10" name="Object 9"/>
          <p:cNvSpPr/>
          <p:nvPr/>
        </p:nvSpPr>
        <p:spPr>
          <a:xfrm>
            <a:off x="5285053" y="2154691"/>
            <a:ext cx="2775843" cy="1320767"/>
          </a:xfrm>
          <a:prstGeom prst="rect">
            <a:avLst/>
          </a:prstGeom>
          <a:noFill/>
        </p:spPr>
        <p:txBody>
          <a:bodyPr wrap="square" lIns="0" tIns="0" rIns="0" bIns="0" rtlCol="0" anchor="t"/>
          <a:lstStyle/>
          <a:p>
            <a:pPr algn="l">
              <a:lnSpc>
                <a:spcPts val="2081"/>
              </a:lnSpc>
              <a:spcBef>
                <a:spcPts val="596"/>
              </a:spcBef>
              <a:buNone/>
            </a:pPr>
            <a:r>
              <a:rPr lang="en-US" sz="1500" kern="0" spc="-30" dirty="0">
                <a:latin typeface="Inter" pitchFamily="34" charset="0"/>
                <a:ea typeface="Inter" pitchFamily="34" charset="-122"/>
                <a:cs typeface="Inter" pitchFamily="34" charset="-120"/>
              </a:rPr>
              <a:t>UNFPA is dedicated to a human-led, ethically grounded approach to leveraging GenAI in its evaluation function.</a:t>
            </a:r>
            <a:endParaRPr lang="en-US" sz="1600" dirty="0"/>
          </a:p>
        </p:txBody>
      </p:sp>
      <p:sp>
        <p:nvSpPr>
          <p:cNvPr id="11" name="Object 10"/>
          <p:cNvSpPr/>
          <p:nvPr/>
        </p:nvSpPr>
        <p:spPr>
          <a:xfrm>
            <a:off x="8284678" y="1590277"/>
            <a:ext cx="714196" cy="714196"/>
          </a:xfrm>
          <a:prstGeom prst="ellipse">
            <a:avLst/>
          </a:prstGeom>
          <a:solidFill>
            <a:srgbClr val="FEC088"/>
          </a:solidFill>
        </p:spPr>
      </p:sp>
      <p:pic>
        <p:nvPicPr>
          <p:cNvPr id="12" name="Object 11"/>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570631" y="1788356"/>
            <a:ext cx="142839" cy="323769"/>
          </a:xfrm>
          <a:prstGeom prst="rect">
            <a:avLst/>
          </a:prstGeom>
        </p:spPr>
      </p:pic>
      <p:sp>
        <p:nvSpPr>
          <p:cNvPr id="13" name="Object 12"/>
          <p:cNvSpPr/>
          <p:nvPr/>
        </p:nvSpPr>
        <p:spPr>
          <a:xfrm>
            <a:off x="9189327" y="1543656"/>
            <a:ext cx="2775843" cy="533862"/>
          </a:xfrm>
          <a:prstGeom prst="rect">
            <a:avLst/>
          </a:prstGeom>
          <a:noFill/>
        </p:spPr>
        <p:txBody>
          <a:bodyPr wrap="square" lIns="0" tIns="0" rIns="0" bIns="0" rtlCol="0" anchor="t"/>
          <a:lstStyle/>
          <a:p>
            <a:pPr algn="l">
              <a:lnSpc>
                <a:spcPts val="2102"/>
              </a:lnSpc>
              <a:buNone/>
            </a:pPr>
            <a:r>
              <a:rPr lang="en-US" sz="1800" b="1" kern="0" spc="-108" dirty="0">
                <a:latin typeface="Inter" pitchFamily="34" charset="0"/>
                <a:ea typeface="Inter" pitchFamily="34" charset="-122"/>
                <a:cs typeface="Inter" pitchFamily="34" charset="-120"/>
              </a:rPr>
              <a:t>Risks and challenges with GenAI integration</a:t>
            </a:r>
            <a:endParaRPr lang="en-US" dirty="0"/>
          </a:p>
        </p:txBody>
      </p:sp>
      <p:sp>
        <p:nvSpPr>
          <p:cNvPr id="14" name="Object 13"/>
          <p:cNvSpPr/>
          <p:nvPr/>
        </p:nvSpPr>
        <p:spPr>
          <a:xfrm>
            <a:off x="9189327" y="2154691"/>
            <a:ext cx="2775843" cy="1056614"/>
          </a:xfrm>
          <a:prstGeom prst="rect">
            <a:avLst/>
          </a:prstGeom>
          <a:noFill/>
        </p:spPr>
        <p:txBody>
          <a:bodyPr wrap="square" lIns="0" tIns="0" rIns="0" bIns="0" rtlCol="0" anchor="t"/>
          <a:lstStyle/>
          <a:p>
            <a:pPr algn="l">
              <a:lnSpc>
                <a:spcPts val="2081"/>
              </a:lnSpc>
              <a:spcBef>
                <a:spcPts val="596"/>
              </a:spcBef>
              <a:buNone/>
            </a:pPr>
            <a:r>
              <a:rPr lang="en-US" sz="1500" kern="0" spc="-30" dirty="0">
                <a:latin typeface="Inter" pitchFamily="34" charset="0"/>
                <a:ea typeface="Inter" pitchFamily="34" charset="-122"/>
                <a:cs typeface="Inter" pitchFamily="34" charset="-120"/>
              </a:rPr>
              <a:t>Integrating GenAI introduces new ethical, methodological, and organizational risks that must be carefully navigated.</a:t>
            </a:r>
            <a:endParaRPr lang="en-US" dirty="0"/>
          </a:p>
        </p:txBody>
      </p:sp>
      <p:sp>
        <p:nvSpPr>
          <p:cNvPr id="19" name="Object 18"/>
          <p:cNvSpPr/>
          <p:nvPr/>
        </p:nvSpPr>
        <p:spPr>
          <a:xfrm>
            <a:off x="0" y="4953843"/>
            <a:ext cx="12188952" cy="1902441"/>
          </a:xfrm>
          <a:prstGeom prst="rect">
            <a:avLst/>
          </a:prstGeom>
          <a:solidFill>
            <a:srgbClr val="FFD9AD"/>
          </a:solidFill>
        </p:spPr>
      </p:sp>
      <p:sp>
        <p:nvSpPr>
          <p:cNvPr id="20" name="Object 19"/>
          <p:cNvSpPr/>
          <p:nvPr/>
        </p:nvSpPr>
        <p:spPr>
          <a:xfrm>
            <a:off x="1380780" y="5071090"/>
            <a:ext cx="9532141" cy="1667946"/>
          </a:xfrm>
          <a:prstGeom prst="rect">
            <a:avLst/>
          </a:prstGeom>
          <a:noFill/>
        </p:spPr>
        <p:txBody>
          <a:bodyPr wrap="square" lIns="0" tIns="0" rIns="0" bIns="0" rtlCol="0" anchor="ctr"/>
          <a:lstStyle/>
          <a:p>
            <a:pPr algn="ctr">
              <a:lnSpc>
                <a:spcPts val="2628"/>
              </a:lnSpc>
              <a:buNone/>
            </a:pPr>
            <a:r>
              <a:rPr lang="en-US" sz="2250" b="1" kern="0" spc="-135" dirty="0">
                <a:latin typeface="Inter" pitchFamily="34" charset="0"/>
                <a:ea typeface="Inter" pitchFamily="34" charset="-122"/>
                <a:cs typeface="Inter" pitchFamily="34" charset="-120"/>
              </a:rPr>
              <a:t>UNFPA recognizes the urgent need to adapt its evaluation practices to the digital age, while proactively addressing the risks and challenges associated with GenAI integration. The organization's strategic approach prioritizes responsible, human-led oversight to ensure the credibility and impact of its evaluations.</a:t>
            </a:r>
            <a:endParaRPr lang="en-US" dirty="0"/>
          </a:p>
        </p:txBody>
      </p:sp>
      <p:pic>
        <p:nvPicPr>
          <p:cNvPr id="23" name="Object 15">
            <a:extLst>
              <a:ext uri="{FF2B5EF4-FFF2-40B4-BE49-F238E27FC236}">
                <a16:creationId xmlns:a16="http://schemas.microsoft.com/office/drawing/2014/main" id="{9AA96772-3675-FD37-9E22-0EE6D5D4745A}"/>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547154" y="1705943"/>
            <a:ext cx="276156" cy="333292"/>
          </a:xfrm>
          <a:prstGeom prst="rect">
            <a:avLst/>
          </a:prstGeom>
        </p:spPr>
      </p:pic>
    </p:spTree>
    <p:extLst>
      <p:ext uri="{BB962C8B-B14F-4D97-AF65-F5344CB8AC3E}">
        <p14:creationId xmlns:p14="http://schemas.microsoft.com/office/powerpoint/2010/main" val="27981307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0" y="379020"/>
            <a:ext cx="12188952" cy="556081"/>
          </a:xfrm>
          <a:prstGeom prst="rect">
            <a:avLst/>
          </a:prstGeom>
          <a:noFill/>
        </p:spPr>
        <p:txBody>
          <a:bodyPr wrap="square" lIns="0" tIns="0" rIns="0" bIns="0" rtlCol="0" anchor="t"/>
          <a:lstStyle/>
          <a:p>
            <a:pPr marL="0" marR="0" lvl="0" indent="0" algn="ctr" defTabSz="914400" rtl="0" eaLnBrk="1" fontAlgn="auto" latinLnBrk="0" hangingPunct="1">
              <a:lnSpc>
                <a:spcPts val="4380"/>
              </a:lnSpc>
              <a:spcBef>
                <a:spcPts val="0"/>
              </a:spcBef>
              <a:spcAft>
                <a:spcPts val="0"/>
              </a:spcAft>
              <a:buClrTx/>
              <a:buSzTx/>
              <a:buFontTx/>
              <a:buNone/>
              <a:tabLst/>
              <a:defRPr/>
            </a:pPr>
            <a:r>
              <a:rPr kumimoji="0" lang="en-US" sz="3750" b="1" i="0" u="none" strike="noStrike" kern="0" cap="none" spc="-225" normalizeH="0" baseline="0" noProof="0" dirty="0">
                <a:ln>
                  <a:noFill/>
                </a:ln>
                <a:effectLst/>
                <a:uLnTx/>
                <a:uFillTx/>
                <a:latin typeface="Inter" pitchFamily="34" charset="0"/>
                <a:ea typeface="Inter" pitchFamily="34" charset="-122"/>
                <a:cs typeface="Inter" pitchFamily="34" charset="-120"/>
              </a:rPr>
              <a:t>Why GenAI Now?</a:t>
            </a:r>
            <a:endParaRPr kumimoji="0" lang="en-US" sz="1800" b="0" i="0" u="none" strike="noStrike" kern="1200" cap="none" spc="0" normalizeH="0" baseline="0" noProof="0" dirty="0">
              <a:ln>
                <a:noFill/>
              </a:ln>
              <a:effectLst/>
              <a:uLnTx/>
              <a:uFillTx/>
              <a:latin typeface="Arial"/>
              <a:ea typeface="+mn-ea"/>
              <a:cs typeface="+mn-cs"/>
            </a:endParaRPr>
          </a:p>
        </p:txBody>
      </p:sp>
      <p:sp>
        <p:nvSpPr>
          <p:cNvPr id="3" name="Object 2"/>
          <p:cNvSpPr/>
          <p:nvPr/>
        </p:nvSpPr>
        <p:spPr>
          <a:xfrm>
            <a:off x="476131" y="1718833"/>
            <a:ext cx="714196" cy="714196"/>
          </a:xfrm>
          <a:prstGeom prst="ellipse">
            <a:avLst/>
          </a:prstGeom>
          <a:solidFill>
            <a:srgbClr val="22AAEE"/>
          </a:solidFill>
        </p:spPr>
      </p:sp>
      <p:pic>
        <p:nvPicPr>
          <p:cNvPr id="4" name="Object 3"/>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11872" y="1900171"/>
            <a:ext cx="247588" cy="352337"/>
          </a:xfrm>
          <a:prstGeom prst="rect">
            <a:avLst/>
          </a:prstGeom>
        </p:spPr>
      </p:pic>
      <p:sp>
        <p:nvSpPr>
          <p:cNvPr id="5" name="Object 4"/>
          <p:cNvSpPr/>
          <p:nvPr/>
        </p:nvSpPr>
        <p:spPr>
          <a:xfrm>
            <a:off x="1380780" y="1672212"/>
            <a:ext cx="2775843" cy="533862"/>
          </a:xfrm>
          <a:prstGeom prst="rect">
            <a:avLst/>
          </a:prstGeom>
          <a:noFill/>
        </p:spPr>
        <p:txBody>
          <a:bodyPr wrap="square" lIns="0" tIns="0" rIns="0" bIns="0" rtlCol="0" anchor="t"/>
          <a:lstStyle/>
          <a:p>
            <a:pPr marL="0" marR="0" lvl="0" indent="0" algn="l" defTabSz="914400" rtl="0" eaLnBrk="1" fontAlgn="auto" latinLnBrk="0" hangingPunct="1">
              <a:lnSpc>
                <a:spcPts val="2102"/>
              </a:lnSpc>
              <a:spcBef>
                <a:spcPts val="0"/>
              </a:spcBef>
              <a:spcAft>
                <a:spcPts val="0"/>
              </a:spcAft>
              <a:buClrTx/>
              <a:buSzTx/>
              <a:buFontTx/>
              <a:buNone/>
              <a:tabLst/>
              <a:defRPr/>
            </a:pPr>
            <a:r>
              <a:rPr kumimoji="0" lang="en-US" sz="1800" b="1" i="0" u="none" strike="noStrike" kern="0" cap="none" spc="-108" normalizeH="0" baseline="0" noProof="0" dirty="0">
                <a:ln>
                  <a:noFill/>
                </a:ln>
                <a:effectLst/>
                <a:uLnTx/>
                <a:uFillTx/>
                <a:latin typeface="Inter" pitchFamily="34" charset="0"/>
                <a:ea typeface="Inter" pitchFamily="34" charset="-122"/>
                <a:cs typeface="Inter" pitchFamily="34" charset="-120"/>
              </a:rPr>
              <a:t>AI is revolutionizing knowledge work</a:t>
            </a:r>
            <a:endParaRPr kumimoji="0" lang="en-US" sz="1800" b="0" i="0" u="none" strike="noStrike" kern="1200" cap="none" spc="0" normalizeH="0" baseline="0" noProof="0" dirty="0">
              <a:ln>
                <a:noFill/>
              </a:ln>
              <a:effectLst/>
              <a:uLnTx/>
              <a:uFillTx/>
              <a:latin typeface="Arial"/>
              <a:ea typeface="+mn-ea"/>
              <a:cs typeface="+mn-cs"/>
            </a:endParaRPr>
          </a:p>
        </p:txBody>
      </p:sp>
      <p:sp>
        <p:nvSpPr>
          <p:cNvPr id="6" name="Object 5"/>
          <p:cNvSpPr/>
          <p:nvPr/>
        </p:nvSpPr>
        <p:spPr>
          <a:xfrm>
            <a:off x="1380780" y="2283246"/>
            <a:ext cx="2775843" cy="1849074"/>
          </a:xfrm>
          <a:prstGeom prst="rect">
            <a:avLst/>
          </a:prstGeom>
          <a:noFill/>
        </p:spPr>
        <p:txBody>
          <a:bodyPr wrap="square" lIns="0" tIns="0" rIns="0" bIns="0" rtlCol="0" anchor="t"/>
          <a:lstStyle/>
          <a:p>
            <a:pPr marL="0" marR="0" lvl="0" indent="0" algn="l" defTabSz="914400" rtl="0" eaLnBrk="1" fontAlgn="auto" latinLnBrk="0" hangingPunct="1">
              <a:lnSpc>
                <a:spcPts val="2081"/>
              </a:lnSpc>
              <a:spcBef>
                <a:spcPts val="596"/>
              </a:spcBef>
              <a:spcAft>
                <a:spcPts val="0"/>
              </a:spcAft>
              <a:buClrTx/>
              <a:buSzTx/>
              <a:buFontTx/>
              <a:buNone/>
              <a:tabLst/>
              <a:defRPr/>
            </a:pPr>
            <a:r>
              <a:rPr kumimoji="0" lang="en-US" sz="1500" b="0" i="0" u="none" strike="noStrike" kern="0" cap="none" spc="-30" normalizeH="0" baseline="0" noProof="0" dirty="0">
                <a:ln>
                  <a:noFill/>
                </a:ln>
                <a:effectLst/>
                <a:uLnTx/>
                <a:uFillTx/>
                <a:latin typeface="Inter" pitchFamily="34" charset="0"/>
                <a:ea typeface="Inter" pitchFamily="34" charset="-122"/>
                <a:cs typeface="Inter" pitchFamily="34" charset="-120"/>
              </a:rPr>
              <a:t>Generative AI models like GPT-3 and DALL-E have demonstrated transformative capabilities in areas like content creation, data analysis, and task automation since 2022-23.</a:t>
            </a:r>
            <a:endParaRPr kumimoji="0" lang="en-US" sz="1800" b="0" i="0" u="none" strike="noStrike" kern="1200" cap="none" spc="0" normalizeH="0" baseline="0" noProof="0" dirty="0">
              <a:ln>
                <a:noFill/>
              </a:ln>
              <a:effectLst/>
              <a:uLnTx/>
              <a:uFillTx/>
              <a:latin typeface="Arial"/>
              <a:ea typeface="+mn-ea"/>
              <a:cs typeface="+mn-cs"/>
            </a:endParaRPr>
          </a:p>
        </p:txBody>
      </p:sp>
      <p:sp>
        <p:nvSpPr>
          <p:cNvPr id="7" name="Object 6"/>
          <p:cNvSpPr/>
          <p:nvPr/>
        </p:nvSpPr>
        <p:spPr>
          <a:xfrm>
            <a:off x="4380405" y="1718833"/>
            <a:ext cx="714196" cy="714196"/>
          </a:xfrm>
          <a:prstGeom prst="ellipse">
            <a:avLst/>
          </a:prstGeom>
          <a:solidFill>
            <a:srgbClr val="FFD9AD"/>
          </a:solidFill>
        </p:spPr>
      </p:sp>
      <p:pic>
        <p:nvPicPr>
          <p:cNvPr id="8" name="Object 7"/>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565925" y="1946205"/>
            <a:ext cx="333292" cy="285679"/>
          </a:xfrm>
          <a:prstGeom prst="rect">
            <a:avLst/>
          </a:prstGeom>
        </p:spPr>
      </p:pic>
      <p:sp>
        <p:nvSpPr>
          <p:cNvPr id="9" name="Object 8"/>
          <p:cNvSpPr/>
          <p:nvPr/>
        </p:nvSpPr>
        <p:spPr>
          <a:xfrm>
            <a:off x="5285053" y="1672212"/>
            <a:ext cx="2775843" cy="800793"/>
          </a:xfrm>
          <a:prstGeom prst="rect">
            <a:avLst/>
          </a:prstGeom>
          <a:noFill/>
        </p:spPr>
        <p:txBody>
          <a:bodyPr wrap="square" lIns="0" tIns="0" rIns="0" bIns="0" rtlCol="0" anchor="t"/>
          <a:lstStyle/>
          <a:p>
            <a:pPr marL="0" marR="0" lvl="0" indent="0" algn="l" defTabSz="914400" rtl="0" eaLnBrk="1" fontAlgn="auto" latinLnBrk="0" hangingPunct="1">
              <a:lnSpc>
                <a:spcPts val="2102"/>
              </a:lnSpc>
              <a:spcBef>
                <a:spcPts val="0"/>
              </a:spcBef>
              <a:spcAft>
                <a:spcPts val="0"/>
              </a:spcAft>
              <a:buClrTx/>
              <a:buSzTx/>
              <a:buFontTx/>
              <a:buNone/>
              <a:tabLst/>
              <a:defRPr/>
            </a:pPr>
            <a:r>
              <a:rPr kumimoji="0" lang="en-US" sz="1800" b="1" i="0" u="none" strike="noStrike" kern="0" cap="none" spc="-108" normalizeH="0" baseline="0" noProof="0" dirty="0">
                <a:ln>
                  <a:noFill/>
                </a:ln>
                <a:effectLst/>
                <a:uLnTx/>
                <a:uFillTx/>
                <a:latin typeface="Inter" pitchFamily="34" charset="0"/>
                <a:ea typeface="Inter" pitchFamily="34" charset="-122"/>
                <a:cs typeface="Inter" pitchFamily="34" charset="-120"/>
              </a:rPr>
              <a:t>UN 2.0 Digital Transformation demands smarter evaluation</a:t>
            </a:r>
            <a:endParaRPr kumimoji="0" lang="en-US" sz="1800" b="0" i="0" u="none" strike="noStrike" kern="1200" cap="none" spc="0" normalizeH="0" baseline="0" noProof="0" dirty="0">
              <a:ln>
                <a:noFill/>
              </a:ln>
              <a:effectLst/>
              <a:uLnTx/>
              <a:uFillTx/>
              <a:latin typeface="Arial"/>
              <a:ea typeface="+mn-ea"/>
              <a:cs typeface="+mn-cs"/>
            </a:endParaRPr>
          </a:p>
        </p:txBody>
      </p:sp>
      <p:sp>
        <p:nvSpPr>
          <p:cNvPr id="10" name="Object 9"/>
          <p:cNvSpPr/>
          <p:nvPr/>
        </p:nvSpPr>
        <p:spPr>
          <a:xfrm>
            <a:off x="5285053" y="2550177"/>
            <a:ext cx="2775843" cy="1849074"/>
          </a:xfrm>
          <a:prstGeom prst="rect">
            <a:avLst/>
          </a:prstGeom>
          <a:noFill/>
        </p:spPr>
        <p:txBody>
          <a:bodyPr wrap="square" lIns="0" tIns="0" rIns="0" bIns="0" rtlCol="0" anchor="t"/>
          <a:lstStyle/>
          <a:p>
            <a:pPr marL="0" marR="0" lvl="0" indent="0" algn="l" defTabSz="914400" rtl="0" eaLnBrk="1" fontAlgn="auto" latinLnBrk="0" hangingPunct="1">
              <a:lnSpc>
                <a:spcPts val="2081"/>
              </a:lnSpc>
              <a:spcBef>
                <a:spcPts val="596"/>
              </a:spcBef>
              <a:spcAft>
                <a:spcPts val="0"/>
              </a:spcAft>
              <a:buClrTx/>
              <a:buSzTx/>
              <a:buFontTx/>
              <a:buNone/>
              <a:tabLst/>
              <a:defRPr/>
            </a:pPr>
            <a:r>
              <a:rPr kumimoji="0" lang="en-US" sz="1500" b="0" i="0" u="none" strike="noStrike" kern="0" cap="none" spc="-30" normalizeH="0" baseline="0" noProof="0" dirty="0">
                <a:ln>
                  <a:noFill/>
                </a:ln>
                <a:effectLst/>
                <a:uLnTx/>
                <a:uFillTx/>
                <a:latin typeface="Inter" pitchFamily="34" charset="0"/>
                <a:ea typeface="Inter" pitchFamily="34" charset="-122"/>
                <a:cs typeface="Inter" pitchFamily="34" charset="-120"/>
              </a:rPr>
              <a:t>The UN's 2.0 Digital Transformation strategy calls for integrating emerging technologies like AI to modernize and streamline operations, including the evaluation function.</a:t>
            </a:r>
            <a:endParaRPr kumimoji="0" lang="en-US" sz="1800" b="0" i="0" u="none" strike="noStrike" kern="1200" cap="none" spc="0" normalizeH="0" baseline="0" noProof="0" dirty="0">
              <a:ln>
                <a:noFill/>
              </a:ln>
              <a:effectLst/>
              <a:uLnTx/>
              <a:uFillTx/>
              <a:latin typeface="Arial"/>
              <a:ea typeface="+mn-ea"/>
              <a:cs typeface="+mn-cs"/>
            </a:endParaRPr>
          </a:p>
        </p:txBody>
      </p:sp>
      <p:sp>
        <p:nvSpPr>
          <p:cNvPr id="11" name="Object 10"/>
          <p:cNvSpPr/>
          <p:nvPr/>
        </p:nvSpPr>
        <p:spPr>
          <a:xfrm>
            <a:off x="8284678" y="1718833"/>
            <a:ext cx="714196" cy="714196"/>
          </a:xfrm>
          <a:prstGeom prst="ellipse">
            <a:avLst/>
          </a:prstGeom>
          <a:solidFill>
            <a:srgbClr val="FEC088"/>
          </a:solidFill>
        </p:spPr>
      </p:sp>
      <p:pic>
        <p:nvPicPr>
          <p:cNvPr id="12" name="Object 11"/>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499492" y="1954573"/>
            <a:ext cx="285679" cy="238065"/>
          </a:xfrm>
          <a:prstGeom prst="rect">
            <a:avLst/>
          </a:prstGeom>
        </p:spPr>
      </p:pic>
      <p:sp>
        <p:nvSpPr>
          <p:cNvPr id="13" name="Object 12"/>
          <p:cNvSpPr/>
          <p:nvPr/>
        </p:nvSpPr>
        <p:spPr>
          <a:xfrm>
            <a:off x="9189327" y="1672212"/>
            <a:ext cx="2775843" cy="800793"/>
          </a:xfrm>
          <a:prstGeom prst="rect">
            <a:avLst/>
          </a:prstGeom>
          <a:noFill/>
        </p:spPr>
        <p:txBody>
          <a:bodyPr wrap="square" lIns="0" tIns="0" rIns="0" bIns="0" rtlCol="0" anchor="t"/>
          <a:lstStyle/>
          <a:p>
            <a:pPr marL="0" marR="0" lvl="0" indent="0" algn="l" defTabSz="914400" rtl="0" eaLnBrk="1" fontAlgn="auto" latinLnBrk="0" hangingPunct="1">
              <a:lnSpc>
                <a:spcPts val="2102"/>
              </a:lnSpc>
              <a:spcBef>
                <a:spcPts val="0"/>
              </a:spcBef>
              <a:spcAft>
                <a:spcPts val="0"/>
              </a:spcAft>
              <a:buClrTx/>
              <a:buSzTx/>
              <a:buFontTx/>
              <a:buNone/>
              <a:tabLst/>
              <a:defRPr/>
            </a:pPr>
            <a:r>
              <a:rPr kumimoji="0" lang="en-US" sz="1800" b="1" i="0" u="none" strike="noStrike" kern="0" cap="none" spc="-108" normalizeH="0" baseline="0" noProof="0" dirty="0">
                <a:ln>
                  <a:noFill/>
                </a:ln>
                <a:effectLst/>
                <a:uLnTx/>
                <a:uFillTx/>
                <a:latin typeface="Inter" pitchFamily="34" charset="0"/>
                <a:ea typeface="Inter" pitchFamily="34" charset="-122"/>
                <a:cs typeface="Inter" pitchFamily="34" charset="-120"/>
              </a:rPr>
              <a:t>SDG acceleration needs faster, scalable, ethical evaluations</a:t>
            </a:r>
            <a:endParaRPr kumimoji="0" lang="en-US" sz="1800" b="0" i="0" u="none" strike="noStrike" kern="1200" cap="none" spc="0" normalizeH="0" baseline="0" noProof="0" dirty="0">
              <a:ln>
                <a:noFill/>
              </a:ln>
              <a:effectLst/>
              <a:uLnTx/>
              <a:uFillTx/>
              <a:latin typeface="Arial"/>
              <a:ea typeface="+mn-ea"/>
              <a:cs typeface="+mn-cs"/>
            </a:endParaRPr>
          </a:p>
        </p:txBody>
      </p:sp>
      <p:sp>
        <p:nvSpPr>
          <p:cNvPr id="14" name="Object 13"/>
          <p:cNvSpPr/>
          <p:nvPr/>
        </p:nvSpPr>
        <p:spPr>
          <a:xfrm>
            <a:off x="9189327" y="2550177"/>
            <a:ext cx="2775843" cy="2113228"/>
          </a:xfrm>
          <a:prstGeom prst="rect">
            <a:avLst/>
          </a:prstGeom>
          <a:noFill/>
        </p:spPr>
        <p:txBody>
          <a:bodyPr wrap="square" lIns="0" tIns="0" rIns="0" bIns="0" rtlCol="0" anchor="t"/>
          <a:lstStyle/>
          <a:p>
            <a:pPr marL="0" marR="0" lvl="0" indent="0" algn="l" defTabSz="914400" rtl="0" eaLnBrk="1" fontAlgn="auto" latinLnBrk="0" hangingPunct="1">
              <a:lnSpc>
                <a:spcPts val="2081"/>
              </a:lnSpc>
              <a:spcBef>
                <a:spcPts val="596"/>
              </a:spcBef>
              <a:spcAft>
                <a:spcPts val="0"/>
              </a:spcAft>
              <a:buClrTx/>
              <a:buSzTx/>
              <a:buFontTx/>
              <a:buNone/>
              <a:tabLst/>
              <a:defRPr/>
            </a:pPr>
            <a:r>
              <a:rPr kumimoji="0" lang="en-US" sz="1500" b="0" i="0" u="none" strike="noStrike" kern="0" cap="none" spc="-30" normalizeH="0" baseline="0" noProof="0" dirty="0">
                <a:ln>
                  <a:noFill/>
                </a:ln>
                <a:effectLst/>
                <a:uLnTx/>
                <a:uFillTx/>
                <a:latin typeface="Inter" pitchFamily="34" charset="0"/>
                <a:ea typeface="Inter" pitchFamily="34" charset="-122"/>
                <a:cs typeface="Inter" pitchFamily="34" charset="-120"/>
              </a:rPr>
              <a:t>To achieve the Sustainable Development Goals by 2030, evaluations must become more efficient, comprehensive, and responsible in order to drive faster decision-making and policy adjustments.</a:t>
            </a:r>
            <a:endParaRPr kumimoji="0" lang="en-US" sz="1800" b="0" i="0" u="none" strike="noStrike" kern="1200" cap="none" spc="0" normalizeH="0" baseline="0" noProof="0" dirty="0">
              <a:ln>
                <a:noFill/>
              </a:ln>
              <a:effectLst/>
              <a:uLnTx/>
              <a:uFillTx/>
              <a:latin typeface="Arial"/>
              <a:ea typeface="+mn-ea"/>
              <a:cs typeface="+mn-cs"/>
            </a:endParaRPr>
          </a:p>
        </p:txBody>
      </p:sp>
      <p:sp>
        <p:nvSpPr>
          <p:cNvPr id="15" name="Object 14"/>
          <p:cNvSpPr/>
          <p:nvPr/>
        </p:nvSpPr>
        <p:spPr>
          <a:xfrm>
            <a:off x="0" y="5208872"/>
            <a:ext cx="12188952" cy="1647413"/>
          </a:xfrm>
          <a:prstGeom prst="rect">
            <a:avLst/>
          </a:prstGeom>
          <a:solidFill>
            <a:srgbClr val="22AAEE"/>
          </a:solidFill>
        </p:spPr>
      </p:sp>
      <p:sp>
        <p:nvSpPr>
          <p:cNvPr id="16" name="Object 15"/>
          <p:cNvSpPr/>
          <p:nvPr/>
        </p:nvSpPr>
        <p:spPr>
          <a:xfrm>
            <a:off x="219020" y="5531550"/>
            <a:ext cx="11750912" cy="1000768"/>
          </a:xfrm>
          <a:prstGeom prst="rect">
            <a:avLst/>
          </a:prstGeom>
          <a:noFill/>
        </p:spPr>
        <p:txBody>
          <a:bodyPr wrap="square" lIns="0" tIns="0" rIns="0" bIns="0" rtlCol="0" anchor="ctr"/>
          <a:lstStyle/>
          <a:p>
            <a:pPr marL="0" marR="0" lvl="0" indent="0" algn="ctr" defTabSz="914400" rtl="0" eaLnBrk="1" fontAlgn="auto" latinLnBrk="0" hangingPunct="1">
              <a:lnSpc>
                <a:spcPts val="2628"/>
              </a:lnSpc>
              <a:spcBef>
                <a:spcPts val="0"/>
              </a:spcBef>
              <a:spcAft>
                <a:spcPts val="0"/>
              </a:spcAft>
              <a:buClrTx/>
              <a:buSzTx/>
              <a:buFontTx/>
              <a:buNone/>
              <a:tabLst/>
              <a:defRPr/>
            </a:pPr>
            <a:r>
              <a:rPr kumimoji="0" lang="en-US" sz="2250" b="1" i="0" u="none" strike="noStrike" kern="0" cap="none" spc="-135" normalizeH="0" baseline="0" noProof="0" dirty="0">
                <a:ln>
                  <a:noFill/>
                </a:ln>
                <a:effectLst/>
                <a:uLnTx/>
                <a:uFillTx/>
                <a:latin typeface="Inter" pitchFamily="34" charset="0"/>
                <a:ea typeface="Inter" pitchFamily="34" charset="-122"/>
                <a:cs typeface="Inter" pitchFamily="34" charset="-120"/>
              </a:rPr>
              <a:t>UNFPA recognizes the transformative potential of generative AI to enhance its evaluation function, while remaining committed to upholding ethical principles and human oversight in the process.</a:t>
            </a:r>
            <a:endParaRPr kumimoji="0" lang="en-US" sz="1800" b="0" i="0" u="none" strike="noStrike" kern="1200" cap="none" spc="0" normalizeH="0" baseline="0" noProof="0" dirty="0">
              <a:ln>
                <a:noFill/>
              </a:ln>
              <a:effectLst/>
              <a:uLnTx/>
              <a:uFillTx/>
              <a:latin typeface="Arial"/>
              <a:ea typeface="+mn-ea"/>
              <a:cs typeface="+mn-cs"/>
            </a:endParaRPr>
          </a:p>
        </p:txBody>
      </p:sp>
    </p:spTree>
    <p:extLst>
      <p:ext uri="{BB962C8B-B14F-4D97-AF65-F5344CB8AC3E}">
        <p14:creationId xmlns:p14="http://schemas.microsoft.com/office/powerpoint/2010/main" val="25588171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0" y="379020"/>
            <a:ext cx="12188952" cy="556081"/>
          </a:xfrm>
          <a:prstGeom prst="rect">
            <a:avLst/>
          </a:prstGeom>
          <a:noFill/>
        </p:spPr>
        <p:txBody>
          <a:bodyPr wrap="square" lIns="0" tIns="0" rIns="0" bIns="0" rtlCol="0" anchor="t"/>
          <a:lstStyle/>
          <a:p>
            <a:pPr marL="0" marR="0" lvl="0" indent="0" algn="ctr" defTabSz="914400" rtl="0" eaLnBrk="1" fontAlgn="auto" latinLnBrk="0" hangingPunct="1">
              <a:lnSpc>
                <a:spcPts val="4380"/>
              </a:lnSpc>
              <a:spcBef>
                <a:spcPts val="0"/>
              </a:spcBef>
              <a:spcAft>
                <a:spcPts val="0"/>
              </a:spcAft>
              <a:buClrTx/>
              <a:buSzTx/>
              <a:buFontTx/>
              <a:buNone/>
              <a:tabLst/>
              <a:defRPr/>
            </a:pPr>
            <a:r>
              <a:rPr kumimoji="0" lang="en-US" sz="3750" b="1" i="0" u="none" strike="noStrike" kern="0" cap="none" spc="-225" normalizeH="0" baseline="0" noProof="0" dirty="0">
                <a:ln>
                  <a:noFill/>
                </a:ln>
                <a:solidFill>
                  <a:srgbClr val="333333"/>
                </a:solidFill>
                <a:effectLst/>
                <a:uLnTx/>
                <a:uFillTx/>
                <a:latin typeface="Inter" pitchFamily="34" charset="0"/>
                <a:ea typeface="Inter" pitchFamily="34" charset="-122"/>
                <a:cs typeface="Inter" pitchFamily="34" charset="-120"/>
              </a:rPr>
              <a:t>Strategy Development Process</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3" name="Object 2"/>
          <p:cNvSpPr/>
          <p:nvPr/>
        </p:nvSpPr>
        <p:spPr>
          <a:xfrm>
            <a:off x="476131" y="1590277"/>
            <a:ext cx="714196" cy="714196"/>
          </a:xfrm>
          <a:prstGeom prst="ellipse">
            <a:avLst/>
          </a:prstGeom>
          <a:solidFill>
            <a:srgbClr val="22AAEE"/>
          </a:solidFill>
        </p:spPr>
      </p:sp>
      <p:pic>
        <p:nvPicPr>
          <p:cNvPr id="4" name="Object 3"/>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82590" y="1763246"/>
            <a:ext cx="304724" cy="352337"/>
          </a:xfrm>
          <a:prstGeom prst="rect">
            <a:avLst/>
          </a:prstGeom>
        </p:spPr>
      </p:pic>
      <p:sp>
        <p:nvSpPr>
          <p:cNvPr id="5" name="Object 4"/>
          <p:cNvSpPr/>
          <p:nvPr/>
        </p:nvSpPr>
        <p:spPr>
          <a:xfrm>
            <a:off x="1380780" y="1543656"/>
            <a:ext cx="2775843" cy="533862"/>
          </a:xfrm>
          <a:prstGeom prst="rect">
            <a:avLst/>
          </a:prstGeom>
          <a:noFill/>
        </p:spPr>
        <p:txBody>
          <a:bodyPr wrap="square" lIns="0" tIns="0" rIns="0" bIns="0" rtlCol="0" anchor="t"/>
          <a:lstStyle/>
          <a:p>
            <a:pPr marL="0" marR="0" lvl="0" indent="0" algn="l" defTabSz="914400" rtl="0" eaLnBrk="1" fontAlgn="auto" latinLnBrk="0" hangingPunct="1">
              <a:lnSpc>
                <a:spcPts val="2102"/>
              </a:lnSpc>
              <a:spcBef>
                <a:spcPts val="0"/>
              </a:spcBef>
              <a:spcAft>
                <a:spcPts val="0"/>
              </a:spcAft>
              <a:buClrTx/>
              <a:buSzTx/>
              <a:buFontTx/>
              <a:buNone/>
              <a:tabLst/>
              <a:defRPr/>
            </a:pPr>
            <a:r>
              <a:rPr kumimoji="0" lang="en-US" sz="1800" b="1" i="0" u="none" strike="noStrike" kern="0" cap="none" spc="-108" normalizeH="0" baseline="0" noProof="0" dirty="0">
                <a:ln>
                  <a:noFill/>
                </a:ln>
                <a:solidFill>
                  <a:srgbClr val="333333"/>
                </a:solidFill>
                <a:effectLst/>
                <a:uLnTx/>
                <a:uFillTx/>
                <a:latin typeface="Inter" pitchFamily="34" charset="0"/>
                <a:ea typeface="Inter" pitchFamily="34" charset="-122"/>
                <a:cs typeface="Inter" pitchFamily="34" charset="-120"/>
              </a:rPr>
              <a:t>Needs assessment conducted</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6" name="Object 5"/>
          <p:cNvSpPr/>
          <p:nvPr/>
        </p:nvSpPr>
        <p:spPr>
          <a:xfrm>
            <a:off x="1380780" y="2154691"/>
            <a:ext cx="2775843" cy="2113228"/>
          </a:xfrm>
          <a:prstGeom prst="rect">
            <a:avLst/>
          </a:prstGeom>
          <a:noFill/>
        </p:spPr>
        <p:txBody>
          <a:bodyPr wrap="square" lIns="0" tIns="0" rIns="0" bIns="0" rtlCol="0" anchor="t"/>
          <a:lstStyle/>
          <a:p>
            <a:pPr marL="0" marR="0" lvl="0" indent="0" algn="l" defTabSz="914400" rtl="0" eaLnBrk="1" fontAlgn="auto" latinLnBrk="0" hangingPunct="1">
              <a:lnSpc>
                <a:spcPts val="2081"/>
              </a:lnSpc>
              <a:spcBef>
                <a:spcPts val="596"/>
              </a:spcBef>
              <a:spcAft>
                <a:spcPts val="0"/>
              </a:spcAft>
              <a:buClrTx/>
              <a:buSzTx/>
              <a:buFontTx/>
              <a:buNone/>
              <a:tabLst/>
              <a:defRPr/>
            </a:pPr>
            <a:r>
              <a:rPr kumimoji="0" lang="en-US" sz="1500" b="0" i="0" u="none" strike="noStrike" kern="0" cap="none" spc="-30" normalizeH="0" baseline="0" noProof="0" dirty="0">
                <a:ln>
                  <a:noFill/>
                </a:ln>
                <a:solidFill>
                  <a:srgbClr val="000000">
                    <a:alpha val="56000"/>
                  </a:srgbClr>
                </a:solidFill>
                <a:effectLst/>
                <a:uLnTx/>
                <a:uFillTx/>
                <a:latin typeface="Inter" pitchFamily="34" charset="0"/>
                <a:ea typeface="Inter" pitchFamily="34" charset="-122"/>
                <a:cs typeface="Inter" pitchFamily="34" charset="-120"/>
              </a:rPr>
              <a:t>UNFPA conducted a comprehensive needs assessment between June and August 2023 to understand the opportunities and challenges of integrating GenAI into its evaluation function.</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7" name="Object 6"/>
          <p:cNvSpPr/>
          <p:nvPr/>
        </p:nvSpPr>
        <p:spPr>
          <a:xfrm>
            <a:off x="4380405" y="1590277"/>
            <a:ext cx="714196" cy="714196"/>
          </a:xfrm>
          <a:prstGeom prst="ellipse">
            <a:avLst/>
          </a:prstGeom>
          <a:solidFill>
            <a:srgbClr val="FFD9AD"/>
          </a:solidFill>
        </p:spPr>
      </p:sp>
      <p:pic>
        <p:nvPicPr>
          <p:cNvPr id="8" name="Object 7"/>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582674" y="1788356"/>
            <a:ext cx="323769" cy="323769"/>
          </a:xfrm>
          <a:prstGeom prst="rect">
            <a:avLst/>
          </a:prstGeom>
        </p:spPr>
      </p:pic>
      <p:sp>
        <p:nvSpPr>
          <p:cNvPr id="9" name="Object 8"/>
          <p:cNvSpPr/>
          <p:nvPr/>
        </p:nvSpPr>
        <p:spPr>
          <a:xfrm>
            <a:off x="5285053" y="1543656"/>
            <a:ext cx="2775843" cy="533862"/>
          </a:xfrm>
          <a:prstGeom prst="rect">
            <a:avLst/>
          </a:prstGeom>
          <a:noFill/>
        </p:spPr>
        <p:txBody>
          <a:bodyPr wrap="square" lIns="0" tIns="0" rIns="0" bIns="0" rtlCol="0" anchor="t"/>
          <a:lstStyle/>
          <a:p>
            <a:pPr marL="0" marR="0" lvl="0" indent="0" algn="l" defTabSz="914400" rtl="0" eaLnBrk="1" fontAlgn="auto" latinLnBrk="0" hangingPunct="1">
              <a:lnSpc>
                <a:spcPts val="2102"/>
              </a:lnSpc>
              <a:spcBef>
                <a:spcPts val="0"/>
              </a:spcBef>
              <a:spcAft>
                <a:spcPts val="0"/>
              </a:spcAft>
              <a:buClrTx/>
              <a:buSzTx/>
              <a:buFontTx/>
              <a:buNone/>
              <a:tabLst/>
              <a:defRPr/>
            </a:pPr>
            <a:r>
              <a:rPr kumimoji="0" lang="en-US" sz="1800" b="1" i="0" u="none" strike="noStrike" kern="0" cap="none" spc="-108" normalizeH="0" baseline="0" noProof="0" dirty="0">
                <a:ln>
                  <a:noFill/>
                </a:ln>
                <a:solidFill>
                  <a:srgbClr val="333333"/>
                </a:solidFill>
                <a:effectLst/>
                <a:uLnTx/>
                <a:uFillTx/>
                <a:latin typeface="Inter" pitchFamily="34" charset="0"/>
                <a:ea typeface="Inter" pitchFamily="34" charset="-122"/>
                <a:cs typeface="Inter" pitchFamily="34" charset="-120"/>
              </a:rPr>
              <a:t>Consultations with key stakeholders</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10" name="Object 9"/>
          <p:cNvSpPr/>
          <p:nvPr/>
        </p:nvSpPr>
        <p:spPr>
          <a:xfrm>
            <a:off x="5285053" y="2154691"/>
            <a:ext cx="2775843" cy="2377381"/>
          </a:xfrm>
          <a:prstGeom prst="rect">
            <a:avLst/>
          </a:prstGeom>
          <a:noFill/>
        </p:spPr>
        <p:txBody>
          <a:bodyPr wrap="square" lIns="0" tIns="0" rIns="0" bIns="0" rtlCol="0" anchor="t"/>
          <a:lstStyle/>
          <a:p>
            <a:pPr marL="0" marR="0" lvl="0" indent="0" algn="l" defTabSz="914400" rtl="0" eaLnBrk="1" fontAlgn="auto" latinLnBrk="0" hangingPunct="1">
              <a:lnSpc>
                <a:spcPts val="2081"/>
              </a:lnSpc>
              <a:spcBef>
                <a:spcPts val="596"/>
              </a:spcBef>
              <a:spcAft>
                <a:spcPts val="0"/>
              </a:spcAft>
              <a:buClrTx/>
              <a:buSzTx/>
              <a:buFontTx/>
              <a:buNone/>
              <a:tabLst/>
              <a:defRPr/>
            </a:pPr>
            <a:r>
              <a:rPr kumimoji="0" lang="en-US" sz="1500" b="0" i="0" u="none" strike="noStrike" kern="0" cap="none" spc="-30" normalizeH="0" baseline="0" noProof="0" dirty="0">
                <a:ln>
                  <a:noFill/>
                </a:ln>
                <a:solidFill>
                  <a:srgbClr val="000000">
                    <a:alpha val="56000"/>
                  </a:srgbClr>
                </a:solidFill>
                <a:effectLst/>
                <a:uLnTx/>
                <a:uFillTx/>
                <a:latin typeface="Inter" pitchFamily="34" charset="0"/>
                <a:ea typeface="Inter" pitchFamily="34" charset="-122"/>
                <a:cs typeface="Inter" pitchFamily="34" charset="-120"/>
              </a:rPr>
              <a:t>UNFPA engaged in extensive consultations with the Independent Evaluation Office (IEO), Regional Monitoring and Evaluation teams, Information Technology and Systems Office (ITSO), Legal, and Ethics departments to gather input and buy-in.</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11" name="Object 10"/>
          <p:cNvSpPr/>
          <p:nvPr/>
        </p:nvSpPr>
        <p:spPr>
          <a:xfrm>
            <a:off x="8284678" y="1590277"/>
            <a:ext cx="714196" cy="714196"/>
          </a:xfrm>
          <a:prstGeom prst="ellipse">
            <a:avLst/>
          </a:prstGeom>
          <a:solidFill>
            <a:srgbClr val="FEC088"/>
          </a:solidFill>
        </p:spPr>
      </p:sp>
      <p:pic>
        <p:nvPicPr>
          <p:cNvPr id="12" name="Object 11"/>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499492" y="1779985"/>
            <a:ext cx="295201" cy="342814"/>
          </a:xfrm>
          <a:prstGeom prst="rect">
            <a:avLst/>
          </a:prstGeom>
        </p:spPr>
      </p:pic>
      <p:sp>
        <p:nvSpPr>
          <p:cNvPr id="13" name="Object 12"/>
          <p:cNvSpPr/>
          <p:nvPr/>
        </p:nvSpPr>
        <p:spPr>
          <a:xfrm>
            <a:off x="9189327" y="1543656"/>
            <a:ext cx="2775843" cy="533862"/>
          </a:xfrm>
          <a:prstGeom prst="rect">
            <a:avLst/>
          </a:prstGeom>
          <a:noFill/>
        </p:spPr>
        <p:txBody>
          <a:bodyPr wrap="square" lIns="0" tIns="0" rIns="0" bIns="0" rtlCol="0" anchor="t"/>
          <a:lstStyle/>
          <a:p>
            <a:pPr marL="0" marR="0" lvl="0" indent="0" algn="l" defTabSz="914400" rtl="0" eaLnBrk="1" fontAlgn="auto" latinLnBrk="0" hangingPunct="1">
              <a:lnSpc>
                <a:spcPts val="2102"/>
              </a:lnSpc>
              <a:spcBef>
                <a:spcPts val="0"/>
              </a:spcBef>
              <a:spcAft>
                <a:spcPts val="0"/>
              </a:spcAft>
              <a:buClrTx/>
              <a:buSzTx/>
              <a:buFontTx/>
              <a:buNone/>
              <a:tabLst/>
              <a:defRPr/>
            </a:pPr>
            <a:r>
              <a:rPr kumimoji="0" lang="en-US" sz="1800" b="1" i="0" u="none" strike="noStrike" kern="0" cap="none" spc="-108" normalizeH="0" baseline="0" noProof="0" dirty="0">
                <a:ln>
                  <a:noFill/>
                </a:ln>
                <a:solidFill>
                  <a:srgbClr val="333333"/>
                </a:solidFill>
                <a:effectLst/>
                <a:uLnTx/>
                <a:uFillTx/>
                <a:latin typeface="Inter" pitchFamily="34" charset="0"/>
                <a:ea typeface="Inter" pitchFamily="34" charset="-122"/>
                <a:cs typeface="Inter" pitchFamily="34" charset="-120"/>
              </a:rPr>
              <a:t>Lessons to inform global partners</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14" name="Object 13"/>
          <p:cNvSpPr/>
          <p:nvPr/>
        </p:nvSpPr>
        <p:spPr>
          <a:xfrm>
            <a:off x="9189327" y="2154691"/>
            <a:ext cx="2775843" cy="2641535"/>
          </a:xfrm>
          <a:prstGeom prst="rect">
            <a:avLst/>
          </a:prstGeom>
          <a:noFill/>
        </p:spPr>
        <p:txBody>
          <a:bodyPr wrap="square" lIns="0" tIns="0" rIns="0" bIns="0" rtlCol="0" anchor="t"/>
          <a:lstStyle/>
          <a:p>
            <a:pPr marL="0" marR="0" lvl="0" indent="0" algn="l" defTabSz="914400" rtl="0" eaLnBrk="1" fontAlgn="auto" latinLnBrk="0" hangingPunct="1">
              <a:lnSpc>
                <a:spcPts val="2081"/>
              </a:lnSpc>
              <a:spcBef>
                <a:spcPts val="596"/>
              </a:spcBef>
              <a:spcAft>
                <a:spcPts val="0"/>
              </a:spcAft>
              <a:buClrTx/>
              <a:buSzTx/>
              <a:buFontTx/>
              <a:buNone/>
              <a:tabLst/>
              <a:defRPr/>
            </a:pPr>
            <a:r>
              <a:rPr kumimoji="0" lang="en-US" sz="1500" b="0" i="0" u="none" strike="noStrike" kern="0" cap="none" spc="-30" normalizeH="0" baseline="0" noProof="0" dirty="0">
                <a:ln>
                  <a:noFill/>
                </a:ln>
                <a:solidFill>
                  <a:srgbClr val="000000">
                    <a:alpha val="56000"/>
                  </a:srgbClr>
                </a:solidFill>
                <a:effectLst/>
                <a:uLnTx/>
                <a:uFillTx/>
                <a:latin typeface="Inter" pitchFamily="34" charset="0"/>
                <a:ea typeface="Inter" pitchFamily="34" charset="-122"/>
                <a:cs typeface="Inter" pitchFamily="34" charset="-120"/>
              </a:rPr>
              <a:t>The insights and lessons learned from this process will be shared with UNEG (UN Evaluation Group), EvalPartners, and UNFPA's Global South partners to foster a collaborative and coherent approach to responsible GenAI integration in evaluations.</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15" name="Object 14"/>
          <p:cNvSpPr/>
          <p:nvPr/>
        </p:nvSpPr>
        <p:spPr>
          <a:xfrm>
            <a:off x="0" y="4875581"/>
            <a:ext cx="12188952" cy="1980705"/>
          </a:xfrm>
          <a:prstGeom prst="rect">
            <a:avLst/>
          </a:prstGeom>
          <a:solidFill>
            <a:srgbClr val="FFD9AD"/>
          </a:solidFill>
        </p:spPr>
      </p:sp>
      <p:sp>
        <p:nvSpPr>
          <p:cNvPr id="16" name="Object 15"/>
          <p:cNvSpPr/>
          <p:nvPr/>
        </p:nvSpPr>
        <p:spPr>
          <a:xfrm>
            <a:off x="347576" y="5198259"/>
            <a:ext cx="11493801" cy="1334357"/>
          </a:xfrm>
          <a:prstGeom prst="rect">
            <a:avLst/>
          </a:prstGeom>
          <a:noFill/>
        </p:spPr>
        <p:txBody>
          <a:bodyPr wrap="square" lIns="0" tIns="0" rIns="0" bIns="0" rtlCol="0" anchor="ctr"/>
          <a:lstStyle/>
          <a:p>
            <a:pPr marL="0" marR="0" lvl="0" indent="0" algn="ctr" defTabSz="914400" rtl="0" eaLnBrk="1" fontAlgn="auto" latinLnBrk="0" hangingPunct="1">
              <a:lnSpc>
                <a:spcPts val="2628"/>
              </a:lnSpc>
              <a:spcBef>
                <a:spcPts val="0"/>
              </a:spcBef>
              <a:spcAft>
                <a:spcPts val="0"/>
              </a:spcAft>
              <a:buClrTx/>
              <a:buSzTx/>
              <a:buFontTx/>
              <a:buNone/>
              <a:tabLst/>
              <a:defRPr/>
            </a:pPr>
            <a:r>
              <a:rPr kumimoji="0" lang="en-US" sz="2250" b="1" i="0" u="none" strike="noStrike" kern="0" cap="none" spc="-135" normalizeH="0" baseline="0" noProof="0" dirty="0">
                <a:ln>
                  <a:noFill/>
                </a:ln>
                <a:solidFill>
                  <a:srgbClr val="333333"/>
                </a:solidFill>
                <a:effectLst/>
                <a:uLnTx/>
                <a:uFillTx/>
                <a:latin typeface="Inter" pitchFamily="34" charset="0"/>
                <a:ea typeface="Inter" pitchFamily="34" charset="-122"/>
                <a:cs typeface="Inter" pitchFamily="34" charset="-120"/>
              </a:rPr>
              <a:t>UNFPA's strategic development process for its GenAI-Powered Evaluation Strategy has been a comprehensive and inclusive effort, ensuring that the initiative is informed by diverse stakeholder perspectives and aligned with global best practices. This collaborative approach positions UNFPA as a leader in driving responsible innovation in the evaluation field.</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Tree>
    <p:extLst>
      <p:ext uri="{BB962C8B-B14F-4D97-AF65-F5344CB8AC3E}">
        <p14:creationId xmlns:p14="http://schemas.microsoft.com/office/powerpoint/2010/main" val="8920324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0" y="379020"/>
            <a:ext cx="12188952" cy="556081"/>
          </a:xfrm>
          <a:prstGeom prst="rect">
            <a:avLst/>
          </a:prstGeom>
          <a:noFill/>
        </p:spPr>
        <p:txBody>
          <a:bodyPr wrap="square" lIns="0" tIns="0" rIns="0" bIns="0" rtlCol="0" anchor="t"/>
          <a:lstStyle/>
          <a:p>
            <a:pPr marL="0" marR="0" lvl="0" indent="0" algn="ctr" defTabSz="914400" rtl="0" eaLnBrk="1" fontAlgn="auto" latinLnBrk="0" hangingPunct="1">
              <a:lnSpc>
                <a:spcPts val="4380"/>
              </a:lnSpc>
              <a:spcBef>
                <a:spcPts val="0"/>
              </a:spcBef>
              <a:spcAft>
                <a:spcPts val="0"/>
              </a:spcAft>
              <a:buClrTx/>
              <a:buSzTx/>
              <a:buFontTx/>
              <a:buNone/>
              <a:tabLst/>
              <a:defRPr/>
            </a:pPr>
            <a:r>
              <a:rPr kumimoji="0" lang="en-US" sz="3750" b="1" i="0" u="none" strike="noStrike" kern="0" cap="none" spc="-225" normalizeH="0" baseline="0" noProof="0" dirty="0">
                <a:ln>
                  <a:noFill/>
                </a:ln>
                <a:effectLst/>
                <a:uLnTx/>
                <a:uFillTx/>
                <a:latin typeface="Inter" pitchFamily="34" charset="0"/>
                <a:ea typeface="Inter" pitchFamily="34" charset="-122"/>
                <a:cs typeface="Inter" pitchFamily="34" charset="-120"/>
              </a:rPr>
              <a:t>Vision and Dual Goals</a:t>
            </a:r>
            <a:endParaRPr kumimoji="0" lang="en-US" sz="1800" b="0" i="0" u="none" strike="noStrike" kern="1200" cap="none" spc="0" normalizeH="0" baseline="0" noProof="0" dirty="0">
              <a:ln>
                <a:noFill/>
              </a:ln>
              <a:effectLst/>
              <a:uLnTx/>
              <a:uFillTx/>
              <a:latin typeface="Arial"/>
              <a:ea typeface="+mn-ea"/>
              <a:cs typeface="+mn-cs"/>
            </a:endParaRPr>
          </a:p>
        </p:txBody>
      </p:sp>
      <p:sp>
        <p:nvSpPr>
          <p:cNvPr id="3" name="Object 2"/>
          <p:cNvSpPr/>
          <p:nvPr/>
        </p:nvSpPr>
        <p:spPr>
          <a:xfrm>
            <a:off x="1095101" y="2159492"/>
            <a:ext cx="714196" cy="714196"/>
          </a:xfrm>
          <a:prstGeom prst="ellipse">
            <a:avLst/>
          </a:prstGeom>
          <a:solidFill>
            <a:srgbClr val="22AAEE"/>
          </a:solidFill>
        </p:spPr>
      </p:sp>
      <p:pic>
        <p:nvPicPr>
          <p:cNvPr id="4" name="Object 3"/>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268065" y="2357532"/>
            <a:ext cx="380905" cy="323769"/>
          </a:xfrm>
          <a:prstGeom prst="rect">
            <a:avLst/>
          </a:prstGeom>
        </p:spPr>
      </p:pic>
      <p:sp>
        <p:nvSpPr>
          <p:cNvPr id="5" name="Object 4"/>
          <p:cNvSpPr/>
          <p:nvPr/>
        </p:nvSpPr>
        <p:spPr>
          <a:xfrm>
            <a:off x="1999750" y="2112871"/>
            <a:ext cx="4242327" cy="533862"/>
          </a:xfrm>
          <a:prstGeom prst="rect">
            <a:avLst/>
          </a:prstGeom>
          <a:noFill/>
        </p:spPr>
        <p:txBody>
          <a:bodyPr wrap="square" lIns="0" tIns="0" rIns="0" bIns="0" rtlCol="0" anchor="t"/>
          <a:lstStyle/>
          <a:p>
            <a:pPr marL="0" marR="0" lvl="0" indent="0" algn="l" defTabSz="914400" rtl="0" eaLnBrk="1" fontAlgn="auto" latinLnBrk="0" hangingPunct="1">
              <a:lnSpc>
                <a:spcPts val="2102"/>
              </a:lnSpc>
              <a:spcBef>
                <a:spcPts val="0"/>
              </a:spcBef>
              <a:spcAft>
                <a:spcPts val="0"/>
              </a:spcAft>
              <a:buClrTx/>
              <a:buSzTx/>
              <a:buFontTx/>
              <a:buNone/>
              <a:tabLst/>
              <a:defRPr/>
            </a:pPr>
            <a:r>
              <a:rPr kumimoji="0" lang="en-US" sz="1800" b="1" i="0" u="none" strike="noStrike" kern="0" cap="none" spc="-108" normalizeH="0" baseline="0" noProof="0" dirty="0">
                <a:ln>
                  <a:noFill/>
                </a:ln>
                <a:effectLst/>
                <a:uLnTx/>
                <a:uFillTx/>
                <a:latin typeface="Inter" pitchFamily="34" charset="0"/>
                <a:ea typeface="Inter" pitchFamily="34" charset="-122"/>
                <a:cs typeface="Inter" pitchFamily="34" charset="-120"/>
              </a:rPr>
              <a:t>Strengthen UNFPA evaluation function ethically</a:t>
            </a:r>
            <a:endParaRPr kumimoji="0" lang="en-US" sz="1800" b="0" i="0" u="none" strike="noStrike" kern="1200" cap="none" spc="0" normalizeH="0" baseline="0" noProof="0" dirty="0">
              <a:ln>
                <a:noFill/>
              </a:ln>
              <a:effectLst/>
              <a:uLnTx/>
              <a:uFillTx/>
              <a:latin typeface="Arial"/>
              <a:ea typeface="+mn-ea"/>
              <a:cs typeface="+mn-cs"/>
            </a:endParaRPr>
          </a:p>
        </p:txBody>
      </p:sp>
      <p:sp>
        <p:nvSpPr>
          <p:cNvPr id="6" name="Object 5"/>
          <p:cNvSpPr/>
          <p:nvPr/>
        </p:nvSpPr>
        <p:spPr>
          <a:xfrm>
            <a:off x="1999750" y="2723905"/>
            <a:ext cx="4242327" cy="1056614"/>
          </a:xfrm>
          <a:prstGeom prst="rect">
            <a:avLst/>
          </a:prstGeom>
          <a:noFill/>
        </p:spPr>
        <p:txBody>
          <a:bodyPr wrap="square" lIns="0" tIns="0" rIns="0" bIns="0" rtlCol="0" anchor="t"/>
          <a:lstStyle/>
          <a:p>
            <a:pPr marL="0" marR="0" lvl="0" indent="0" algn="l" defTabSz="914400" rtl="0" eaLnBrk="1" fontAlgn="auto" latinLnBrk="0" hangingPunct="1">
              <a:lnSpc>
                <a:spcPts val="2081"/>
              </a:lnSpc>
              <a:spcBef>
                <a:spcPts val="596"/>
              </a:spcBef>
              <a:spcAft>
                <a:spcPts val="0"/>
              </a:spcAft>
              <a:buClrTx/>
              <a:buSzTx/>
              <a:buFontTx/>
              <a:buNone/>
              <a:tabLst/>
              <a:defRPr/>
            </a:pPr>
            <a:r>
              <a:rPr kumimoji="0" lang="en-US" sz="1500" b="0" i="0" u="none" strike="noStrike" kern="0" cap="none" spc="-30" normalizeH="0" baseline="0" noProof="0" dirty="0">
                <a:ln>
                  <a:noFill/>
                </a:ln>
                <a:effectLst/>
                <a:uLnTx/>
                <a:uFillTx/>
                <a:latin typeface="Inter" pitchFamily="34" charset="0"/>
                <a:ea typeface="Inter" pitchFamily="34" charset="-122"/>
                <a:cs typeface="Inter" pitchFamily="34" charset="-120"/>
              </a:rPr>
              <a:t>Integrate GenAI responsibly to enhance efficiency, quality, and credibility of UNFPA evaluations while upholding ethical principles and human oversight.</a:t>
            </a:r>
            <a:endParaRPr kumimoji="0" lang="en-US" sz="1800" b="0" i="0" u="none" strike="noStrike" kern="1200" cap="none" spc="0" normalizeH="0" baseline="0" noProof="0" dirty="0">
              <a:ln>
                <a:noFill/>
              </a:ln>
              <a:effectLst/>
              <a:uLnTx/>
              <a:uFillTx/>
              <a:latin typeface="Arial"/>
              <a:ea typeface="+mn-ea"/>
              <a:cs typeface="+mn-cs"/>
            </a:endParaRPr>
          </a:p>
        </p:txBody>
      </p:sp>
      <p:sp>
        <p:nvSpPr>
          <p:cNvPr id="7" name="Object 6"/>
          <p:cNvSpPr/>
          <p:nvPr/>
        </p:nvSpPr>
        <p:spPr>
          <a:xfrm>
            <a:off x="6332541" y="2159492"/>
            <a:ext cx="714196" cy="714196"/>
          </a:xfrm>
          <a:prstGeom prst="ellipse">
            <a:avLst/>
          </a:prstGeom>
          <a:solidFill>
            <a:srgbClr val="FFD9AD"/>
          </a:solidFill>
        </p:spPr>
      </p:sp>
      <p:pic>
        <p:nvPicPr>
          <p:cNvPr id="8" name="Object 7"/>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538975" y="2365900"/>
            <a:ext cx="304724" cy="304724"/>
          </a:xfrm>
          <a:prstGeom prst="rect">
            <a:avLst/>
          </a:prstGeom>
        </p:spPr>
      </p:pic>
      <p:sp>
        <p:nvSpPr>
          <p:cNvPr id="9" name="Object 8"/>
          <p:cNvSpPr/>
          <p:nvPr/>
        </p:nvSpPr>
        <p:spPr>
          <a:xfrm>
            <a:off x="7237190" y="2112871"/>
            <a:ext cx="4242327" cy="533862"/>
          </a:xfrm>
          <a:prstGeom prst="rect">
            <a:avLst/>
          </a:prstGeom>
          <a:noFill/>
        </p:spPr>
        <p:txBody>
          <a:bodyPr wrap="square" lIns="0" tIns="0" rIns="0" bIns="0" rtlCol="0" anchor="t"/>
          <a:lstStyle/>
          <a:p>
            <a:pPr marL="0" marR="0" lvl="0" indent="0" algn="l" defTabSz="914400" rtl="0" eaLnBrk="1" fontAlgn="auto" latinLnBrk="0" hangingPunct="1">
              <a:lnSpc>
                <a:spcPts val="2102"/>
              </a:lnSpc>
              <a:spcBef>
                <a:spcPts val="0"/>
              </a:spcBef>
              <a:spcAft>
                <a:spcPts val="0"/>
              </a:spcAft>
              <a:buClrTx/>
              <a:buSzTx/>
              <a:buFontTx/>
              <a:buNone/>
              <a:tabLst/>
              <a:defRPr/>
            </a:pPr>
            <a:r>
              <a:rPr kumimoji="0" lang="en-US" sz="1800" b="1" i="0" u="none" strike="noStrike" kern="0" cap="none" spc="-108" normalizeH="0" baseline="0" noProof="0" dirty="0">
                <a:ln>
                  <a:noFill/>
                </a:ln>
                <a:effectLst/>
                <a:uLnTx/>
                <a:uFillTx/>
                <a:latin typeface="Inter" pitchFamily="34" charset="0"/>
                <a:ea typeface="Inter" pitchFamily="34" charset="-122"/>
                <a:cs typeface="Inter" pitchFamily="34" charset="-120"/>
              </a:rPr>
              <a:t>Lead global dialogue on responsible GenAI in evaluations</a:t>
            </a:r>
            <a:endParaRPr kumimoji="0" lang="en-US" sz="1800" b="0" i="0" u="none" strike="noStrike" kern="1200" cap="none" spc="0" normalizeH="0" baseline="0" noProof="0" dirty="0">
              <a:ln>
                <a:noFill/>
              </a:ln>
              <a:effectLst/>
              <a:uLnTx/>
              <a:uFillTx/>
              <a:latin typeface="Arial"/>
              <a:ea typeface="+mn-ea"/>
              <a:cs typeface="+mn-cs"/>
            </a:endParaRPr>
          </a:p>
        </p:txBody>
      </p:sp>
      <p:sp>
        <p:nvSpPr>
          <p:cNvPr id="10" name="Object 9"/>
          <p:cNvSpPr/>
          <p:nvPr/>
        </p:nvSpPr>
        <p:spPr>
          <a:xfrm>
            <a:off x="7237190" y="2723905"/>
            <a:ext cx="4242327" cy="1056614"/>
          </a:xfrm>
          <a:prstGeom prst="rect">
            <a:avLst/>
          </a:prstGeom>
          <a:noFill/>
        </p:spPr>
        <p:txBody>
          <a:bodyPr wrap="square" lIns="0" tIns="0" rIns="0" bIns="0" rtlCol="0" anchor="t"/>
          <a:lstStyle/>
          <a:p>
            <a:pPr marL="0" marR="0" lvl="0" indent="0" algn="l" defTabSz="914400" rtl="0" eaLnBrk="1" fontAlgn="auto" latinLnBrk="0" hangingPunct="1">
              <a:lnSpc>
                <a:spcPts val="2081"/>
              </a:lnSpc>
              <a:spcBef>
                <a:spcPts val="596"/>
              </a:spcBef>
              <a:spcAft>
                <a:spcPts val="0"/>
              </a:spcAft>
              <a:buClrTx/>
              <a:buSzTx/>
              <a:buFontTx/>
              <a:buNone/>
              <a:tabLst/>
              <a:defRPr/>
            </a:pPr>
            <a:r>
              <a:rPr kumimoji="0" lang="en-US" sz="1500" b="0" i="0" u="none" strike="noStrike" kern="0" cap="none" spc="-30" normalizeH="0" baseline="0" noProof="0" dirty="0">
                <a:ln>
                  <a:noFill/>
                </a:ln>
                <a:effectLst/>
                <a:uLnTx/>
                <a:uFillTx/>
                <a:latin typeface="Inter" pitchFamily="34" charset="0"/>
                <a:ea typeface="Inter" pitchFamily="34" charset="-122"/>
                <a:cs typeface="Inter" pitchFamily="34" charset="-120"/>
              </a:rPr>
              <a:t>Position UNFPA as a thought leader in the ethical application of emerging technologies, sharing lessons and building capacities particularly in the Global South.</a:t>
            </a:r>
            <a:endParaRPr kumimoji="0" lang="en-US" sz="1800" b="0" i="0" u="none" strike="noStrike" kern="1200" cap="none" spc="0" normalizeH="0" baseline="0" noProof="0" dirty="0">
              <a:ln>
                <a:noFill/>
              </a:ln>
              <a:effectLst/>
              <a:uLnTx/>
              <a:uFillTx/>
              <a:latin typeface="Arial"/>
              <a:ea typeface="+mn-ea"/>
              <a:cs typeface="+mn-cs"/>
            </a:endParaRPr>
          </a:p>
        </p:txBody>
      </p:sp>
      <p:sp>
        <p:nvSpPr>
          <p:cNvPr id="11" name="Object 10"/>
          <p:cNvSpPr/>
          <p:nvPr/>
        </p:nvSpPr>
        <p:spPr>
          <a:xfrm>
            <a:off x="0" y="4875581"/>
            <a:ext cx="12188952" cy="1980705"/>
          </a:xfrm>
          <a:prstGeom prst="rect">
            <a:avLst/>
          </a:prstGeom>
          <a:solidFill>
            <a:srgbClr val="22AAEE"/>
          </a:solidFill>
        </p:spPr>
      </p:sp>
      <p:sp>
        <p:nvSpPr>
          <p:cNvPr id="12" name="Object 11"/>
          <p:cNvSpPr/>
          <p:nvPr/>
        </p:nvSpPr>
        <p:spPr>
          <a:xfrm>
            <a:off x="1894049" y="5198259"/>
            <a:ext cx="8400854" cy="1334357"/>
          </a:xfrm>
          <a:prstGeom prst="rect">
            <a:avLst/>
          </a:prstGeom>
          <a:noFill/>
        </p:spPr>
        <p:txBody>
          <a:bodyPr wrap="square" lIns="0" tIns="0" rIns="0" bIns="0" rtlCol="0" anchor="ctr"/>
          <a:lstStyle/>
          <a:p>
            <a:pPr marL="0" marR="0" lvl="0" indent="0" algn="ctr" defTabSz="914400" rtl="0" eaLnBrk="1" fontAlgn="auto" latinLnBrk="0" hangingPunct="1">
              <a:lnSpc>
                <a:spcPts val="2628"/>
              </a:lnSpc>
              <a:spcBef>
                <a:spcPts val="0"/>
              </a:spcBef>
              <a:spcAft>
                <a:spcPts val="0"/>
              </a:spcAft>
              <a:buClrTx/>
              <a:buSzTx/>
              <a:buFontTx/>
              <a:buNone/>
              <a:tabLst/>
              <a:defRPr/>
            </a:pPr>
            <a:r>
              <a:rPr kumimoji="0" lang="en-US" sz="2250" b="1" i="0" u="none" strike="noStrike" kern="0" cap="none" spc="-135" normalizeH="0" baseline="0" noProof="0" dirty="0">
                <a:ln>
                  <a:noFill/>
                </a:ln>
                <a:effectLst/>
                <a:uLnTx/>
                <a:uFillTx/>
                <a:latin typeface="Inter" pitchFamily="34" charset="0"/>
                <a:ea typeface="Inter" pitchFamily="34" charset="-122"/>
                <a:cs typeface="Inter" pitchFamily="34" charset="-120"/>
              </a:rPr>
              <a:t>By pursuing these dual goals, UNFPA aims to champion the responsible and transformative use of GenAI in the evaluation field, strengthening its own practices while influencing global norms and practices.</a:t>
            </a:r>
            <a:endParaRPr kumimoji="0" lang="en-US" sz="1800" b="0" i="0" u="none" strike="noStrike" kern="1200" cap="none" spc="0" normalizeH="0" baseline="0" noProof="0" dirty="0">
              <a:ln>
                <a:noFill/>
              </a:ln>
              <a:effectLst/>
              <a:uLnTx/>
              <a:uFillTx/>
              <a:latin typeface="Arial"/>
              <a:ea typeface="+mn-ea"/>
              <a:cs typeface="+mn-cs"/>
            </a:endParaRPr>
          </a:p>
        </p:txBody>
      </p:sp>
    </p:spTree>
    <p:extLst>
      <p:ext uri="{BB962C8B-B14F-4D97-AF65-F5344CB8AC3E}">
        <p14:creationId xmlns:p14="http://schemas.microsoft.com/office/powerpoint/2010/main" val="20764850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Object 1"/>
          <p:cNvSpPr/>
          <p:nvPr/>
        </p:nvSpPr>
        <p:spPr>
          <a:xfrm>
            <a:off x="0" y="379020"/>
            <a:ext cx="12188952" cy="556081"/>
          </a:xfrm>
          <a:prstGeom prst="rect">
            <a:avLst/>
          </a:prstGeom>
          <a:noFill/>
        </p:spPr>
        <p:txBody>
          <a:bodyPr wrap="square" lIns="0" tIns="0" rIns="0" bIns="0" rtlCol="0" anchor="t"/>
          <a:lstStyle/>
          <a:p>
            <a:pPr algn="ctr">
              <a:lnSpc>
                <a:spcPts val="4380"/>
              </a:lnSpc>
              <a:buNone/>
            </a:pPr>
            <a:r>
              <a:rPr lang="en-US" sz="3750" b="1" kern="0" spc="-225" dirty="0">
                <a:latin typeface="Inter" pitchFamily="34" charset="0"/>
                <a:ea typeface="Inter" pitchFamily="34" charset="-122"/>
                <a:cs typeface="Inter" pitchFamily="34" charset="-120"/>
              </a:rPr>
              <a:t>How AI Enhances Evaluation</a:t>
            </a:r>
            <a:endParaRPr lang="en-US" dirty="0"/>
          </a:p>
        </p:txBody>
      </p:sp>
      <p:sp>
        <p:nvSpPr>
          <p:cNvPr id="3" name="Object 2"/>
          <p:cNvSpPr/>
          <p:nvPr/>
        </p:nvSpPr>
        <p:spPr>
          <a:xfrm>
            <a:off x="476131" y="1590277"/>
            <a:ext cx="5523119" cy="2109260"/>
          </a:xfrm>
          <a:prstGeom prst="rect">
            <a:avLst/>
          </a:prstGeom>
          <a:solidFill>
            <a:srgbClr val="22AAEE"/>
          </a:solidFill>
        </p:spPr>
      </p:sp>
      <p:sp>
        <p:nvSpPr>
          <p:cNvPr id="4" name="Object 3"/>
          <p:cNvSpPr/>
          <p:nvPr/>
        </p:nvSpPr>
        <p:spPr>
          <a:xfrm>
            <a:off x="761810" y="1819911"/>
            <a:ext cx="5551687" cy="321388"/>
          </a:xfrm>
          <a:prstGeom prst="rect">
            <a:avLst/>
          </a:prstGeom>
          <a:noFill/>
        </p:spPr>
        <p:txBody>
          <a:bodyPr wrap="square" lIns="0" tIns="0" rIns="0" bIns="0" rtlCol="0" anchor="t"/>
          <a:lstStyle/>
          <a:p>
            <a:pPr algn="l">
              <a:lnSpc>
                <a:spcPts val="2532"/>
              </a:lnSpc>
              <a:buNone/>
            </a:pPr>
            <a:r>
              <a:rPr lang="en-US" sz="2167" b="1" kern="0" spc="-130" dirty="0">
                <a:solidFill>
                  <a:srgbClr val="333333"/>
                </a:solidFill>
                <a:latin typeface="Inter" pitchFamily="34" charset="0"/>
                <a:ea typeface="Inter" pitchFamily="34" charset="-122"/>
                <a:cs typeface="Inter" pitchFamily="34" charset="-120"/>
              </a:rPr>
              <a:t>Automates Evidence Synthesis</a:t>
            </a:r>
            <a:endParaRPr lang="en-US" dirty="0"/>
          </a:p>
        </p:txBody>
      </p:sp>
      <p:sp>
        <p:nvSpPr>
          <p:cNvPr id="5" name="Object 4"/>
          <p:cNvSpPr/>
          <p:nvPr/>
        </p:nvSpPr>
        <p:spPr>
          <a:xfrm>
            <a:off x="761811" y="2256265"/>
            <a:ext cx="4994556" cy="1122479"/>
          </a:xfrm>
          <a:prstGeom prst="rect">
            <a:avLst/>
          </a:prstGeom>
          <a:noFill/>
        </p:spPr>
        <p:txBody>
          <a:bodyPr wrap="square" lIns="0" tIns="0" rIns="0" bIns="0" rtlCol="0" anchor="t"/>
          <a:lstStyle/>
          <a:p>
            <a:pPr algn="l">
              <a:lnSpc>
                <a:spcPts val="2210"/>
              </a:lnSpc>
              <a:spcBef>
                <a:spcPts val="888"/>
              </a:spcBef>
              <a:buNone/>
            </a:pPr>
            <a:r>
              <a:rPr lang="en-US" sz="1594" kern="0" spc="-31" dirty="0">
                <a:solidFill>
                  <a:srgbClr val="000000">
                    <a:alpha val="56000"/>
                  </a:srgbClr>
                </a:solidFill>
                <a:latin typeface="Inter" pitchFamily="34" charset="0"/>
                <a:ea typeface="Inter" pitchFamily="34" charset="-122"/>
                <a:cs typeface="Inter" pitchFamily="34" charset="-120"/>
              </a:rPr>
              <a:t>GenAI tools can rapidly review and extract key insights from large volumes of evaluation data, reports, and literature, accelerating the synthesis of evaluation evidence.</a:t>
            </a:r>
            <a:endParaRPr lang="en-US" dirty="0"/>
          </a:p>
        </p:txBody>
      </p:sp>
      <p:sp>
        <p:nvSpPr>
          <p:cNvPr id="6" name="Object 5"/>
          <p:cNvSpPr/>
          <p:nvPr/>
        </p:nvSpPr>
        <p:spPr>
          <a:xfrm>
            <a:off x="6189702" y="1590277"/>
            <a:ext cx="5523119" cy="2109260"/>
          </a:xfrm>
          <a:prstGeom prst="rect">
            <a:avLst/>
          </a:prstGeom>
          <a:solidFill>
            <a:srgbClr val="FFD9AD"/>
          </a:solidFill>
        </p:spPr>
      </p:sp>
      <p:sp>
        <p:nvSpPr>
          <p:cNvPr id="7" name="Object 6"/>
          <p:cNvSpPr/>
          <p:nvPr/>
        </p:nvSpPr>
        <p:spPr>
          <a:xfrm>
            <a:off x="6475381" y="1819911"/>
            <a:ext cx="5551687" cy="321388"/>
          </a:xfrm>
          <a:prstGeom prst="rect">
            <a:avLst/>
          </a:prstGeom>
          <a:noFill/>
        </p:spPr>
        <p:txBody>
          <a:bodyPr wrap="square" lIns="0" tIns="0" rIns="0" bIns="0" rtlCol="0" anchor="t"/>
          <a:lstStyle/>
          <a:p>
            <a:pPr algn="l">
              <a:lnSpc>
                <a:spcPts val="2532"/>
              </a:lnSpc>
              <a:buNone/>
            </a:pPr>
            <a:r>
              <a:rPr lang="en-US" sz="2167" b="1" kern="0" spc="-130" dirty="0">
                <a:solidFill>
                  <a:srgbClr val="333333"/>
                </a:solidFill>
                <a:latin typeface="Inter" pitchFamily="34" charset="0"/>
                <a:ea typeface="Inter" pitchFamily="34" charset="-122"/>
                <a:cs typeface="Inter" pitchFamily="34" charset="-120"/>
              </a:rPr>
              <a:t>Supports Data Collection &amp; Analysis</a:t>
            </a:r>
            <a:endParaRPr lang="en-US" dirty="0"/>
          </a:p>
        </p:txBody>
      </p:sp>
      <p:sp>
        <p:nvSpPr>
          <p:cNvPr id="8" name="Object 7"/>
          <p:cNvSpPr/>
          <p:nvPr/>
        </p:nvSpPr>
        <p:spPr>
          <a:xfrm>
            <a:off x="6475382" y="2256265"/>
            <a:ext cx="5089602" cy="1122479"/>
          </a:xfrm>
          <a:prstGeom prst="rect">
            <a:avLst/>
          </a:prstGeom>
          <a:noFill/>
        </p:spPr>
        <p:txBody>
          <a:bodyPr wrap="square" lIns="0" tIns="0" rIns="0" bIns="0" rtlCol="0" anchor="t"/>
          <a:lstStyle/>
          <a:p>
            <a:pPr algn="l">
              <a:lnSpc>
                <a:spcPts val="2210"/>
              </a:lnSpc>
              <a:spcBef>
                <a:spcPts val="888"/>
              </a:spcBef>
              <a:buNone/>
            </a:pPr>
            <a:r>
              <a:rPr lang="en-US" sz="1594" kern="0" spc="-31" dirty="0">
                <a:solidFill>
                  <a:srgbClr val="000000">
                    <a:alpha val="56000"/>
                  </a:srgbClr>
                </a:solidFill>
                <a:latin typeface="Inter" pitchFamily="34" charset="0"/>
                <a:ea typeface="Inter" pitchFamily="34" charset="-122"/>
                <a:cs typeface="Inter" pitchFamily="34" charset="-120"/>
              </a:rPr>
              <a:t>GenAI chatbots can conduct interactive interviews, streamlining data collection from stakeholders. Advanced language models can automate coding and analysis of qualitative data, such as open-ended survey responses.</a:t>
            </a:r>
            <a:endParaRPr lang="en-US" dirty="0"/>
          </a:p>
        </p:txBody>
      </p:sp>
      <p:sp>
        <p:nvSpPr>
          <p:cNvPr id="9" name="Object 8"/>
          <p:cNvSpPr/>
          <p:nvPr/>
        </p:nvSpPr>
        <p:spPr>
          <a:xfrm>
            <a:off x="476131" y="3889990"/>
            <a:ext cx="5523119" cy="2109260"/>
          </a:xfrm>
          <a:prstGeom prst="rect">
            <a:avLst/>
          </a:prstGeom>
          <a:solidFill>
            <a:srgbClr val="FEC088"/>
          </a:solidFill>
        </p:spPr>
      </p:sp>
      <p:sp>
        <p:nvSpPr>
          <p:cNvPr id="10" name="Object 9"/>
          <p:cNvSpPr/>
          <p:nvPr/>
        </p:nvSpPr>
        <p:spPr>
          <a:xfrm>
            <a:off x="761810" y="4119624"/>
            <a:ext cx="5551687" cy="321388"/>
          </a:xfrm>
          <a:prstGeom prst="rect">
            <a:avLst/>
          </a:prstGeom>
          <a:noFill/>
        </p:spPr>
        <p:txBody>
          <a:bodyPr wrap="square" lIns="0" tIns="0" rIns="0" bIns="0" rtlCol="0" anchor="t"/>
          <a:lstStyle/>
          <a:p>
            <a:pPr algn="l">
              <a:lnSpc>
                <a:spcPts val="2532"/>
              </a:lnSpc>
              <a:buNone/>
            </a:pPr>
            <a:r>
              <a:rPr lang="en-US" sz="2167" b="1" kern="0" spc="-130" dirty="0">
                <a:solidFill>
                  <a:srgbClr val="333333"/>
                </a:solidFill>
                <a:latin typeface="Inter" pitchFamily="34" charset="0"/>
                <a:ea typeface="Inter" pitchFamily="34" charset="-122"/>
                <a:cs typeface="Inter" pitchFamily="34" charset="-120"/>
              </a:rPr>
              <a:t>Accelerates Report Generation</a:t>
            </a:r>
            <a:endParaRPr lang="en-US" dirty="0"/>
          </a:p>
        </p:txBody>
      </p:sp>
      <p:sp>
        <p:nvSpPr>
          <p:cNvPr id="11" name="Object 10"/>
          <p:cNvSpPr/>
          <p:nvPr/>
        </p:nvSpPr>
        <p:spPr>
          <a:xfrm>
            <a:off x="761811" y="4564687"/>
            <a:ext cx="4663630" cy="841859"/>
          </a:xfrm>
          <a:prstGeom prst="rect">
            <a:avLst/>
          </a:prstGeom>
          <a:noFill/>
        </p:spPr>
        <p:txBody>
          <a:bodyPr wrap="square" lIns="0" tIns="0" rIns="0" bIns="0" rtlCol="0" anchor="t"/>
          <a:lstStyle/>
          <a:p>
            <a:pPr algn="l">
              <a:lnSpc>
                <a:spcPts val="2210"/>
              </a:lnSpc>
              <a:spcBef>
                <a:spcPts val="888"/>
              </a:spcBef>
              <a:buNone/>
            </a:pPr>
            <a:r>
              <a:rPr lang="en-US" sz="1594" kern="0" spc="-31" dirty="0">
                <a:solidFill>
                  <a:srgbClr val="000000">
                    <a:alpha val="56000"/>
                  </a:srgbClr>
                </a:solidFill>
                <a:latin typeface="Inter" pitchFamily="34" charset="0"/>
                <a:ea typeface="Inter" pitchFamily="34" charset="-122"/>
                <a:cs typeface="Inter" pitchFamily="34" charset="-120"/>
              </a:rPr>
              <a:t>GenAI can draft initial evaluation report sections, such as the executive summary and recommendations, reducing the time and effort required for report writing.</a:t>
            </a:r>
            <a:endParaRPr lang="en-US" dirty="0"/>
          </a:p>
        </p:txBody>
      </p:sp>
      <p:sp>
        <p:nvSpPr>
          <p:cNvPr id="12" name="Object 11"/>
          <p:cNvSpPr/>
          <p:nvPr/>
        </p:nvSpPr>
        <p:spPr>
          <a:xfrm>
            <a:off x="6189702" y="3889990"/>
            <a:ext cx="5523119" cy="2109260"/>
          </a:xfrm>
          <a:prstGeom prst="rect">
            <a:avLst/>
          </a:prstGeom>
          <a:solidFill>
            <a:srgbClr val="FD864D"/>
          </a:solidFill>
        </p:spPr>
      </p:sp>
      <p:sp>
        <p:nvSpPr>
          <p:cNvPr id="13" name="Object 12"/>
          <p:cNvSpPr/>
          <p:nvPr/>
        </p:nvSpPr>
        <p:spPr>
          <a:xfrm>
            <a:off x="6475381" y="4119624"/>
            <a:ext cx="5551687" cy="321388"/>
          </a:xfrm>
          <a:prstGeom prst="rect">
            <a:avLst/>
          </a:prstGeom>
          <a:noFill/>
        </p:spPr>
        <p:txBody>
          <a:bodyPr wrap="square" lIns="0" tIns="0" rIns="0" bIns="0" rtlCol="0" anchor="t"/>
          <a:lstStyle/>
          <a:p>
            <a:pPr algn="l">
              <a:lnSpc>
                <a:spcPts val="2532"/>
              </a:lnSpc>
              <a:buNone/>
            </a:pPr>
            <a:r>
              <a:rPr lang="en-US" sz="2167" b="1" kern="0" spc="-130" dirty="0">
                <a:solidFill>
                  <a:srgbClr val="333333"/>
                </a:solidFill>
                <a:latin typeface="Inter" pitchFamily="34" charset="0"/>
                <a:ea typeface="Inter" pitchFamily="34" charset="-122"/>
                <a:cs typeface="Inter" pitchFamily="34" charset="-120"/>
              </a:rPr>
              <a:t>Enhances Evaluation Quality Assurance</a:t>
            </a:r>
            <a:endParaRPr lang="en-US" dirty="0"/>
          </a:p>
        </p:txBody>
      </p:sp>
      <p:sp>
        <p:nvSpPr>
          <p:cNvPr id="14" name="Object 13"/>
          <p:cNvSpPr/>
          <p:nvPr/>
        </p:nvSpPr>
        <p:spPr>
          <a:xfrm>
            <a:off x="6475382" y="4555978"/>
            <a:ext cx="5150562" cy="1122479"/>
          </a:xfrm>
          <a:prstGeom prst="rect">
            <a:avLst/>
          </a:prstGeom>
          <a:noFill/>
        </p:spPr>
        <p:txBody>
          <a:bodyPr wrap="square" lIns="0" tIns="0" rIns="0" bIns="0" rtlCol="0" anchor="t"/>
          <a:lstStyle/>
          <a:p>
            <a:pPr algn="l">
              <a:lnSpc>
                <a:spcPts val="2210"/>
              </a:lnSpc>
              <a:spcBef>
                <a:spcPts val="888"/>
              </a:spcBef>
              <a:buNone/>
            </a:pPr>
            <a:r>
              <a:rPr lang="en-US" sz="1594" kern="0" spc="-31" dirty="0">
                <a:solidFill>
                  <a:srgbClr val="000000">
                    <a:alpha val="56000"/>
                  </a:srgbClr>
                </a:solidFill>
                <a:latin typeface="Inter" pitchFamily="34" charset="0"/>
                <a:ea typeface="Inter" pitchFamily="34" charset="-122"/>
                <a:cs typeface="Inter" pitchFamily="34" charset="-120"/>
              </a:rPr>
              <a:t>GenAI tools can scan evaluation reports, identifying potential issues, biases, or gaps, enhancing the rigor and quality of evaluations, supplementing human review processes.</a:t>
            </a:r>
            <a:endParaRPr lang="en-US" dirty="0"/>
          </a:p>
        </p:txBody>
      </p:sp>
      <p:sp>
        <p:nvSpPr>
          <p:cNvPr id="15" name="Object 14"/>
          <p:cNvSpPr/>
          <p:nvPr/>
        </p:nvSpPr>
        <p:spPr>
          <a:xfrm>
            <a:off x="11855660" y="6497898"/>
            <a:ext cx="142839" cy="237669"/>
          </a:xfrm>
          <a:prstGeom prst="rect">
            <a:avLst/>
          </a:prstGeom>
          <a:noFill/>
        </p:spPr>
      </p:sp>
      <p:sp>
        <p:nvSpPr>
          <p:cNvPr id="25" name="Slide Number Placeholder 24"/>
          <p:cNvSpPr>
            <a:spLocks noGrp="1"/>
          </p:cNvSpPr>
          <p:nvPr>
            <p:ph type="sldNum" sz="quarter" idx="4294967295"/>
          </p:nvPr>
        </p:nvSpPr>
        <p:spPr>
          <a:xfrm>
            <a:off x="11826240" y="6515100"/>
            <a:ext cx="800000" cy="300000"/>
          </a:xfrm>
          <a:prstGeom prst="rect">
            <a:avLst/>
          </a:prstGeom>
          <a:extLst>
            <a:ext uri="{C572A759-6A51-4108-AA02-DFA0A04FC94B}">
              <ma14:wrappingTextBoxFlag xmlns="" xmlns:ma14="http://schemas.microsoft.com/office/mac/drawingml/2011/main" val="0"/>
            </a:ext>
          </a:extLst>
        </p:spPr>
        <p:txBody>
          <a:bodyPr/>
          <a:lstStyle>
            <a:lvl1pPr>
              <a:defRPr sz="1100"/>
            </a:lvl1pPr>
          </a:lstStyle>
          <a:p>
            <a:fld id="{F7021451-1387-4CA6-816F-3879F97B5CBC}" type="slidenum">
              <a:rPr lang="en-US" smtClean="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0" y="379020"/>
            <a:ext cx="12188952" cy="556081"/>
          </a:xfrm>
          <a:prstGeom prst="rect">
            <a:avLst/>
          </a:prstGeom>
          <a:noFill/>
        </p:spPr>
        <p:txBody>
          <a:bodyPr wrap="square" lIns="0" tIns="0" rIns="0" bIns="0" rtlCol="0" anchor="t"/>
          <a:lstStyle/>
          <a:p>
            <a:pPr marL="0" marR="0" lvl="0" indent="0" algn="ctr" defTabSz="914400" rtl="0" eaLnBrk="1" fontAlgn="auto" latinLnBrk="0" hangingPunct="1">
              <a:lnSpc>
                <a:spcPts val="4380"/>
              </a:lnSpc>
              <a:spcBef>
                <a:spcPts val="0"/>
              </a:spcBef>
              <a:spcAft>
                <a:spcPts val="0"/>
              </a:spcAft>
              <a:buClrTx/>
              <a:buSzTx/>
              <a:buFontTx/>
              <a:buNone/>
              <a:tabLst/>
              <a:defRPr/>
            </a:pPr>
            <a:r>
              <a:rPr kumimoji="0" lang="en-US" sz="3750" b="1" i="0" u="none" strike="noStrike" kern="0" cap="none" spc="-225" normalizeH="0" baseline="0" noProof="0" dirty="0">
                <a:ln>
                  <a:noFill/>
                </a:ln>
                <a:effectLst/>
                <a:uLnTx/>
                <a:uFillTx/>
                <a:latin typeface="Inter" pitchFamily="34" charset="0"/>
                <a:ea typeface="Inter" pitchFamily="34" charset="-122"/>
                <a:cs typeface="Inter" pitchFamily="34" charset="-120"/>
              </a:rPr>
              <a:t>Methodological Challenges</a:t>
            </a:r>
            <a:endParaRPr kumimoji="0" lang="en-US" sz="1800" b="0" i="0" u="none" strike="noStrike" kern="1200" cap="none" spc="0" normalizeH="0" baseline="0" noProof="0" dirty="0">
              <a:ln>
                <a:noFill/>
              </a:ln>
              <a:effectLst/>
              <a:uLnTx/>
              <a:uFillTx/>
              <a:latin typeface="Arial"/>
              <a:ea typeface="+mn-ea"/>
              <a:cs typeface="+mn-cs"/>
            </a:endParaRPr>
          </a:p>
        </p:txBody>
      </p:sp>
      <p:sp>
        <p:nvSpPr>
          <p:cNvPr id="3" name="Object 2"/>
          <p:cNvSpPr/>
          <p:nvPr/>
        </p:nvSpPr>
        <p:spPr>
          <a:xfrm>
            <a:off x="952262" y="1670228"/>
            <a:ext cx="5446938" cy="4248080"/>
          </a:xfrm>
          <a:prstGeom prst="rect">
            <a:avLst/>
          </a:prstGeom>
          <a:noFill/>
        </p:spPr>
        <p:txBody>
          <a:bodyPr wrap="square" lIns="0" tIns="0" rIns="0" bIns="0" rtlCol="0" anchor="t"/>
          <a:lstStyle/>
          <a:p>
            <a:pPr marL="242900" marR="0" lvl="0" indent="-242900" algn="l" defTabSz="914400" rtl="0" eaLnBrk="1" fontAlgn="auto" latinLnBrk="0" hangingPunct="1">
              <a:lnSpc>
                <a:spcPts val="2838"/>
              </a:lnSpc>
              <a:spcBef>
                <a:spcPts val="0"/>
              </a:spcBef>
              <a:spcAft>
                <a:spcPts val="0"/>
              </a:spcAft>
              <a:buClrTx/>
              <a:buSzPct val="100000"/>
              <a:buFontTx/>
              <a:buChar char="•"/>
              <a:tabLst/>
              <a:defRPr/>
            </a:pPr>
            <a:r>
              <a:rPr kumimoji="0" lang="en-US" sz="2430" b="1" i="0" u="none" strike="noStrike" kern="0" cap="none" spc="-145" normalizeH="0" baseline="0" noProof="0" dirty="0">
                <a:ln>
                  <a:noFill/>
                </a:ln>
                <a:effectLst/>
                <a:uLnTx/>
                <a:uFillTx/>
                <a:latin typeface="Inter" pitchFamily="34" charset="0"/>
                <a:ea typeface="Inter" pitchFamily="34" charset="-122"/>
                <a:cs typeface="Inter" pitchFamily="34" charset="-120"/>
              </a:rPr>
              <a:t>Matching diverse GenAI methods</a:t>
            </a:r>
          </a:p>
          <a:p>
            <a:pPr marL="457200" marR="0" lvl="1" indent="0" algn="l" defTabSz="914400" rtl="0" eaLnBrk="1" fontAlgn="auto" latinLnBrk="0" hangingPunct="1">
              <a:lnSpc>
                <a:spcPts val="2153"/>
              </a:lnSpc>
              <a:spcBef>
                <a:spcPts val="289"/>
              </a:spcBef>
              <a:spcAft>
                <a:spcPts val="0"/>
              </a:spcAft>
              <a:buClrTx/>
              <a:buSzTx/>
              <a:buFontTx/>
              <a:buNone/>
              <a:tabLst/>
              <a:defRPr/>
            </a:pPr>
            <a:r>
              <a:rPr kumimoji="0" lang="en-US" sz="1552" b="0" i="0" u="none" strike="noStrike" kern="0" cap="none" spc="-31" normalizeH="0" baseline="0" noProof="0" dirty="0">
                <a:ln>
                  <a:noFill/>
                </a:ln>
                <a:effectLst/>
                <a:uLnTx/>
                <a:uFillTx/>
                <a:latin typeface="Inter" pitchFamily="34" charset="0"/>
                <a:ea typeface="Inter" pitchFamily="34" charset="-122"/>
                <a:cs typeface="Inter" pitchFamily="34" charset="-120"/>
              </a:rPr>
              <a:t>Evaluating which GenAI techniques are most suitable for specific evaluation needs, such as qualitative analysis, data synthesis, or report generation.</a:t>
            </a:r>
          </a:p>
          <a:p>
            <a:pPr marL="242900" marR="0" lvl="0" indent="-242900" algn="l" defTabSz="914400" rtl="0" eaLnBrk="1" fontAlgn="auto" latinLnBrk="0" hangingPunct="1">
              <a:lnSpc>
                <a:spcPts val="2838"/>
              </a:lnSpc>
              <a:spcBef>
                <a:spcPts val="2299"/>
              </a:spcBef>
              <a:spcAft>
                <a:spcPts val="0"/>
              </a:spcAft>
              <a:buClrTx/>
              <a:buSzPct val="100000"/>
              <a:buFontTx/>
              <a:buChar char="•"/>
              <a:tabLst/>
              <a:defRPr/>
            </a:pPr>
            <a:r>
              <a:rPr kumimoji="0" lang="en-US" sz="2430" b="1" i="0" u="none" strike="noStrike" kern="0" cap="none" spc="-145" normalizeH="0" baseline="0" noProof="0" dirty="0">
                <a:ln>
                  <a:noFill/>
                </a:ln>
                <a:effectLst/>
                <a:uLnTx/>
                <a:uFillTx/>
                <a:latin typeface="Inter" pitchFamily="34" charset="0"/>
                <a:ea typeface="Inter" pitchFamily="34" charset="-122"/>
                <a:cs typeface="Inter" pitchFamily="34" charset="-120"/>
              </a:rPr>
              <a:t>Balancing speed gains</a:t>
            </a:r>
          </a:p>
          <a:p>
            <a:pPr marL="457200" marR="0" lvl="1" indent="0" algn="l" defTabSz="914400" rtl="0" eaLnBrk="1" fontAlgn="auto" latinLnBrk="0" hangingPunct="1">
              <a:lnSpc>
                <a:spcPts val="2153"/>
              </a:lnSpc>
              <a:spcBef>
                <a:spcPts val="289"/>
              </a:spcBef>
              <a:spcAft>
                <a:spcPts val="0"/>
              </a:spcAft>
              <a:buClrTx/>
              <a:buSzTx/>
              <a:buFontTx/>
              <a:buNone/>
              <a:tabLst/>
              <a:defRPr/>
            </a:pPr>
            <a:r>
              <a:rPr kumimoji="0" lang="en-US" sz="1552" b="0" i="0" u="none" strike="noStrike" kern="0" cap="none" spc="-31" normalizeH="0" baseline="0" noProof="0" dirty="0">
                <a:ln>
                  <a:noFill/>
                </a:ln>
                <a:effectLst/>
                <a:uLnTx/>
                <a:uFillTx/>
                <a:latin typeface="Inter" pitchFamily="34" charset="0"/>
                <a:ea typeface="Inter" pitchFamily="34" charset="-122"/>
                <a:cs typeface="Inter" pitchFamily="34" charset="-120"/>
              </a:rPr>
              <a:t>Ensuring that the efficiency and timeliness benefits of GenAI do not compromise the accuracy, credibility, and utility of evaluation outputs.</a:t>
            </a:r>
          </a:p>
          <a:p>
            <a:pPr marL="242900" marR="0" lvl="0" indent="-242900" algn="l" defTabSz="914400" rtl="0" eaLnBrk="1" fontAlgn="auto" latinLnBrk="0" hangingPunct="1">
              <a:lnSpc>
                <a:spcPts val="2838"/>
              </a:lnSpc>
              <a:spcBef>
                <a:spcPts val="2299"/>
              </a:spcBef>
              <a:spcAft>
                <a:spcPts val="0"/>
              </a:spcAft>
              <a:buClrTx/>
              <a:buSzPct val="100000"/>
              <a:buFontTx/>
              <a:buChar char="•"/>
              <a:tabLst/>
              <a:defRPr/>
            </a:pPr>
            <a:r>
              <a:rPr kumimoji="0" lang="en-US" sz="2430" b="1" i="0" u="none" strike="noStrike" kern="0" cap="none" spc="-145" normalizeH="0" baseline="0" noProof="0" dirty="0">
                <a:ln>
                  <a:noFill/>
                </a:ln>
                <a:effectLst/>
                <a:uLnTx/>
                <a:uFillTx/>
                <a:latin typeface="Inter" pitchFamily="34" charset="0"/>
                <a:ea typeface="Inter" pitchFamily="34" charset="-122"/>
                <a:cs typeface="Inter" pitchFamily="34" charset="-120"/>
              </a:rPr>
              <a:t>Ensuring explainability</a:t>
            </a:r>
          </a:p>
          <a:p>
            <a:pPr marL="457200" marR="0" lvl="1" indent="0" algn="l" defTabSz="914400" rtl="0" eaLnBrk="1" fontAlgn="auto" latinLnBrk="0" hangingPunct="1">
              <a:lnSpc>
                <a:spcPts val="2153"/>
              </a:lnSpc>
              <a:spcBef>
                <a:spcPts val="289"/>
              </a:spcBef>
              <a:spcAft>
                <a:spcPts val="0"/>
              </a:spcAft>
              <a:buClrTx/>
              <a:buSzTx/>
              <a:buFontTx/>
              <a:buNone/>
              <a:tabLst/>
              <a:defRPr/>
            </a:pPr>
            <a:r>
              <a:rPr kumimoji="0" lang="en-US" sz="1552" b="0" i="0" u="none" strike="noStrike" kern="0" cap="none" spc="-31" normalizeH="0" baseline="0" noProof="0" dirty="0">
                <a:ln>
                  <a:noFill/>
                </a:ln>
                <a:effectLst/>
                <a:uLnTx/>
                <a:uFillTx/>
                <a:latin typeface="Inter" pitchFamily="34" charset="0"/>
                <a:ea typeface="Inter" pitchFamily="34" charset="-122"/>
                <a:cs typeface="Inter" pitchFamily="34" charset="-120"/>
              </a:rPr>
              <a:t>Addressing the 'black box' nature of many GenAI models to ensure transparency and accountability of the evaluation process.</a:t>
            </a:r>
            <a:endParaRPr kumimoji="0" lang="en-US" sz="1800" b="0" i="0" u="none" strike="noStrike" kern="1200" cap="none" spc="0" normalizeH="0" baseline="0" noProof="0" dirty="0">
              <a:ln>
                <a:noFill/>
              </a:ln>
              <a:effectLst/>
              <a:uLnTx/>
              <a:uFillTx/>
              <a:latin typeface="Arial"/>
              <a:ea typeface="+mn-ea"/>
              <a:cs typeface="+mn-cs"/>
            </a:endParaRPr>
          </a:p>
        </p:txBody>
      </p:sp>
      <p:sp>
        <p:nvSpPr>
          <p:cNvPr id="4" name="Object 3"/>
          <p:cNvSpPr/>
          <p:nvPr/>
        </p:nvSpPr>
        <p:spPr>
          <a:xfrm>
            <a:off x="6284928" y="1670228"/>
            <a:ext cx="5446938" cy="2732793"/>
          </a:xfrm>
          <a:prstGeom prst="rect">
            <a:avLst/>
          </a:prstGeom>
          <a:noFill/>
        </p:spPr>
        <p:txBody>
          <a:bodyPr wrap="square" lIns="0" tIns="0" rIns="0" bIns="0" rtlCol="0" anchor="t"/>
          <a:lstStyle/>
          <a:p>
            <a:pPr marL="242900" marR="0" lvl="0" indent="-242900" algn="l" defTabSz="914400" rtl="0" eaLnBrk="1" fontAlgn="auto" latinLnBrk="0" hangingPunct="1">
              <a:lnSpc>
                <a:spcPts val="2838"/>
              </a:lnSpc>
              <a:spcBef>
                <a:spcPts val="0"/>
              </a:spcBef>
              <a:spcAft>
                <a:spcPts val="0"/>
              </a:spcAft>
              <a:buClrTx/>
              <a:buSzPct val="100000"/>
              <a:buFontTx/>
              <a:buChar char="•"/>
              <a:tabLst/>
              <a:defRPr/>
            </a:pPr>
            <a:r>
              <a:rPr kumimoji="0" lang="en-US" sz="2430" b="1" i="0" u="none" strike="noStrike" kern="0" cap="none" spc="-145" normalizeH="0" baseline="0" noProof="0" dirty="0">
                <a:ln>
                  <a:noFill/>
                </a:ln>
                <a:effectLst/>
                <a:uLnTx/>
                <a:uFillTx/>
                <a:latin typeface="Inter" pitchFamily="34" charset="0"/>
                <a:ea typeface="Inter" pitchFamily="34" charset="-122"/>
                <a:cs typeface="Inter" pitchFamily="34" charset="-120"/>
              </a:rPr>
              <a:t>Preventing automation bias</a:t>
            </a:r>
          </a:p>
          <a:p>
            <a:pPr marL="457200" marR="0" lvl="1" indent="0" algn="l" defTabSz="914400" rtl="0" eaLnBrk="1" fontAlgn="auto" latinLnBrk="0" hangingPunct="1">
              <a:lnSpc>
                <a:spcPts val="2153"/>
              </a:lnSpc>
              <a:spcBef>
                <a:spcPts val="289"/>
              </a:spcBef>
              <a:spcAft>
                <a:spcPts val="0"/>
              </a:spcAft>
              <a:buClrTx/>
              <a:buSzTx/>
              <a:buFontTx/>
              <a:buNone/>
              <a:tabLst/>
              <a:defRPr/>
            </a:pPr>
            <a:r>
              <a:rPr kumimoji="0" lang="en-US" sz="1552" b="0" i="0" u="none" strike="noStrike" kern="0" cap="none" spc="-31" normalizeH="0" baseline="0" noProof="0" dirty="0">
                <a:ln>
                  <a:noFill/>
                </a:ln>
                <a:effectLst/>
                <a:uLnTx/>
                <a:uFillTx/>
                <a:latin typeface="Inter" pitchFamily="34" charset="0"/>
                <a:ea typeface="Inter" pitchFamily="34" charset="-122"/>
                <a:cs typeface="Inter" pitchFamily="34" charset="-120"/>
              </a:rPr>
              <a:t>Strengthening data triangulation and human-in-the-loop checks to mitigate the risk of over-reliance on GenAI outputs.</a:t>
            </a:r>
          </a:p>
          <a:p>
            <a:pPr marL="242900" marR="0" lvl="0" indent="-242900" algn="l" defTabSz="914400" rtl="0" eaLnBrk="1" fontAlgn="auto" latinLnBrk="0" hangingPunct="1">
              <a:lnSpc>
                <a:spcPts val="2838"/>
              </a:lnSpc>
              <a:spcBef>
                <a:spcPts val="2299"/>
              </a:spcBef>
              <a:spcAft>
                <a:spcPts val="0"/>
              </a:spcAft>
              <a:buClrTx/>
              <a:buSzPct val="100000"/>
              <a:buFontTx/>
              <a:buChar char="•"/>
              <a:tabLst/>
              <a:defRPr/>
            </a:pPr>
            <a:r>
              <a:rPr kumimoji="0" lang="en-US" sz="2430" b="1" i="0" u="none" strike="noStrike" kern="0" cap="none" spc="-145" normalizeH="0" baseline="0" noProof="0" dirty="0">
                <a:ln>
                  <a:noFill/>
                </a:ln>
                <a:effectLst/>
                <a:uLnTx/>
                <a:uFillTx/>
                <a:latin typeface="Inter" pitchFamily="34" charset="0"/>
                <a:ea typeface="Inter" pitchFamily="34" charset="-122"/>
                <a:cs typeface="Inter" pitchFamily="34" charset="-120"/>
              </a:rPr>
              <a:t>Identifying and eliminating biases</a:t>
            </a:r>
          </a:p>
          <a:p>
            <a:pPr marL="457200" marR="0" lvl="1" indent="0" algn="l" defTabSz="914400" rtl="0" eaLnBrk="1" fontAlgn="auto" latinLnBrk="0" hangingPunct="1">
              <a:lnSpc>
                <a:spcPts val="2153"/>
              </a:lnSpc>
              <a:spcBef>
                <a:spcPts val="289"/>
              </a:spcBef>
              <a:spcAft>
                <a:spcPts val="0"/>
              </a:spcAft>
              <a:buClrTx/>
              <a:buSzTx/>
              <a:buFontTx/>
              <a:buNone/>
              <a:tabLst/>
              <a:defRPr/>
            </a:pPr>
            <a:r>
              <a:rPr kumimoji="0" lang="en-US" sz="1552" b="0" i="0" u="none" strike="noStrike" kern="0" cap="none" spc="-31" normalizeH="0" baseline="0" noProof="0" dirty="0">
                <a:ln>
                  <a:noFill/>
                </a:ln>
                <a:effectLst/>
                <a:uLnTx/>
                <a:uFillTx/>
                <a:latin typeface="Inter" pitchFamily="34" charset="0"/>
                <a:ea typeface="Inter" pitchFamily="34" charset="-122"/>
                <a:cs typeface="Inter" pitchFamily="34" charset="-120"/>
              </a:rPr>
              <a:t>Proactively detecting and addressing any biases or inequities introduced by the underlying data or GenAI algorithms used in the evaluation.</a:t>
            </a:r>
            <a:endParaRPr kumimoji="0" lang="en-US" sz="1800" b="0" i="0" u="none" strike="noStrike" kern="1200" cap="none" spc="0" normalizeH="0" baseline="0" noProof="0" dirty="0">
              <a:ln>
                <a:noFill/>
              </a:ln>
              <a:effectLst/>
              <a:uLnTx/>
              <a:uFillTx/>
              <a:latin typeface="Arial"/>
              <a:ea typeface="+mn-ea"/>
              <a:cs typeface="+mn-cs"/>
            </a:endParaRPr>
          </a:p>
        </p:txBody>
      </p:sp>
      <p:sp>
        <p:nvSpPr>
          <p:cNvPr id="5" name="Object 4"/>
          <p:cNvSpPr/>
          <p:nvPr/>
        </p:nvSpPr>
        <p:spPr>
          <a:xfrm>
            <a:off x="11798525" y="6497898"/>
            <a:ext cx="199975" cy="237669"/>
          </a:xfrm>
          <a:prstGeom prst="rect">
            <a:avLst/>
          </a:prstGeom>
          <a:noFill/>
        </p:spPr>
      </p:sp>
      <p:sp>
        <p:nvSpPr>
          <p:cNvPr id="25" name="Slide Number Placeholder 24"/>
          <p:cNvSpPr>
            <a:spLocks noGrp="1"/>
          </p:cNvSpPr>
          <p:nvPr>
            <p:ph type="sldNum" sz="quarter" idx="4294967295"/>
          </p:nvPr>
        </p:nvSpPr>
        <p:spPr>
          <a:xfrm>
            <a:off x="11826240" y="6515100"/>
            <a:ext cx="800000" cy="300000"/>
          </a:xfrm>
          <a:prstGeom prst="rect">
            <a:avLst/>
          </a:prstGeom>
          <a:extLst>
            <a:ext uri="{C572A759-6A51-4108-AA02-DFA0A04FC94B}">
              <ma14:wrappingTextBoxFlag xmlns="" xmlns:ma14="http://schemas.microsoft.com/office/mac/drawingml/2011/main" val="0"/>
            </a:ext>
          </a:extLst>
        </p:spPr>
        <p:txBody>
          <a:bodyPr/>
          <a:lstStyle>
            <a:lvl1pPr>
              <a:defRPr sz="1100"/>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100" b="0" i="0" u="none" strike="noStrike" kern="1200" cap="none" spc="0" normalizeH="0" baseline="0" noProof="0" smtClean="0">
                <a:ln>
                  <a:noFill/>
                </a:ln>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a:t>
            </a:fld>
            <a:endParaRPr kumimoji="0" lang="en-US" sz="1100" b="0" i="0" u="none" strike="noStrike" kern="1200" cap="none" spc="0" normalizeH="0" baseline="0" noProof="0">
              <a:ln>
                <a:noFill/>
              </a:ln>
              <a:effectLst/>
              <a:uLnTx/>
              <a:uFillTx/>
              <a:latin typeface="Arial"/>
              <a:ea typeface="+mn-ea"/>
              <a:cs typeface="+mn-cs"/>
            </a:endParaRPr>
          </a:p>
        </p:txBody>
      </p:sp>
    </p:spTree>
    <p:extLst>
      <p:ext uri="{BB962C8B-B14F-4D97-AF65-F5344CB8AC3E}">
        <p14:creationId xmlns:p14="http://schemas.microsoft.com/office/powerpoint/2010/main" val="39884392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0" y="379020"/>
            <a:ext cx="12188952" cy="556081"/>
          </a:xfrm>
          <a:prstGeom prst="rect">
            <a:avLst/>
          </a:prstGeom>
          <a:noFill/>
        </p:spPr>
        <p:txBody>
          <a:bodyPr wrap="square" lIns="0" tIns="0" rIns="0" bIns="0" rtlCol="0" anchor="t"/>
          <a:lstStyle/>
          <a:p>
            <a:pPr marL="0" marR="0" lvl="0" indent="0" algn="ctr" defTabSz="914400" rtl="0" eaLnBrk="1" fontAlgn="auto" latinLnBrk="0" hangingPunct="1">
              <a:lnSpc>
                <a:spcPts val="4380"/>
              </a:lnSpc>
              <a:spcBef>
                <a:spcPts val="0"/>
              </a:spcBef>
              <a:spcAft>
                <a:spcPts val="0"/>
              </a:spcAft>
              <a:buClrTx/>
              <a:buSzTx/>
              <a:buFontTx/>
              <a:buNone/>
              <a:tabLst/>
              <a:defRPr/>
            </a:pPr>
            <a:r>
              <a:rPr kumimoji="0" lang="en-US" sz="3750" b="1" i="0" u="none" strike="noStrike" kern="0" cap="none" spc="-225" normalizeH="0" baseline="0" noProof="0" dirty="0">
                <a:ln>
                  <a:noFill/>
                </a:ln>
                <a:solidFill>
                  <a:srgbClr val="333333"/>
                </a:solidFill>
                <a:effectLst/>
                <a:uLnTx/>
                <a:uFillTx/>
                <a:ea typeface="Inter" pitchFamily="34" charset="-122"/>
                <a:cs typeface="Inter" pitchFamily="34" charset="-120"/>
              </a:rPr>
              <a:t>Ethical &amp; Organizational Risks</a:t>
            </a:r>
            <a:endParaRPr kumimoji="0" lang="en-US" sz="1800" b="0" i="0" u="none" strike="noStrike" kern="1200" cap="none" spc="0" normalizeH="0" baseline="0" noProof="0" dirty="0">
              <a:ln>
                <a:noFill/>
              </a:ln>
              <a:solidFill>
                <a:prstClr val="black"/>
              </a:solidFill>
              <a:effectLst/>
              <a:uLnTx/>
              <a:uFillTx/>
              <a:ea typeface="+mn-ea"/>
              <a:cs typeface="+mn-cs"/>
            </a:endParaRPr>
          </a:p>
        </p:txBody>
      </p:sp>
      <p:sp>
        <p:nvSpPr>
          <p:cNvPr id="3" name="Object 2"/>
          <p:cNvSpPr/>
          <p:nvPr/>
        </p:nvSpPr>
        <p:spPr>
          <a:xfrm>
            <a:off x="952262" y="1535621"/>
            <a:ext cx="5446938" cy="4517987"/>
          </a:xfrm>
          <a:prstGeom prst="rect">
            <a:avLst/>
          </a:prstGeom>
          <a:noFill/>
        </p:spPr>
        <p:txBody>
          <a:bodyPr wrap="square" lIns="0" tIns="0" rIns="0" bIns="0" rtlCol="0" anchor="t"/>
          <a:lstStyle/>
          <a:p>
            <a:pPr marL="242900" marR="0" lvl="0" indent="-242900" algn="l" defTabSz="914400" rtl="0" eaLnBrk="1" fontAlgn="auto" latinLnBrk="0" hangingPunct="1">
              <a:lnSpc>
                <a:spcPts val="2681"/>
              </a:lnSpc>
              <a:spcBef>
                <a:spcPts val="0"/>
              </a:spcBef>
              <a:spcAft>
                <a:spcPts val="0"/>
              </a:spcAft>
              <a:buClrTx/>
              <a:buSzPct val="100000"/>
              <a:buFontTx/>
              <a:buChar char="•"/>
              <a:tabLst/>
              <a:defRPr/>
            </a:pPr>
            <a:r>
              <a:rPr kumimoji="0" lang="en-US" sz="2295" b="1" i="0" u="none" strike="noStrike" kern="0" cap="none" spc="-138" normalizeH="0" baseline="0" noProof="0" dirty="0">
                <a:ln>
                  <a:noFill/>
                </a:ln>
                <a:solidFill>
                  <a:srgbClr val="333333"/>
                </a:solidFill>
                <a:effectLst/>
                <a:uLnTx/>
                <a:uFillTx/>
                <a:ea typeface="Inter" pitchFamily="34" charset="-122"/>
                <a:cs typeface="Inter" pitchFamily="34" charset="-120"/>
              </a:rPr>
              <a:t>Avoid extractive AI; align with human rights and environmental care</a:t>
            </a:r>
          </a:p>
          <a:p>
            <a:pPr marL="457200" marR="0" lvl="1" indent="0" algn="l" defTabSz="914400" rtl="0" eaLnBrk="1" fontAlgn="auto" latinLnBrk="0" hangingPunct="1">
              <a:lnSpc>
                <a:spcPts val="2034"/>
              </a:lnSpc>
              <a:spcBef>
                <a:spcPts val="273"/>
              </a:spcBef>
              <a:spcAft>
                <a:spcPts val="0"/>
              </a:spcAft>
              <a:buClrTx/>
              <a:buSzTx/>
              <a:buFontTx/>
              <a:buNone/>
              <a:tabLst/>
              <a:defRPr/>
            </a:pPr>
            <a:r>
              <a:rPr kumimoji="0" lang="en-US" sz="1466" b="0" i="0" u="none" strike="noStrike" kern="0" cap="none" spc="-29" normalizeH="0" baseline="0" noProof="0" dirty="0">
                <a:ln>
                  <a:noFill/>
                </a:ln>
                <a:solidFill>
                  <a:srgbClr val="000000">
                    <a:alpha val="56000"/>
                  </a:srgbClr>
                </a:solidFill>
                <a:effectLst/>
                <a:uLnTx/>
                <a:uFillTx/>
                <a:ea typeface="Inter" pitchFamily="34" charset="-122"/>
                <a:cs typeface="Inter" pitchFamily="34" charset="-120"/>
              </a:rPr>
              <a:t>Ensure AI systems are not exploitative and respect human rights and environmental sustainability.</a:t>
            </a:r>
          </a:p>
          <a:p>
            <a:pPr marL="242900" marR="0" lvl="0" indent="-242900" algn="l" defTabSz="914400" rtl="0" eaLnBrk="1" fontAlgn="auto" latinLnBrk="0" hangingPunct="1">
              <a:lnSpc>
                <a:spcPts val="2681"/>
              </a:lnSpc>
              <a:spcBef>
                <a:spcPts val="2171"/>
              </a:spcBef>
              <a:spcAft>
                <a:spcPts val="0"/>
              </a:spcAft>
              <a:buClrTx/>
              <a:buSzPct val="100000"/>
              <a:buFontTx/>
              <a:buChar char="•"/>
              <a:tabLst/>
              <a:defRPr/>
            </a:pPr>
            <a:r>
              <a:rPr kumimoji="0" lang="en-US" sz="2295" b="1" i="0" u="none" strike="noStrike" kern="0" cap="none" spc="-138" normalizeH="0" baseline="0" noProof="0" dirty="0">
                <a:ln>
                  <a:noFill/>
                </a:ln>
                <a:solidFill>
                  <a:srgbClr val="333333"/>
                </a:solidFill>
                <a:effectLst/>
                <a:uLnTx/>
                <a:uFillTx/>
                <a:ea typeface="Inter" pitchFamily="34" charset="-122"/>
                <a:cs typeface="Inter" pitchFamily="34" charset="-120"/>
              </a:rPr>
              <a:t>Guard against algorithmic discrimination and unfair outcomes</a:t>
            </a:r>
          </a:p>
          <a:p>
            <a:pPr marL="457200" marR="0" lvl="1" indent="0" algn="l" defTabSz="914400" rtl="0" eaLnBrk="1" fontAlgn="auto" latinLnBrk="0" hangingPunct="1">
              <a:lnSpc>
                <a:spcPts val="2034"/>
              </a:lnSpc>
              <a:spcBef>
                <a:spcPts val="273"/>
              </a:spcBef>
              <a:spcAft>
                <a:spcPts val="0"/>
              </a:spcAft>
              <a:buClrTx/>
              <a:buSzTx/>
              <a:buFontTx/>
              <a:buNone/>
              <a:tabLst/>
              <a:defRPr/>
            </a:pPr>
            <a:r>
              <a:rPr kumimoji="0" lang="en-US" sz="1466" b="0" i="0" u="none" strike="noStrike" kern="0" cap="none" spc="-29" normalizeH="0" baseline="0" noProof="0" dirty="0">
                <a:ln>
                  <a:noFill/>
                </a:ln>
                <a:solidFill>
                  <a:srgbClr val="000000">
                    <a:alpha val="56000"/>
                  </a:srgbClr>
                </a:solidFill>
                <a:effectLst/>
                <a:uLnTx/>
                <a:uFillTx/>
                <a:ea typeface="Inter" pitchFamily="34" charset="-122"/>
                <a:cs typeface="Inter" pitchFamily="34" charset="-120"/>
              </a:rPr>
              <a:t>Implement robust bias testing and mitigation strategies to prevent AI-driven biases and unfair treatment.</a:t>
            </a:r>
          </a:p>
          <a:p>
            <a:pPr marL="242900" marR="0" lvl="0" indent="-242900" algn="l" defTabSz="914400" rtl="0" eaLnBrk="1" fontAlgn="auto" latinLnBrk="0" hangingPunct="1">
              <a:lnSpc>
                <a:spcPts val="2681"/>
              </a:lnSpc>
              <a:spcBef>
                <a:spcPts val="2171"/>
              </a:spcBef>
              <a:spcAft>
                <a:spcPts val="0"/>
              </a:spcAft>
              <a:buClrTx/>
              <a:buSzPct val="100000"/>
              <a:buFontTx/>
              <a:buChar char="•"/>
              <a:tabLst/>
              <a:defRPr/>
            </a:pPr>
            <a:r>
              <a:rPr kumimoji="0" lang="en-US" sz="2295" b="1" i="0" u="none" strike="noStrike" kern="0" cap="none" spc="-138" normalizeH="0" baseline="0" noProof="0" dirty="0">
                <a:ln>
                  <a:noFill/>
                </a:ln>
                <a:solidFill>
                  <a:srgbClr val="333333"/>
                </a:solidFill>
                <a:effectLst/>
                <a:uLnTx/>
                <a:uFillTx/>
                <a:ea typeface="Inter" pitchFamily="34" charset="-122"/>
                <a:cs typeface="Inter" pitchFamily="34" charset="-120"/>
              </a:rPr>
              <a:t>Protect data privacy, copyright, and IP in cloud environments</a:t>
            </a:r>
          </a:p>
          <a:p>
            <a:pPr marL="457200" marR="0" lvl="1" indent="0" algn="l" defTabSz="914400" rtl="0" eaLnBrk="1" fontAlgn="auto" latinLnBrk="0" hangingPunct="1">
              <a:lnSpc>
                <a:spcPts val="2034"/>
              </a:lnSpc>
              <a:spcBef>
                <a:spcPts val="273"/>
              </a:spcBef>
              <a:spcAft>
                <a:spcPts val="0"/>
              </a:spcAft>
              <a:buClrTx/>
              <a:buSzTx/>
              <a:buFontTx/>
              <a:buNone/>
              <a:tabLst/>
              <a:defRPr/>
            </a:pPr>
            <a:r>
              <a:rPr kumimoji="0" lang="en-US" sz="1466" b="0" i="0" u="none" strike="noStrike" kern="0" cap="none" spc="-29" normalizeH="0" baseline="0" noProof="0" dirty="0">
                <a:ln>
                  <a:noFill/>
                </a:ln>
                <a:solidFill>
                  <a:srgbClr val="000000">
                    <a:alpha val="56000"/>
                  </a:srgbClr>
                </a:solidFill>
                <a:effectLst/>
                <a:uLnTx/>
                <a:uFillTx/>
                <a:ea typeface="Inter" pitchFamily="34" charset="-122"/>
                <a:cs typeface="Inter" pitchFamily="34" charset="-120"/>
              </a:rPr>
              <a:t>Implement strong data governance and security measures to safeguard sensitive information and intellectual property.</a:t>
            </a:r>
            <a:endParaRPr kumimoji="0" lang="en-US" sz="1800" b="0" i="0" u="none" strike="noStrike" kern="1200" cap="none" spc="0" normalizeH="0" baseline="0" noProof="0" dirty="0">
              <a:ln>
                <a:noFill/>
              </a:ln>
              <a:solidFill>
                <a:prstClr val="black"/>
              </a:solidFill>
              <a:effectLst/>
              <a:uLnTx/>
              <a:uFillTx/>
              <a:ea typeface="+mn-ea"/>
              <a:cs typeface="+mn-cs"/>
            </a:endParaRPr>
          </a:p>
        </p:txBody>
      </p:sp>
      <p:sp>
        <p:nvSpPr>
          <p:cNvPr id="4" name="Object 3"/>
          <p:cNvSpPr/>
          <p:nvPr/>
        </p:nvSpPr>
        <p:spPr>
          <a:xfrm>
            <a:off x="6284928" y="1535621"/>
            <a:ext cx="5446938" cy="4517987"/>
          </a:xfrm>
          <a:prstGeom prst="rect">
            <a:avLst/>
          </a:prstGeom>
          <a:noFill/>
        </p:spPr>
        <p:txBody>
          <a:bodyPr wrap="square" lIns="0" tIns="0" rIns="0" bIns="0" rtlCol="0" anchor="t"/>
          <a:lstStyle/>
          <a:p>
            <a:pPr marL="242900" marR="0" lvl="0" indent="-242900" algn="l" defTabSz="914400" rtl="0" eaLnBrk="1" fontAlgn="auto" latinLnBrk="0" hangingPunct="1">
              <a:lnSpc>
                <a:spcPts val="2681"/>
              </a:lnSpc>
              <a:spcBef>
                <a:spcPts val="0"/>
              </a:spcBef>
              <a:spcAft>
                <a:spcPts val="0"/>
              </a:spcAft>
              <a:buClrTx/>
              <a:buSzPct val="100000"/>
              <a:buFontTx/>
              <a:buChar char="•"/>
              <a:tabLst/>
              <a:defRPr/>
            </a:pPr>
            <a:r>
              <a:rPr kumimoji="0" lang="en-US" sz="2295" b="1" i="0" u="none" strike="noStrike" kern="0" cap="none" spc="-138" normalizeH="0" baseline="0" noProof="0" dirty="0">
                <a:ln>
                  <a:noFill/>
                </a:ln>
                <a:solidFill>
                  <a:srgbClr val="333333"/>
                </a:solidFill>
                <a:effectLst/>
                <a:uLnTx/>
                <a:uFillTx/>
                <a:ea typeface="Inter" pitchFamily="34" charset="-122"/>
                <a:cs typeface="Inter" pitchFamily="34" charset="-120"/>
              </a:rPr>
              <a:t>Retain human accountability for all AI outputs</a:t>
            </a:r>
          </a:p>
          <a:p>
            <a:pPr marL="457200" marR="0" lvl="1" indent="0" algn="l" defTabSz="914400" rtl="0" eaLnBrk="1" fontAlgn="auto" latinLnBrk="0" hangingPunct="1">
              <a:lnSpc>
                <a:spcPts val="2034"/>
              </a:lnSpc>
              <a:spcBef>
                <a:spcPts val="273"/>
              </a:spcBef>
              <a:spcAft>
                <a:spcPts val="0"/>
              </a:spcAft>
              <a:buClrTx/>
              <a:buSzTx/>
              <a:buFontTx/>
              <a:buNone/>
              <a:tabLst/>
              <a:defRPr/>
            </a:pPr>
            <a:r>
              <a:rPr kumimoji="0" lang="en-US" sz="1466" b="0" i="0" u="none" strike="noStrike" kern="0" cap="none" spc="-29" normalizeH="0" baseline="0" noProof="0" dirty="0">
                <a:ln>
                  <a:noFill/>
                </a:ln>
                <a:solidFill>
                  <a:srgbClr val="000000">
                    <a:alpha val="56000"/>
                  </a:srgbClr>
                </a:solidFill>
                <a:effectLst/>
                <a:uLnTx/>
                <a:uFillTx/>
                <a:ea typeface="Inter" pitchFamily="34" charset="-122"/>
                <a:cs typeface="Inter" pitchFamily="34" charset="-120"/>
              </a:rPr>
              <a:t>Maintain transparency and human oversight to ensure accountability for decisions and actions driven by AI.</a:t>
            </a:r>
          </a:p>
          <a:p>
            <a:pPr marL="242900" marR="0" lvl="0" indent="-242900" algn="l" defTabSz="914400" rtl="0" eaLnBrk="1" fontAlgn="auto" latinLnBrk="0" hangingPunct="1">
              <a:lnSpc>
                <a:spcPts val="2681"/>
              </a:lnSpc>
              <a:spcBef>
                <a:spcPts val="2171"/>
              </a:spcBef>
              <a:spcAft>
                <a:spcPts val="0"/>
              </a:spcAft>
              <a:buClrTx/>
              <a:buSzPct val="100000"/>
              <a:buFontTx/>
              <a:buChar char="•"/>
              <a:tabLst/>
              <a:defRPr/>
            </a:pPr>
            <a:r>
              <a:rPr kumimoji="0" lang="en-US" sz="2295" b="1" i="0" u="none" strike="noStrike" kern="0" cap="none" spc="-138" normalizeH="0" baseline="0" noProof="0" dirty="0">
                <a:ln>
                  <a:noFill/>
                </a:ln>
                <a:solidFill>
                  <a:srgbClr val="333333"/>
                </a:solidFill>
                <a:effectLst/>
                <a:uLnTx/>
                <a:uFillTx/>
                <a:ea typeface="Inter" pitchFamily="34" charset="-122"/>
                <a:cs typeface="Inter" pitchFamily="34" charset="-120"/>
              </a:rPr>
              <a:t>Prevent erosion of evaluators' critical thinking</a:t>
            </a:r>
          </a:p>
          <a:p>
            <a:pPr marL="457200" marR="0" lvl="1" indent="0" algn="l" defTabSz="914400" rtl="0" eaLnBrk="1" fontAlgn="auto" latinLnBrk="0" hangingPunct="1">
              <a:lnSpc>
                <a:spcPts val="2034"/>
              </a:lnSpc>
              <a:spcBef>
                <a:spcPts val="273"/>
              </a:spcBef>
              <a:spcAft>
                <a:spcPts val="0"/>
              </a:spcAft>
              <a:buClrTx/>
              <a:buSzTx/>
              <a:buFontTx/>
              <a:buNone/>
              <a:tabLst/>
              <a:defRPr/>
            </a:pPr>
            <a:r>
              <a:rPr kumimoji="0" lang="en-US" sz="1466" b="0" i="0" u="none" strike="noStrike" kern="0" cap="none" spc="-29" normalizeH="0" baseline="0" noProof="0" dirty="0">
                <a:ln>
                  <a:noFill/>
                </a:ln>
                <a:solidFill>
                  <a:srgbClr val="000000">
                    <a:alpha val="56000"/>
                  </a:srgbClr>
                </a:solidFill>
                <a:effectLst/>
                <a:uLnTx/>
                <a:uFillTx/>
                <a:ea typeface="Inter" pitchFamily="34" charset="-122"/>
                <a:cs typeface="Inter" pitchFamily="34" charset="-120"/>
              </a:rPr>
              <a:t>Ensure AI augments and empowers evaluators, not replaces their analytical and creative abilities.</a:t>
            </a:r>
          </a:p>
          <a:p>
            <a:pPr marL="242900" marR="0" lvl="0" indent="-242900" algn="l" defTabSz="914400" rtl="0" eaLnBrk="1" fontAlgn="auto" latinLnBrk="0" hangingPunct="1">
              <a:lnSpc>
                <a:spcPts val="2681"/>
              </a:lnSpc>
              <a:spcBef>
                <a:spcPts val="2171"/>
              </a:spcBef>
              <a:spcAft>
                <a:spcPts val="0"/>
              </a:spcAft>
              <a:buClrTx/>
              <a:buSzPct val="100000"/>
              <a:buFontTx/>
              <a:buChar char="•"/>
              <a:tabLst/>
              <a:defRPr/>
            </a:pPr>
            <a:r>
              <a:rPr kumimoji="0" lang="en-US" sz="2295" b="1" i="0" u="none" strike="noStrike" kern="0" cap="none" spc="-138" normalizeH="0" baseline="0" noProof="0" dirty="0">
                <a:ln>
                  <a:noFill/>
                </a:ln>
                <a:solidFill>
                  <a:srgbClr val="333333"/>
                </a:solidFill>
                <a:effectLst/>
                <a:uLnTx/>
                <a:uFillTx/>
                <a:ea typeface="Inter" pitchFamily="34" charset="-122"/>
                <a:cs typeface="Inter" pitchFamily="34" charset="-120"/>
              </a:rPr>
              <a:t>Manage change: capacity gaps, resistance, inter-agency coordination</a:t>
            </a:r>
          </a:p>
          <a:p>
            <a:pPr marL="457200" marR="0" lvl="1" indent="0" algn="l" defTabSz="914400" rtl="0" eaLnBrk="1" fontAlgn="auto" latinLnBrk="0" hangingPunct="1">
              <a:lnSpc>
                <a:spcPts val="2034"/>
              </a:lnSpc>
              <a:spcBef>
                <a:spcPts val="273"/>
              </a:spcBef>
              <a:spcAft>
                <a:spcPts val="0"/>
              </a:spcAft>
              <a:buClrTx/>
              <a:buSzTx/>
              <a:buFontTx/>
              <a:buNone/>
              <a:tabLst/>
              <a:defRPr/>
            </a:pPr>
            <a:r>
              <a:rPr kumimoji="0" lang="en-US" sz="1466" b="0" i="0" u="none" strike="noStrike" kern="0" cap="none" spc="-29" normalizeH="0" baseline="0" noProof="0" dirty="0">
                <a:ln>
                  <a:noFill/>
                </a:ln>
                <a:solidFill>
                  <a:srgbClr val="000000">
                    <a:alpha val="56000"/>
                  </a:srgbClr>
                </a:solidFill>
                <a:effectLst/>
                <a:uLnTx/>
                <a:uFillTx/>
                <a:ea typeface="Inter" pitchFamily="34" charset="-122"/>
                <a:cs typeface="Inter" pitchFamily="34" charset="-120"/>
              </a:rPr>
              <a:t>Address organizational and cultural challenges, including skills gaps, change management, and cross-agency collaboration.</a:t>
            </a:r>
            <a:endParaRPr kumimoji="0" lang="en-US" sz="1800" b="0" i="0" u="none" strike="noStrike" kern="1200" cap="none" spc="0" normalizeH="0" baseline="0" noProof="0" dirty="0">
              <a:ln>
                <a:noFill/>
              </a:ln>
              <a:solidFill>
                <a:prstClr val="black"/>
              </a:solidFill>
              <a:effectLst/>
              <a:uLnTx/>
              <a:uFillTx/>
              <a:ea typeface="+mn-ea"/>
              <a:cs typeface="+mn-cs"/>
            </a:endParaRPr>
          </a:p>
        </p:txBody>
      </p:sp>
      <p:sp>
        <p:nvSpPr>
          <p:cNvPr id="5" name="Object 4"/>
          <p:cNvSpPr/>
          <p:nvPr/>
        </p:nvSpPr>
        <p:spPr>
          <a:xfrm>
            <a:off x="11836615" y="6497898"/>
            <a:ext cx="161885" cy="237669"/>
          </a:xfrm>
          <a:prstGeom prst="rect">
            <a:avLst/>
          </a:prstGeom>
          <a:noFill/>
        </p:spPr>
      </p:sp>
      <p:sp>
        <p:nvSpPr>
          <p:cNvPr id="25" name="Slide Number Placeholder 24"/>
          <p:cNvSpPr>
            <a:spLocks noGrp="1"/>
          </p:cNvSpPr>
          <p:nvPr>
            <p:ph type="sldNum" sz="quarter" idx="4294967295"/>
          </p:nvPr>
        </p:nvSpPr>
        <p:spPr>
          <a:xfrm>
            <a:off x="11826240" y="6515100"/>
            <a:ext cx="800000" cy="300000"/>
          </a:xfrm>
          <a:prstGeom prst="rect">
            <a:avLst/>
          </a:prstGeom>
          <a:extLst>
            <a:ext uri="{C572A759-6A51-4108-AA02-DFA0A04FC94B}">
              <ma14:wrappingTextBoxFlag xmlns="" xmlns:ma14="http://schemas.microsoft.com/office/mac/drawingml/2011/main" val="0"/>
            </a:ext>
          </a:extLst>
        </p:spPr>
        <p:txBody>
          <a:bodyPr/>
          <a:lstStyle>
            <a:lvl1pPr>
              <a:defRPr sz="1100"/>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100" b="0" i="0" u="none" strike="noStrike" kern="1200" cap="none" spc="0" normalizeH="0" baseline="0" noProof="0" smtClean="0">
                <a:ln>
                  <a:noFill/>
                </a:ln>
                <a:solidFill>
                  <a:prstClr val="black"/>
                </a:solidFill>
                <a:effectLst/>
                <a:uLnTx/>
                <a:uFillTx/>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a:t>
            </a:fld>
            <a:endParaRPr kumimoji="0" lang="en-US" sz="1100" b="0" i="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18817742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0" y="379020"/>
            <a:ext cx="12188952" cy="556081"/>
          </a:xfrm>
          <a:prstGeom prst="rect">
            <a:avLst/>
          </a:prstGeom>
          <a:noFill/>
        </p:spPr>
        <p:txBody>
          <a:bodyPr wrap="square" lIns="0" tIns="0" rIns="0" bIns="0" rtlCol="0" anchor="t"/>
          <a:lstStyle/>
          <a:p>
            <a:pPr marL="0" marR="0" lvl="0" indent="0" algn="ctr" defTabSz="914400" rtl="0" eaLnBrk="1" fontAlgn="auto" latinLnBrk="0" hangingPunct="1">
              <a:lnSpc>
                <a:spcPts val="4380"/>
              </a:lnSpc>
              <a:spcBef>
                <a:spcPts val="0"/>
              </a:spcBef>
              <a:spcAft>
                <a:spcPts val="0"/>
              </a:spcAft>
              <a:buClrTx/>
              <a:buSzTx/>
              <a:buFontTx/>
              <a:buNone/>
              <a:tabLst/>
              <a:defRPr/>
            </a:pPr>
            <a:r>
              <a:rPr kumimoji="0" lang="en-US" sz="3750" b="1" i="0" u="none" strike="noStrike" kern="0" cap="none" spc="-225" normalizeH="0" baseline="0" noProof="0" dirty="0">
                <a:ln>
                  <a:noFill/>
                </a:ln>
                <a:effectLst/>
                <a:uLnTx/>
                <a:uFillTx/>
                <a:latin typeface="+mj-lt"/>
                <a:ea typeface="Inter" pitchFamily="34" charset="-122"/>
                <a:cs typeface="Inter" pitchFamily="34" charset="-120"/>
              </a:rPr>
              <a:t>Principles for GenAI Evaluation</a:t>
            </a:r>
            <a:endParaRPr kumimoji="0" lang="en-US" sz="1800" b="0" i="0" u="none" strike="noStrike" kern="1200" cap="none" spc="0" normalizeH="0" baseline="0" noProof="0" dirty="0">
              <a:ln>
                <a:noFill/>
              </a:ln>
              <a:effectLst/>
              <a:uLnTx/>
              <a:uFillTx/>
              <a:latin typeface="+mj-lt"/>
              <a:ea typeface="+mn-ea"/>
              <a:cs typeface="+mn-cs"/>
            </a:endParaRPr>
          </a:p>
        </p:txBody>
      </p:sp>
      <p:sp>
        <p:nvSpPr>
          <p:cNvPr id="3" name="Object 2"/>
          <p:cNvSpPr/>
          <p:nvPr/>
        </p:nvSpPr>
        <p:spPr>
          <a:xfrm>
            <a:off x="952262" y="1587004"/>
            <a:ext cx="5446938" cy="4113672"/>
          </a:xfrm>
          <a:prstGeom prst="rect">
            <a:avLst/>
          </a:prstGeom>
          <a:noFill/>
        </p:spPr>
        <p:txBody>
          <a:bodyPr wrap="square" lIns="0" tIns="0" rIns="0" bIns="0" rtlCol="0" anchor="t"/>
          <a:lstStyle/>
          <a:p>
            <a:pPr marL="242900" marR="0" lvl="0" indent="-242900" algn="l" defTabSz="914400" rtl="0" eaLnBrk="1" fontAlgn="auto" latinLnBrk="0" hangingPunct="1">
              <a:lnSpc>
                <a:spcPts val="3154"/>
              </a:lnSpc>
              <a:spcBef>
                <a:spcPts val="0"/>
              </a:spcBef>
              <a:spcAft>
                <a:spcPts val="0"/>
              </a:spcAft>
              <a:buClrTx/>
              <a:buSzPct val="100000"/>
              <a:buFontTx/>
              <a:buChar char="•"/>
              <a:tabLst/>
              <a:defRPr/>
            </a:pPr>
            <a:r>
              <a:rPr kumimoji="0" lang="en-US" sz="2700" b="1" i="0" u="none" strike="noStrike" kern="0" cap="none" spc="-162" normalizeH="0" baseline="0" noProof="0" dirty="0">
                <a:ln>
                  <a:noFill/>
                </a:ln>
                <a:effectLst/>
                <a:uLnTx/>
                <a:uFillTx/>
                <a:latin typeface="+mj-lt"/>
                <a:ea typeface="Inter" pitchFamily="34" charset="-122"/>
                <a:cs typeface="Inter" pitchFamily="34" charset="-120"/>
              </a:rPr>
              <a:t>Demand-driven</a:t>
            </a:r>
          </a:p>
          <a:p>
            <a:pPr marL="457200" marR="0" lvl="1" indent="0" algn="l" defTabSz="914400" rtl="0" eaLnBrk="1" fontAlgn="auto" latinLnBrk="0" hangingPunct="1">
              <a:lnSpc>
                <a:spcPts val="2392"/>
              </a:lnSpc>
              <a:spcBef>
                <a:spcPts val="321"/>
              </a:spcBef>
              <a:spcAft>
                <a:spcPts val="0"/>
              </a:spcAft>
              <a:buClrTx/>
              <a:buSzTx/>
              <a:buFontTx/>
              <a:buNone/>
              <a:tabLst/>
              <a:defRPr/>
            </a:pPr>
            <a:r>
              <a:rPr kumimoji="0" lang="en-US" sz="1725" b="0" i="0" u="none" strike="noStrike" kern="0" cap="none" spc="-34" normalizeH="0" baseline="0" noProof="0" dirty="0">
                <a:ln>
                  <a:noFill/>
                </a:ln>
                <a:effectLst/>
                <a:uLnTx/>
                <a:uFillTx/>
                <a:latin typeface="+mj-lt"/>
                <a:ea typeface="Inter" pitchFamily="34" charset="-122"/>
                <a:cs typeface="Inter" pitchFamily="34" charset="-120"/>
              </a:rPr>
              <a:t>Only use GenAI when it adds real value to the evaluation process.</a:t>
            </a:r>
          </a:p>
          <a:p>
            <a:pPr marL="242900" marR="0" lvl="0" indent="-242900" algn="l" defTabSz="914400" rtl="0" eaLnBrk="1" fontAlgn="auto" latinLnBrk="0" hangingPunct="1">
              <a:lnSpc>
                <a:spcPts val="3154"/>
              </a:lnSpc>
              <a:spcBef>
                <a:spcPts val="2555"/>
              </a:spcBef>
              <a:spcAft>
                <a:spcPts val="0"/>
              </a:spcAft>
              <a:buClrTx/>
              <a:buSzPct val="100000"/>
              <a:buFontTx/>
              <a:buChar char="•"/>
              <a:tabLst/>
              <a:defRPr/>
            </a:pPr>
            <a:r>
              <a:rPr kumimoji="0" lang="en-US" sz="2700" b="1" i="0" u="none" strike="noStrike" kern="0" cap="none" spc="-162" normalizeH="0" baseline="0" noProof="0" dirty="0">
                <a:ln>
                  <a:noFill/>
                </a:ln>
                <a:effectLst/>
                <a:uLnTx/>
                <a:uFillTx/>
                <a:latin typeface="+mj-lt"/>
                <a:ea typeface="Inter" pitchFamily="34" charset="-122"/>
                <a:cs typeface="Inter" pitchFamily="34" charset="-120"/>
              </a:rPr>
              <a:t>Diversification</a:t>
            </a:r>
          </a:p>
          <a:p>
            <a:pPr marL="457200" marR="0" lvl="1" indent="0" algn="l" defTabSz="914400" rtl="0" eaLnBrk="1" fontAlgn="auto" latinLnBrk="0" hangingPunct="1">
              <a:lnSpc>
                <a:spcPts val="2392"/>
              </a:lnSpc>
              <a:spcBef>
                <a:spcPts val="321"/>
              </a:spcBef>
              <a:spcAft>
                <a:spcPts val="0"/>
              </a:spcAft>
              <a:buClrTx/>
              <a:buSzTx/>
              <a:buFontTx/>
              <a:buNone/>
              <a:tabLst/>
              <a:defRPr/>
            </a:pPr>
            <a:r>
              <a:rPr kumimoji="0" lang="en-US" sz="1725" b="0" i="0" u="none" strike="noStrike" kern="0" cap="none" spc="-34" normalizeH="0" baseline="0" noProof="0" dirty="0">
                <a:ln>
                  <a:noFill/>
                </a:ln>
                <a:effectLst/>
                <a:uLnTx/>
                <a:uFillTx/>
                <a:latin typeface="+mj-lt"/>
                <a:ea typeface="Inter" pitchFamily="34" charset="-122"/>
                <a:cs typeface="Inter" pitchFamily="34" charset="-120"/>
              </a:rPr>
              <a:t>Continuously explore and integrate new GenAI tools to enhance evaluation effectiveness.</a:t>
            </a:r>
          </a:p>
          <a:p>
            <a:pPr marL="242900" marR="0" lvl="0" indent="-242900" algn="l" defTabSz="914400" rtl="0" eaLnBrk="1" fontAlgn="auto" latinLnBrk="0" hangingPunct="1">
              <a:lnSpc>
                <a:spcPts val="3154"/>
              </a:lnSpc>
              <a:spcBef>
                <a:spcPts val="2555"/>
              </a:spcBef>
              <a:spcAft>
                <a:spcPts val="0"/>
              </a:spcAft>
              <a:buClrTx/>
              <a:buSzPct val="100000"/>
              <a:buFontTx/>
              <a:buChar char="•"/>
              <a:tabLst/>
              <a:defRPr/>
            </a:pPr>
            <a:r>
              <a:rPr kumimoji="0" lang="en-US" sz="2700" b="1" i="0" u="none" strike="noStrike" kern="0" cap="none" spc="-162" normalizeH="0" baseline="0" noProof="0" dirty="0">
                <a:ln>
                  <a:noFill/>
                </a:ln>
                <a:effectLst/>
                <a:uLnTx/>
                <a:uFillTx/>
                <a:latin typeface="+mj-lt"/>
                <a:ea typeface="Inter" pitchFamily="34" charset="-122"/>
                <a:cs typeface="Inter" pitchFamily="34" charset="-120"/>
              </a:rPr>
              <a:t>Quality &amp; Credibility</a:t>
            </a:r>
          </a:p>
          <a:p>
            <a:pPr marL="457200" marR="0" lvl="1" indent="0" algn="l" defTabSz="914400" rtl="0" eaLnBrk="1" fontAlgn="auto" latinLnBrk="0" hangingPunct="1">
              <a:lnSpc>
                <a:spcPts val="2392"/>
              </a:lnSpc>
              <a:spcBef>
                <a:spcPts val="321"/>
              </a:spcBef>
              <a:spcAft>
                <a:spcPts val="0"/>
              </a:spcAft>
              <a:buClrTx/>
              <a:buSzTx/>
              <a:buFontTx/>
              <a:buNone/>
              <a:tabLst/>
              <a:defRPr/>
            </a:pPr>
            <a:r>
              <a:rPr kumimoji="0" lang="en-US" sz="1725" b="0" i="0" u="none" strike="noStrike" kern="0" cap="none" spc="-34" normalizeH="0" baseline="0" noProof="0" dirty="0">
                <a:ln>
                  <a:noFill/>
                </a:ln>
                <a:effectLst/>
                <a:uLnTx/>
                <a:uFillTx/>
                <a:latin typeface="+mj-lt"/>
                <a:ea typeface="Inter" pitchFamily="34" charset="-122"/>
                <a:cs typeface="Inter" pitchFamily="34" charset="-120"/>
              </a:rPr>
              <a:t>Ensure rigorous, transparent AI-assisted analysis to maintain the credibility of evaluation outcomes.</a:t>
            </a:r>
            <a:endParaRPr kumimoji="0" lang="en-US" sz="1800" b="0" i="0" u="none" strike="noStrike" kern="1200" cap="none" spc="0" normalizeH="0" baseline="0" noProof="0" dirty="0">
              <a:ln>
                <a:noFill/>
              </a:ln>
              <a:effectLst/>
              <a:uLnTx/>
              <a:uFillTx/>
              <a:latin typeface="+mj-lt"/>
              <a:ea typeface="+mn-ea"/>
              <a:cs typeface="+mn-cs"/>
            </a:endParaRPr>
          </a:p>
        </p:txBody>
      </p:sp>
      <p:sp>
        <p:nvSpPr>
          <p:cNvPr id="4" name="Object 3"/>
          <p:cNvSpPr/>
          <p:nvPr/>
        </p:nvSpPr>
        <p:spPr>
          <a:xfrm>
            <a:off x="6284928" y="1587004"/>
            <a:ext cx="5446938" cy="4417404"/>
          </a:xfrm>
          <a:prstGeom prst="rect">
            <a:avLst/>
          </a:prstGeom>
          <a:noFill/>
        </p:spPr>
        <p:txBody>
          <a:bodyPr wrap="square" lIns="0" tIns="0" rIns="0" bIns="0" rtlCol="0" anchor="t"/>
          <a:lstStyle/>
          <a:p>
            <a:pPr marL="242900" marR="0" lvl="0" indent="-242900" algn="l" defTabSz="914400" rtl="0" eaLnBrk="1" fontAlgn="auto" latinLnBrk="0" hangingPunct="1">
              <a:lnSpc>
                <a:spcPts val="3154"/>
              </a:lnSpc>
              <a:spcBef>
                <a:spcPts val="0"/>
              </a:spcBef>
              <a:spcAft>
                <a:spcPts val="0"/>
              </a:spcAft>
              <a:buClrTx/>
              <a:buSzPct val="100000"/>
              <a:buFontTx/>
              <a:buChar char="•"/>
              <a:tabLst/>
              <a:defRPr/>
            </a:pPr>
            <a:r>
              <a:rPr kumimoji="0" lang="en-US" sz="2700" b="1" i="0" u="none" strike="noStrike" kern="0" cap="none" spc="-162" normalizeH="0" baseline="0" noProof="0" dirty="0">
                <a:ln>
                  <a:noFill/>
                </a:ln>
                <a:effectLst/>
                <a:uLnTx/>
                <a:uFillTx/>
                <a:latin typeface="+mj-lt"/>
                <a:ea typeface="Inter" pitchFamily="34" charset="-122"/>
                <a:cs typeface="Inter" pitchFamily="34" charset="-120"/>
              </a:rPr>
              <a:t>Utility</a:t>
            </a:r>
          </a:p>
          <a:p>
            <a:pPr marL="457200" marR="0" lvl="1" indent="0" algn="l" defTabSz="914400" rtl="0" eaLnBrk="1" fontAlgn="auto" latinLnBrk="0" hangingPunct="1">
              <a:lnSpc>
                <a:spcPts val="2392"/>
              </a:lnSpc>
              <a:spcBef>
                <a:spcPts val="321"/>
              </a:spcBef>
              <a:spcAft>
                <a:spcPts val="0"/>
              </a:spcAft>
              <a:buClrTx/>
              <a:buSzTx/>
              <a:buFontTx/>
              <a:buNone/>
              <a:tabLst/>
              <a:defRPr/>
            </a:pPr>
            <a:r>
              <a:rPr kumimoji="0" lang="en-US" sz="1725" b="0" i="0" u="none" strike="noStrike" kern="0" cap="none" spc="-34" normalizeH="0" baseline="0" noProof="0" dirty="0">
                <a:ln>
                  <a:noFill/>
                </a:ln>
                <a:effectLst/>
                <a:uLnTx/>
                <a:uFillTx/>
                <a:latin typeface="+mj-lt"/>
                <a:ea typeface="Inter" pitchFamily="34" charset="-122"/>
                <a:cs typeface="Inter" pitchFamily="34" charset="-120"/>
              </a:rPr>
              <a:t>Deliver timely, relevant, and accessible evaluation insights through GenAI-powered tools.</a:t>
            </a:r>
          </a:p>
          <a:p>
            <a:pPr marL="242900" marR="0" lvl="0" indent="-242900" algn="l" defTabSz="914400" rtl="0" eaLnBrk="1" fontAlgn="auto" latinLnBrk="0" hangingPunct="1">
              <a:lnSpc>
                <a:spcPts val="3154"/>
              </a:lnSpc>
              <a:spcBef>
                <a:spcPts val="2555"/>
              </a:spcBef>
              <a:spcAft>
                <a:spcPts val="0"/>
              </a:spcAft>
              <a:buClrTx/>
              <a:buSzPct val="100000"/>
              <a:buFontTx/>
              <a:buChar char="•"/>
              <a:tabLst/>
              <a:defRPr/>
            </a:pPr>
            <a:r>
              <a:rPr kumimoji="0" lang="en-US" sz="2700" b="1" i="0" u="none" strike="noStrike" kern="0" cap="none" spc="-162" normalizeH="0" baseline="0" noProof="0" dirty="0">
                <a:ln>
                  <a:noFill/>
                </a:ln>
                <a:effectLst/>
                <a:uLnTx/>
                <a:uFillTx/>
                <a:latin typeface="+mj-lt"/>
                <a:ea typeface="Inter" pitchFamily="34" charset="-122"/>
                <a:cs typeface="Inter" pitchFamily="34" charset="-120"/>
              </a:rPr>
              <a:t>Human-rights based</a:t>
            </a:r>
          </a:p>
          <a:p>
            <a:pPr marL="457200" marR="0" lvl="1" indent="0" algn="l" defTabSz="914400" rtl="0" eaLnBrk="1" fontAlgn="auto" latinLnBrk="0" hangingPunct="1">
              <a:lnSpc>
                <a:spcPts val="2392"/>
              </a:lnSpc>
              <a:spcBef>
                <a:spcPts val="321"/>
              </a:spcBef>
              <a:spcAft>
                <a:spcPts val="0"/>
              </a:spcAft>
              <a:buClrTx/>
              <a:buSzTx/>
              <a:buFontTx/>
              <a:buNone/>
              <a:tabLst/>
              <a:defRPr/>
            </a:pPr>
            <a:r>
              <a:rPr kumimoji="0" lang="en-US" sz="1725" b="0" i="0" u="none" strike="noStrike" kern="0" cap="none" spc="-34" normalizeH="0" baseline="0" noProof="0" dirty="0">
                <a:ln>
                  <a:noFill/>
                </a:ln>
                <a:effectLst/>
                <a:uLnTx/>
                <a:uFillTx/>
                <a:latin typeface="+mj-lt"/>
                <a:ea typeface="Inter" pitchFamily="34" charset="-122"/>
                <a:cs typeface="Inter" pitchFamily="34" charset="-120"/>
              </a:rPr>
              <a:t>Leverage GenAI in a manner that upholds human rights principles and leaves no one behind.</a:t>
            </a:r>
          </a:p>
          <a:p>
            <a:pPr marL="242900" marR="0" lvl="0" indent="-242900" algn="l" defTabSz="914400" rtl="0" eaLnBrk="1" fontAlgn="auto" latinLnBrk="0" hangingPunct="1">
              <a:lnSpc>
                <a:spcPts val="3154"/>
              </a:lnSpc>
              <a:spcBef>
                <a:spcPts val="2555"/>
              </a:spcBef>
              <a:spcAft>
                <a:spcPts val="0"/>
              </a:spcAft>
              <a:buClrTx/>
              <a:buSzPct val="100000"/>
              <a:buFontTx/>
              <a:buChar char="•"/>
              <a:tabLst/>
              <a:defRPr/>
            </a:pPr>
            <a:r>
              <a:rPr kumimoji="0" lang="en-US" sz="2700" b="1" i="0" u="none" strike="noStrike" kern="0" cap="none" spc="-162" normalizeH="0" baseline="0" noProof="0" dirty="0">
                <a:ln>
                  <a:noFill/>
                </a:ln>
                <a:effectLst/>
                <a:uLnTx/>
                <a:uFillTx/>
                <a:latin typeface="+mj-lt"/>
                <a:ea typeface="Inter" pitchFamily="34" charset="-122"/>
                <a:cs typeface="Inter" pitchFamily="34" charset="-120"/>
              </a:rPr>
              <a:t>Capacity building</a:t>
            </a:r>
          </a:p>
          <a:p>
            <a:pPr marL="457200" marR="0" lvl="1" indent="0" algn="l" defTabSz="914400" rtl="0" eaLnBrk="1" fontAlgn="auto" latinLnBrk="0" hangingPunct="1">
              <a:lnSpc>
                <a:spcPts val="2392"/>
              </a:lnSpc>
              <a:spcBef>
                <a:spcPts val="321"/>
              </a:spcBef>
              <a:spcAft>
                <a:spcPts val="0"/>
              </a:spcAft>
              <a:buClrTx/>
              <a:buSzTx/>
              <a:buFontTx/>
              <a:buNone/>
              <a:tabLst/>
              <a:defRPr/>
            </a:pPr>
            <a:r>
              <a:rPr kumimoji="0" lang="en-US" sz="1725" b="0" i="0" u="none" strike="noStrike" kern="0" cap="none" spc="-34" normalizeH="0" baseline="0" noProof="0" dirty="0">
                <a:ln>
                  <a:noFill/>
                </a:ln>
                <a:effectLst/>
                <a:uLnTx/>
                <a:uFillTx/>
                <a:latin typeface="+mj-lt"/>
                <a:ea typeface="Inter" pitchFamily="34" charset="-122"/>
                <a:cs typeface="Inter" pitchFamily="34" charset="-120"/>
              </a:rPr>
              <a:t>Empower evaluation stakeholders to effectively utilize GenAI technologies and solutions.</a:t>
            </a:r>
            <a:endParaRPr kumimoji="0" lang="en-US" sz="1800" b="0" i="0" u="none" strike="noStrike" kern="1200" cap="none" spc="0" normalizeH="0" baseline="0" noProof="0" dirty="0">
              <a:ln>
                <a:noFill/>
              </a:ln>
              <a:effectLst/>
              <a:uLnTx/>
              <a:uFillTx/>
              <a:latin typeface="+mj-lt"/>
              <a:ea typeface="+mn-ea"/>
              <a:cs typeface="+mn-cs"/>
            </a:endParaRPr>
          </a:p>
        </p:txBody>
      </p:sp>
      <p:sp>
        <p:nvSpPr>
          <p:cNvPr id="5" name="Object 4"/>
          <p:cNvSpPr/>
          <p:nvPr/>
        </p:nvSpPr>
        <p:spPr>
          <a:xfrm>
            <a:off x="11798525" y="6497898"/>
            <a:ext cx="199975" cy="237669"/>
          </a:xfrm>
          <a:prstGeom prst="rect">
            <a:avLst/>
          </a:prstGeom>
          <a:noFill/>
        </p:spPr>
      </p:sp>
      <p:sp>
        <p:nvSpPr>
          <p:cNvPr id="25" name="Slide Number Placeholder 24"/>
          <p:cNvSpPr>
            <a:spLocks noGrp="1"/>
          </p:cNvSpPr>
          <p:nvPr>
            <p:ph type="sldNum" sz="quarter" idx="4294967295"/>
          </p:nvPr>
        </p:nvSpPr>
        <p:spPr>
          <a:xfrm>
            <a:off x="11826240" y="6515100"/>
            <a:ext cx="800000" cy="300000"/>
          </a:xfrm>
          <a:prstGeom prst="rect">
            <a:avLst/>
          </a:prstGeom>
          <a:extLst>
            <a:ext uri="{C572A759-6A51-4108-AA02-DFA0A04FC94B}">
              <ma14:wrappingTextBoxFlag xmlns="" xmlns:ma14="http://schemas.microsoft.com/office/mac/drawingml/2011/main" val="0"/>
            </a:ext>
          </a:extLst>
        </p:spPr>
        <p:txBody>
          <a:bodyPr/>
          <a:lstStyle>
            <a:lvl1pPr>
              <a:defRPr sz="1100"/>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100" b="0" i="0" u="none" strike="noStrike" kern="1200" cap="none" spc="0" normalizeH="0" baseline="0" noProof="0" smtClean="0">
                <a:ln>
                  <a:noFill/>
                </a:ln>
                <a:effectLst/>
                <a:uLnTx/>
                <a:uFillTx/>
                <a:latin typeface="+mj-l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a:t>
            </a:fld>
            <a:endParaRPr kumimoji="0" lang="en-US" sz="1100" b="0" i="0" u="none" strike="noStrike" kern="1200" cap="none" spc="0" normalizeH="0" baseline="0" noProof="0">
              <a:ln>
                <a:noFill/>
              </a:ln>
              <a:effectLst/>
              <a:uLnTx/>
              <a:uFillTx/>
              <a:latin typeface="+mj-lt"/>
              <a:ea typeface="+mn-ea"/>
              <a:cs typeface="+mn-cs"/>
            </a:endParaRPr>
          </a:p>
        </p:txBody>
      </p:sp>
    </p:spTree>
    <p:extLst>
      <p:ext uri="{BB962C8B-B14F-4D97-AF65-F5344CB8AC3E}">
        <p14:creationId xmlns:p14="http://schemas.microsoft.com/office/powerpoint/2010/main" val="288660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Object 1"/>
          <p:cNvSpPr/>
          <p:nvPr/>
        </p:nvSpPr>
        <p:spPr>
          <a:xfrm>
            <a:off x="0" y="379020"/>
            <a:ext cx="12188952" cy="556081"/>
          </a:xfrm>
          <a:prstGeom prst="rect">
            <a:avLst/>
          </a:prstGeom>
          <a:noFill/>
        </p:spPr>
        <p:txBody>
          <a:bodyPr wrap="square" lIns="0" tIns="0" rIns="0" bIns="0" rtlCol="0" anchor="t"/>
          <a:lstStyle/>
          <a:p>
            <a:pPr algn="ctr">
              <a:lnSpc>
                <a:spcPts val="4380"/>
              </a:lnSpc>
              <a:buNone/>
            </a:pPr>
            <a:r>
              <a:rPr lang="en-US" sz="3750" b="1" kern="0" spc="-225" dirty="0">
                <a:ea typeface="Inter" pitchFamily="34" charset="-122"/>
                <a:cs typeface="Inter" pitchFamily="34" charset="-120"/>
              </a:rPr>
              <a:t>Ethical &amp; Organizational Risks</a:t>
            </a:r>
            <a:endParaRPr lang="en-US" dirty="0"/>
          </a:p>
        </p:txBody>
      </p:sp>
      <p:sp>
        <p:nvSpPr>
          <p:cNvPr id="3" name="Object 2"/>
          <p:cNvSpPr/>
          <p:nvPr/>
        </p:nvSpPr>
        <p:spPr>
          <a:xfrm>
            <a:off x="476131" y="1590277"/>
            <a:ext cx="11236690" cy="4389927"/>
          </a:xfrm>
          <a:prstGeom prst="rect">
            <a:avLst/>
          </a:prstGeom>
          <a:solidFill>
            <a:srgbClr val="000000">
              <a:alpha val="0"/>
            </a:srgbClr>
          </a:solidFill>
        </p:spPr>
      </p:sp>
      <p:pic>
        <p:nvPicPr>
          <p:cNvPr id="4" name="Object 3"/>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76131" y="1590278"/>
            <a:ext cx="11255735" cy="4399450"/>
          </a:xfrm>
          <a:prstGeom prst="rect">
            <a:avLst/>
          </a:prstGeom>
        </p:spPr>
      </p:pic>
      <p:pic>
        <p:nvPicPr>
          <p:cNvPr id="5" name="Object 4"/>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76131" y="1590278"/>
            <a:ext cx="11236690" cy="4389927"/>
          </a:xfrm>
          <a:prstGeom prst="rect">
            <a:avLst/>
          </a:prstGeom>
        </p:spPr>
      </p:pic>
      <p:sp>
        <p:nvSpPr>
          <p:cNvPr id="6" name="Object 5"/>
          <p:cNvSpPr/>
          <p:nvPr/>
        </p:nvSpPr>
        <p:spPr>
          <a:xfrm>
            <a:off x="476131" y="1590277"/>
            <a:ext cx="5618345" cy="572599"/>
          </a:xfrm>
          <a:prstGeom prst="rect">
            <a:avLst/>
          </a:prstGeom>
          <a:noFill/>
        </p:spPr>
        <p:txBody>
          <a:bodyPr wrap="square" rtlCol="0" anchor="ctr">
            <a:normAutofit/>
          </a:bodyPr>
          <a:lstStyle/>
          <a:p>
            <a:pPr algn="ctr">
              <a:buNone/>
            </a:pPr>
            <a:r>
              <a:rPr lang="en-US" sz="2000" dirty="0">
                <a:solidFill>
                  <a:srgbClr val="333333"/>
                </a:solidFill>
                <a:ea typeface="Inter Medium" pitchFamily="34" charset="-122"/>
                <a:cs typeface="Inter Medium" pitchFamily="34" charset="-120"/>
              </a:rPr>
              <a:t>Potential Harms</a:t>
            </a:r>
            <a:endParaRPr lang="en-US" dirty="0"/>
          </a:p>
        </p:txBody>
      </p:sp>
      <p:sp>
        <p:nvSpPr>
          <p:cNvPr id="7" name="Object 6"/>
          <p:cNvSpPr/>
          <p:nvPr/>
        </p:nvSpPr>
        <p:spPr>
          <a:xfrm>
            <a:off x="6094476" y="1590277"/>
            <a:ext cx="5618345" cy="572599"/>
          </a:xfrm>
          <a:prstGeom prst="rect">
            <a:avLst/>
          </a:prstGeom>
          <a:noFill/>
        </p:spPr>
        <p:txBody>
          <a:bodyPr wrap="square" rtlCol="0" anchor="ctr">
            <a:normAutofit/>
          </a:bodyPr>
          <a:lstStyle/>
          <a:p>
            <a:pPr algn="ctr">
              <a:buNone/>
            </a:pPr>
            <a:r>
              <a:rPr lang="en-US" sz="2000" dirty="0">
                <a:solidFill>
                  <a:srgbClr val="333333"/>
                </a:solidFill>
                <a:ea typeface="Inter Medium" pitchFamily="34" charset="-122"/>
                <a:cs typeface="Inter Medium" pitchFamily="34" charset="-120"/>
              </a:rPr>
              <a:t>Mitigation Strategies</a:t>
            </a:r>
            <a:endParaRPr lang="en-US" dirty="0"/>
          </a:p>
        </p:txBody>
      </p:sp>
      <p:sp>
        <p:nvSpPr>
          <p:cNvPr id="8" name="Object 7"/>
          <p:cNvSpPr/>
          <p:nvPr/>
        </p:nvSpPr>
        <p:spPr>
          <a:xfrm>
            <a:off x="476131" y="2162877"/>
            <a:ext cx="5618345" cy="763466"/>
          </a:xfrm>
          <a:prstGeom prst="rect">
            <a:avLst/>
          </a:prstGeom>
          <a:noFill/>
        </p:spPr>
        <p:txBody>
          <a:bodyPr wrap="square" rtlCol="0" anchor="ctr">
            <a:normAutofit/>
          </a:bodyPr>
          <a:lstStyle/>
          <a:p>
            <a:pPr algn="ctr">
              <a:buNone/>
            </a:pPr>
            <a:r>
              <a:rPr lang="en-US" sz="2000" dirty="0">
                <a:solidFill>
                  <a:srgbClr val="333333"/>
                </a:solidFill>
                <a:ea typeface="Inter Medium" pitchFamily="34" charset="-122"/>
                <a:cs typeface="Inter Medium" pitchFamily="34" charset="-120"/>
              </a:rPr>
              <a:t>Individuals: Data breaches, misrepresentation, digital divide</a:t>
            </a:r>
            <a:endParaRPr lang="en-US" dirty="0"/>
          </a:p>
        </p:txBody>
      </p:sp>
      <p:sp>
        <p:nvSpPr>
          <p:cNvPr id="9" name="Object 8"/>
          <p:cNvSpPr/>
          <p:nvPr/>
        </p:nvSpPr>
        <p:spPr>
          <a:xfrm>
            <a:off x="6094476" y="2162877"/>
            <a:ext cx="5618345" cy="763466"/>
          </a:xfrm>
          <a:prstGeom prst="rect">
            <a:avLst/>
          </a:prstGeom>
          <a:noFill/>
        </p:spPr>
        <p:txBody>
          <a:bodyPr wrap="square" rtlCol="0" anchor="ctr">
            <a:normAutofit fontScale="85000" lnSpcReduction="20000"/>
          </a:bodyPr>
          <a:lstStyle/>
          <a:p>
            <a:pPr algn="ctr">
              <a:buNone/>
            </a:pPr>
            <a:r>
              <a:rPr lang="en-US" sz="2000" dirty="0">
                <a:solidFill>
                  <a:srgbClr val="333333"/>
                </a:solidFill>
                <a:ea typeface="Inter Medium" pitchFamily="34" charset="-122"/>
                <a:cs typeface="Inter Medium" pitchFamily="34" charset="-120"/>
              </a:rPr>
              <a:t>Enforce encryption, access controls, and regular compliance audits; embed human-in-the-loop checks; require AI ethics disclosures</a:t>
            </a:r>
            <a:endParaRPr lang="en-US" dirty="0"/>
          </a:p>
        </p:txBody>
      </p:sp>
      <p:sp>
        <p:nvSpPr>
          <p:cNvPr id="10" name="Object 9"/>
          <p:cNvSpPr/>
          <p:nvPr/>
        </p:nvSpPr>
        <p:spPr>
          <a:xfrm>
            <a:off x="476131" y="2926342"/>
            <a:ext cx="5618345" cy="763466"/>
          </a:xfrm>
          <a:prstGeom prst="rect">
            <a:avLst/>
          </a:prstGeom>
          <a:noFill/>
        </p:spPr>
        <p:txBody>
          <a:bodyPr wrap="square" rtlCol="0" anchor="ctr">
            <a:normAutofit/>
          </a:bodyPr>
          <a:lstStyle/>
          <a:p>
            <a:pPr algn="ctr">
              <a:buNone/>
            </a:pPr>
            <a:r>
              <a:rPr lang="en-US" sz="2000" dirty="0">
                <a:solidFill>
                  <a:srgbClr val="333333"/>
                </a:solidFill>
                <a:ea typeface="Inter Medium" pitchFamily="34" charset="-122"/>
                <a:cs typeface="Inter Medium" pitchFamily="34" charset="-120"/>
              </a:rPr>
              <a:t>Groups: Biased analyses reinforcing inequities</a:t>
            </a:r>
            <a:endParaRPr lang="en-US" dirty="0"/>
          </a:p>
        </p:txBody>
      </p:sp>
      <p:sp>
        <p:nvSpPr>
          <p:cNvPr id="11" name="Object 10"/>
          <p:cNvSpPr/>
          <p:nvPr/>
        </p:nvSpPr>
        <p:spPr>
          <a:xfrm>
            <a:off x="6094476" y="2926342"/>
            <a:ext cx="5618345" cy="763466"/>
          </a:xfrm>
          <a:prstGeom prst="rect">
            <a:avLst/>
          </a:prstGeom>
          <a:noFill/>
        </p:spPr>
        <p:txBody>
          <a:bodyPr wrap="square" rtlCol="0" anchor="ctr">
            <a:normAutofit fontScale="85000" lnSpcReduction="20000"/>
          </a:bodyPr>
          <a:lstStyle/>
          <a:p>
            <a:pPr algn="ctr">
              <a:buNone/>
            </a:pPr>
            <a:r>
              <a:rPr lang="en-US" sz="2000" dirty="0">
                <a:solidFill>
                  <a:srgbClr val="333333"/>
                </a:solidFill>
                <a:ea typeface="Inter Medium" pitchFamily="34" charset="-122"/>
                <a:cs typeface="Inter Medium" pitchFamily="34" charset="-120"/>
              </a:rPr>
              <a:t>Document all AI processes; declare AI use in reports; define mandatory human review points and escalation paths</a:t>
            </a:r>
            <a:endParaRPr lang="en-US" dirty="0"/>
          </a:p>
        </p:txBody>
      </p:sp>
      <p:sp>
        <p:nvSpPr>
          <p:cNvPr id="12" name="Object 11"/>
          <p:cNvSpPr/>
          <p:nvPr/>
        </p:nvSpPr>
        <p:spPr>
          <a:xfrm>
            <a:off x="476131" y="3689808"/>
            <a:ext cx="5618345" cy="763466"/>
          </a:xfrm>
          <a:prstGeom prst="rect">
            <a:avLst/>
          </a:prstGeom>
          <a:noFill/>
        </p:spPr>
        <p:txBody>
          <a:bodyPr wrap="square" rtlCol="0" anchor="ctr">
            <a:normAutofit/>
          </a:bodyPr>
          <a:lstStyle/>
          <a:p>
            <a:pPr algn="ctr">
              <a:buNone/>
            </a:pPr>
            <a:r>
              <a:rPr lang="en-US" sz="2000" dirty="0">
                <a:solidFill>
                  <a:srgbClr val="333333"/>
                </a:solidFill>
                <a:ea typeface="Inter Medium" pitchFamily="34" charset="-122"/>
                <a:cs typeface="Inter Medium" pitchFamily="34" charset="-120"/>
              </a:rPr>
              <a:t>Communities: Trust loss from opaque or unfair AI use</a:t>
            </a:r>
            <a:endParaRPr lang="en-US" dirty="0"/>
          </a:p>
        </p:txBody>
      </p:sp>
      <p:sp>
        <p:nvSpPr>
          <p:cNvPr id="13" name="Object 12"/>
          <p:cNvSpPr/>
          <p:nvPr/>
        </p:nvSpPr>
        <p:spPr>
          <a:xfrm>
            <a:off x="6094476" y="3689808"/>
            <a:ext cx="5618345" cy="763466"/>
          </a:xfrm>
          <a:prstGeom prst="rect">
            <a:avLst/>
          </a:prstGeom>
          <a:noFill/>
        </p:spPr>
        <p:txBody>
          <a:bodyPr wrap="square" rtlCol="0" anchor="ctr">
            <a:normAutofit/>
          </a:bodyPr>
          <a:lstStyle/>
          <a:p>
            <a:pPr algn="ctr">
              <a:buNone/>
            </a:pPr>
            <a:r>
              <a:rPr lang="en-US" sz="2000" dirty="0">
                <a:solidFill>
                  <a:srgbClr val="333333"/>
                </a:solidFill>
                <a:ea typeface="Inter Medium" pitchFamily="34" charset="-122"/>
                <a:cs typeface="Inter Medium" pitchFamily="34" charset="-120"/>
              </a:rPr>
              <a:t>Monitor user feedback and set up rapid issue-resolution processes</a:t>
            </a:r>
            <a:endParaRPr lang="en-US" dirty="0"/>
          </a:p>
        </p:txBody>
      </p:sp>
      <p:sp>
        <p:nvSpPr>
          <p:cNvPr id="14" name="Object 13"/>
          <p:cNvSpPr/>
          <p:nvPr/>
        </p:nvSpPr>
        <p:spPr>
          <a:xfrm>
            <a:off x="476131" y="4453273"/>
            <a:ext cx="5618345" cy="763466"/>
          </a:xfrm>
          <a:prstGeom prst="rect">
            <a:avLst/>
          </a:prstGeom>
          <a:noFill/>
        </p:spPr>
        <p:txBody>
          <a:bodyPr wrap="square" rtlCol="0" anchor="ctr">
            <a:normAutofit/>
          </a:bodyPr>
          <a:lstStyle/>
          <a:p>
            <a:pPr algn="ctr">
              <a:buNone/>
            </a:pPr>
            <a:r>
              <a:rPr lang="en-US" sz="2000" dirty="0">
                <a:solidFill>
                  <a:srgbClr val="333333"/>
                </a:solidFill>
                <a:ea typeface="Inter Medium" pitchFamily="34" charset="-122"/>
                <a:cs typeface="Inter Medium" pitchFamily="34" charset="-120"/>
              </a:rPr>
              <a:t>Institutions: Reputational damage, flawed scaling</a:t>
            </a:r>
            <a:endParaRPr lang="en-US" dirty="0"/>
          </a:p>
        </p:txBody>
      </p:sp>
      <p:sp>
        <p:nvSpPr>
          <p:cNvPr id="15" name="Object 14"/>
          <p:cNvSpPr/>
          <p:nvPr/>
        </p:nvSpPr>
        <p:spPr>
          <a:xfrm>
            <a:off x="6094476" y="4453273"/>
            <a:ext cx="5618345" cy="763466"/>
          </a:xfrm>
          <a:prstGeom prst="rect">
            <a:avLst/>
          </a:prstGeom>
          <a:noFill/>
        </p:spPr>
        <p:txBody>
          <a:bodyPr wrap="square" rtlCol="0" anchor="ctr">
            <a:normAutofit/>
          </a:bodyPr>
          <a:lstStyle/>
          <a:p>
            <a:pPr algn="ctr">
              <a:buNone/>
            </a:pPr>
            <a:r>
              <a:rPr lang="en-US" sz="2000" dirty="0">
                <a:solidFill>
                  <a:srgbClr val="333333"/>
                </a:solidFill>
                <a:ea typeface="Inter Medium" pitchFamily="34" charset="-122"/>
                <a:cs typeface="Inter Medium" pitchFamily="34" charset="-120"/>
              </a:rPr>
              <a:t>Select energy-efficient AI models; measure and minimize environmental footprint</a:t>
            </a:r>
            <a:endParaRPr lang="en-US" dirty="0"/>
          </a:p>
        </p:txBody>
      </p:sp>
      <p:sp>
        <p:nvSpPr>
          <p:cNvPr id="16" name="Object 15"/>
          <p:cNvSpPr/>
          <p:nvPr/>
        </p:nvSpPr>
        <p:spPr>
          <a:xfrm>
            <a:off x="476131" y="5216739"/>
            <a:ext cx="5618345" cy="763466"/>
          </a:xfrm>
          <a:prstGeom prst="rect">
            <a:avLst/>
          </a:prstGeom>
          <a:noFill/>
        </p:spPr>
        <p:txBody>
          <a:bodyPr wrap="square" rtlCol="0" anchor="ctr">
            <a:normAutofit/>
          </a:bodyPr>
          <a:lstStyle/>
          <a:p>
            <a:pPr algn="ctr">
              <a:buNone/>
            </a:pPr>
            <a:r>
              <a:rPr lang="en-US" sz="2000" dirty="0">
                <a:solidFill>
                  <a:srgbClr val="333333"/>
                </a:solidFill>
                <a:ea typeface="Inter Medium" pitchFamily="34" charset="-122"/>
                <a:cs typeface="Inter Medium" pitchFamily="34" charset="-120"/>
              </a:rPr>
              <a:t>Ecosystems: High carbon footprint and resource strain</a:t>
            </a:r>
            <a:endParaRPr lang="en-US" dirty="0"/>
          </a:p>
        </p:txBody>
      </p:sp>
      <p:sp>
        <p:nvSpPr>
          <p:cNvPr id="17" name="Object 16"/>
          <p:cNvSpPr/>
          <p:nvPr/>
        </p:nvSpPr>
        <p:spPr>
          <a:xfrm>
            <a:off x="6094476" y="5216739"/>
            <a:ext cx="5618345" cy="763466"/>
          </a:xfrm>
          <a:prstGeom prst="rect">
            <a:avLst/>
          </a:prstGeom>
          <a:noFill/>
        </p:spPr>
        <p:txBody>
          <a:bodyPr wrap="square" rtlCol="0" anchor="ctr">
            <a:normAutofit fontScale="85000" lnSpcReduction="10000"/>
          </a:bodyPr>
          <a:lstStyle/>
          <a:p>
            <a:pPr algn="ctr">
              <a:buNone/>
            </a:pPr>
            <a:r>
              <a:rPr lang="en-US" sz="2000" dirty="0">
                <a:solidFill>
                  <a:srgbClr val="333333"/>
                </a:solidFill>
                <a:ea typeface="Inter Medium" pitchFamily="34" charset="-122"/>
                <a:cs typeface="Inter Medium" pitchFamily="34" charset="-120"/>
              </a:rPr>
              <a:t>Ensure coherence and shared learning across the UN system; coordinate GenAI practices across UN entities</a:t>
            </a:r>
            <a:endParaRPr lang="en-US" dirty="0"/>
          </a:p>
        </p:txBody>
      </p:sp>
      <p:sp>
        <p:nvSpPr>
          <p:cNvPr id="18" name="Object 17"/>
          <p:cNvSpPr/>
          <p:nvPr/>
        </p:nvSpPr>
        <p:spPr>
          <a:xfrm>
            <a:off x="11865183" y="6497898"/>
            <a:ext cx="133317" cy="237669"/>
          </a:xfrm>
          <a:prstGeom prst="rect">
            <a:avLst/>
          </a:prstGeom>
          <a:noFill/>
        </p:spPr>
      </p:sp>
      <p:sp>
        <p:nvSpPr>
          <p:cNvPr id="19" name="Object 18"/>
          <p:cNvSpPr/>
          <p:nvPr/>
        </p:nvSpPr>
        <p:spPr>
          <a:xfrm>
            <a:off x="-476131" y="6122945"/>
            <a:ext cx="12188952" cy="211283"/>
          </a:xfrm>
          <a:prstGeom prst="rect">
            <a:avLst/>
          </a:prstGeom>
          <a:noFill/>
        </p:spPr>
        <p:txBody>
          <a:bodyPr wrap="square" lIns="0" tIns="0" rIns="0" bIns="0" rtlCol="0" anchor="t"/>
          <a:lstStyle/>
          <a:p>
            <a:pPr algn="r">
              <a:lnSpc>
                <a:spcPts val="1664"/>
              </a:lnSpc>
              <a:buNone/>
            </a:pPr>
            <a:r>
              <a:rPr lang="en-US" sz="1200" kern="0" spc="-24" dirty="0">
                <a:solidFill>
                  <a:srgbClr val="FFFFFF">
                    <a:alpha val="80000"/>
                  </a:srgbClr>
                </a:solidFill>
                <a:ea typeface="Inter" pitchFamily="34" charset="-122"/>
                <a:cs typeface="Inter" pitchFamily="34" charset="-120"/>
              </a:rPr>
              <a:t>*This data is generated based on the provided context.</a:t>
            </a:r>
            <a:endParaRPr lang="en-US" dirty="0"/>
          </a:p>
        </p:txBody>
      </p:sp>
      <p:sp>
        <p:nvSpPr>
          <p:cNvPr id="25" name="Slide Number Placeholder 24"/>
          <p:cNvSpPr>
            <a:spLocks noGrp="1"/>
          </p:cNvSpPr>
          <p:nvPr>
            <p:ph type="sldNum" sz="quarter" idx="4294967295"/>
          </p:nvPr>
        </p:nvSpPr>
        <p:spPr>
          <a:xfrm>
            <a:off x="11826240" y="6515100"/>
            <a:ext cx="800000" cy="300000"/>
          </a:xfrm>
          <a:prstGeom prst="rect">
            <a:avLst/>
          </a:prstGeom>
          <a:extLst>
            <a:ext uri="{C572A759-6A51-4108-AA02-DFA0A04FC94B}">
              <ma14:wrappingTextBoxFlag xmlns="" xmlns:ma14="http://schemas.microsoft.com/office/mac/drawingml/2011/main" val="0"/>
            </a:ext>
          </a:extLst>
        </p:spPr>
        <p:txBody>
          <a:bodyPr/>
          <a:lstStyle>
            <a:lvl1pPr>
              <a:defRPr sz="1100"/>
            </a:lvl1pPr>
          </a:lstStyle>
          <a:p>
            <a:fld id="{F7021451-1387-4CA6-816F-3879F97B5CBC}" type="slidenum">
              <a:rPr lang="en-US" smtClean="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0" y="379020"/>
            <a:ext cx="12188952" cy="556081"/>
          </a:xfrm>
          <a:prstGeom prst="rect">
            <a:avLst/>
          </a:prstGeom>
          <a:noFill/>
        </p:spPr>
        <p:txBody>
          <a:bodyPr wrap="square" lIns="0" tIns="0" rIns="0" bIns="0" rtlCol="0" anchor="t"/>
          <a:lstStyle/>
          <a:p>
            <a:pPr marL="0" marR="0" lvl="0" indent="0" algn="ctr" defTabSz="914400" rtl="0" eaLnBrk="1" fontAlgn="auto" latinLnBrk="0" hangingPunct="1">
              <a:lnSpc>
                <a:spcPts val="4380"/>
              </a:lnSpc>
              <a:spcBef>
                <a:spcPts val="0"/>
              </a:spcBef>
              <a:spcAft>
                <a:spcPts val="0"/>
              </a:spcAft>
              <a:buClrTx/>
              <a:buSzTx/>
              <a:buFontTx/>
              <a:buNone/>
              <a:tabLst/>
              <a:defRPr/>
            </a:pPr>
            <a:r>
              <a:rPr kumimoji="0" lang="en-US" sz="3750" b="1" i="0" u="none" strike="noStrike" kern="0" cap="none" spc="-225" normalizeH="0" baseline="0" noProof="0" dirty="0">
                <a:ln>
                  <a:noFill/>
                </a:ln>
                <a:effectLst/>
                <a:uLnTx/>
                <a:uFillTx/>
                <a:latin typeface="Inter" pitchFamily="34" charset="0"/>
                <a:ea typeface="Inter" pitchFamily="34" charset="-122"/>
                <a:cs typeface="Inter" pitchFamily="34" charset="-120"/>
              </a:rPr>
              <a:t>Selecting GenAI Tools</a:t>
            </a:r>
            <a:endParaRPr kumimoji="0" lang="en-US" sz="1800" b="0" i="0" u="none" strike="noStrike" kern="1200" cap="none" spc="0" normalizeH="0" baseline="0" noProof="0" dirty="0">
              <a:ln>
                <a:noFill/>
              </a:ln>
              <a:effectLst/>
              <a:uLnTx/>
              <a:uFillTx/>
              <a:latin typeface="Arial"/>
              <a:ea typeface="+mn-ea"/>
              <a:cs typeface="+mn-cs"/>
            </a:endParaRPr>
          </a:p>
        </p:txBody>
      </p:sp>
      <p:sp>
        <p:nvSpPr>
          <p:cNvPr id="3" name="Object 2"/>
          <p:cNvSpPr/>
          <p:nvPr/>
        </p:nvSpPr>
        <p:spPr>
          <a:xfrm>
            <a:off x="952262" y="1739366"/>
            <a:ext cx="5446938" cy="4113672"/>
          </a:xfrm>
          <a:prstGeom prst="rect">
            <a:avLst/>
          </a:prstGeom>
          <a:noFill/>
        </p:spPr>
        <p:txBody>
          <a:bodyPr wrap="square" lIns="0" tIns="0" rIns="0" bIns="0" rtlCol="0" anchor="t"/>
          <a:lstStyle/>
          <a:p>
            <a:pPr marL="242900" marR="0" lvl="0" indent="-242900" algn="l" defTabSz="914400" rtl="0" eaLnBrk="1" fontAlgn="auto" latinLnBrk="0" hangingPunct="1">
              <a:lnSpc>
                <a:spcPts val="3154"/>
              </a:lnSpc>
              <a:spcBef>
                <a:spcPts val="0"/>
              </a:spcBef>
              <a:spcAft>
                <a:spcPts val="0"/>
              </a:spcAft>
              <a:buClrTx/>
              <a:buSzPct val="100000"/>
              <a:buFontTx/>
              <a:buChar char="•"/>
              <a:tabLst/>
              <a:defRPr/>
            </a:pPr>
            <a:r>
              <a:rPr kumimoji="0" lang="en-US" sz="2700" b="1" i="0" u="none" strike="noStrike" kern="0" cap="none" spc="-162" normalizeH="0" baseline="0" noProof="0" dirty="0">
                <a:ln>
                  <a:noFill/>
                </a:ln>
                <a:effectLst/>
                <a:uLnTx/>
                <a:uFillTx/>
                <a:latin typeface="Inter" pitchFamily="34" charset="0"/>
                <a:ea typeface="Inter" pitchFamily="34" charset="-122"/>
                <a:cs typeface="Inter" pitchFamily="34" charset="-120"/>
              </a:rPr>
              <a:t>Assess availability &amp; fit</a:t>
            </a:r>
          </a:p>
          <a:p>
            <a:pPr marL="457200" marR="0" lvl="1" indent="0" algn="l" defTabSz="914400" rtl="0" eaLnBrk="1" fontAlgn="auto" latinLnBrk="0" hangingPunct="1">
              <a:lnSpc>
                <a:spcPts val="2392"/>
              </a:lnSpc>
              <a:spcBef>
                <a:spcPts val="321"/>
              </a:spcBef>
              <a:spcAft>
                <a:spcPts val="0"/>
              </a:spcAft>
              <a:buClrTx/>
              <a:buSzTx/>
              <a:buFontTx/>
              <a:buNone/>
              <a:tabLst/>
              <a:defRPr/>
            </a:pPr>
            <a:r>
              <a:rPr kumimoji="0" lang="en-US" sz="1725" b="0" i="0" u="none" strike="noStrike" kern="0" cap="none" spc="-34" normalizeH="0" baseline="0" noProof="0" dirty="0">
                <a:ln>
                  <a:noFill/>
                </a:ln>
                <a:effectLst/>
                <a:uLnTx/>
                <a:uFillTx/>
                <a:latin typeface="Inter" pitchFamily="34" charset="0"/>
                <a:ea typeface="Inter" pitchFamily="34" charset="-122"/>
                <a:cs typeface="Inter" pitchFamily="34" charset="-120"/>
              </a:rPr>
              <a:t>Assess resource availability, legal/IT/procurement fit, and UNFPA architecture alignment</a:t>
            </a:r>
          </a:p>
          <a:p>
            <a:pPr marL="242900" marR="0" lvl="0" indent="-242900" algn="l" defTabSz="914400" rtl="0" eaLnBrk="1" fontAlgn="auto" latinLnBrk="0" hangingPunct="1">
              <a:lnSpc>
                <a:spcPts val="3154"/>
              </a:lnSpc>
              <a:spcBef>
                <a:spcPts val="2555"/>
              </a:spcBef>
              <a:spcAft>
                <a:spcPts val="0"/>
              </a:spcAft>
              <a:buClrTx/>
              <a:buSzPct val="100000"/>
              <a:buFontTx/>
              <a:buChar char="•"/>
              <a:tabLst/>
              <a:defRPr/>
            </a:pPr>
            <a:r>
              <a:rPr kumimoji="0" lang="en-US" sz="2700" b="1" i="0" u="none" strike="noStrike" kern="0" cap="none" spc="-162" normalizeH="0" baseline="0" noProof="0" dirty="0">
                <a:ln>
                  <a:noFill/>
                </a:ln>
                <a:effectLst/>
                <a:uLnTx/>
                <a:uFillTx/>
                <a:latin typeface="Inter" pitchFamily="34" charset="0"/>
                <a:ea typeface="Inter" pitchFamily="34" charset="-122"/>
                <a:cs typeface="Inter" pitchFamily="34" charset="-120"/>
              </a:rPr>
              <a:t>Evaluate security &amp; costs</a:t>
            </a:r>
          </a:p>
          <a:p>
            <a:pPr marL="457200" marR="0" lvl="1" indent="0" algn="l" defTabSz="914400" rtl="0" eaLnBrk="1" fontAlgn="auto" latinLnBrk="0" hangingPunct="1">
              <a:lnSpc>
                <a:spcPts val="2392"/>
              </a:lnSpc>
              <a:spcBef>
                <a:spcPts val="321"/>
              </a:spcBef>
              <a:spcAft>
                <a:spcPts val="0"/>
              </a:spcAft>
              <a:buClrTx/>
              <a:buSzTx/>
              <a:buFontTx/>
              <a:buNone/>
              <a:tabLst/>
              <a:defRPr/>
            </a:pPr>
            <a:r>
              <a:rPr kumimoji="0" lang="en-US" sz="1725" b="0" i="0" u="none" strike="noStrike" kern="0" cap="none" spc="-34" normalizeH="0" baseline="0" noProof="0" dirty="0">
                <a:ln>
                  <a:noFill/>
                </a:ln>
                <a:effectLst/>
                <a:uLnTx/>
                <a:uFillTx/>
                <a:latin typeface="Inter" pitchFamily="34" charset="0"/>
                <a:ea typeface="Inter" pitchFamily="34" charset="-122"/>
                <a:cs typeface="Inter" pitchFamily="34" charset="-120"/>
              </a:rPr>
              <a:t>Evaluate security features, data-privacy protocols, start-up and maintenance costs</a:t>
            </a:r>
          </a:p>
          <a:p>
            <a:pPr marL="242900" marR="0" lvl="0" indent="-242900" algn="l" defTabSz="914400" rtl="0" eaLnBrk="1" fontAlgn="auto" latinLnBrk="0" hangingPunct="1">
              <a:lnSpc>
                <a:spcPts val="3154"/>
              </a:lnSpc>
              <a:spcBef>
                <a:spcPts val="2555"/>
              </a:spcBef>
              <a:spcAft>
                <a:spcPts val="0"/>
              </a:spcAft>
              <a:buClrTx/>
              <a:buSzPct val="100000"/>
              <a:buFontTx/>
              <a:buChar char="•"/>
              <a:tabLst/>
              <a:defRPr/>
            </a:pPr>
            <a:r>
              <a:rPr kumimoji="0" lang="en-US" sz="2700" b="1" i="0" u="none" strike="noStrike" kern="0" cap="none" spc="-162" normalizeH="0" baseline="0" noProof="0" dirty="0">
                <a:ln>
                  <a:noFill/>
                </a:ln>
                <a:effectLst/>
                <a:uLnTx/>
                <a:uFillTx/>
                <a:latin typeface="Inter" pitchFamily="34" charset="0"/>
                <a:ea typeface="Inter" pitchFamily="34" charset="-122"/>
                <a:cs typeface="Inter" pitchFamily="34" charset="-120"/>
              </a:rPr>
              <a:t>Estimate optimization potential</a:t>
            </a:r>
          </a:p>
          <a:p>
            <a:pPr marL="457200" marR="0" lvl="1" indent="0" algn="l" defTabSz="914400" rtl="0" eaLnBrk="1" fontAlgn="auto" latinLnBrk="0" hangingPunct="1">
              <a:lnSpc>
                <a:spcPts val="2392"/>
              </a:lnSpc>
              <a:spcBef>
                <a:spcPts val="321"/>
              </a:spcBef>
              <a:spcAft>
                <a:spcPts val="0"/>
              </a:spcAft>
              <a:buClrTx/>
              <a:buSzTx/>
              <a:buFontTx/>
              <a:buNone/>
              <a:tabLst/>
              <a:defRPr/>
            </a:pPr>
            <a:r>
              <a:rPr kumimoji="0" lang="en-US" sz="1725" b="0" i="0" u="none" strike="noStrike" kern="0" cap="none" spc="-34" normalizeH="0" baseline="0" noProof="0" dirty="0">
                <a:ln>
                  <a:noFill/>
                </a:ln>
                <a:effectLst/>
                <a:uLnTx/>
                <a:uFillTx/>
                <a:latin typeface="Inter" pitchFamily="34" charset="0"/>
                <a:ea typeface="Inter" pitchFamily="34" charset="-122"/>
                <a:cs typeface="Inter" pitchFamily="34" charset="-120"/>
              </a:rPr>
              <a:t>Estimate optimization potential, required training, and scalability</a:t>
            </a:r>
            <a:endParaRPr kumimoji="0" lang="en-US" sz="1800" b="0" i="0" u="none" strike="noStrike" kern="1200" cap="none" spc="0" normalizeH="0" baseline="0" noProof="0" dirty="0">
              <a:ln>
                <a:noFill/>
              </a:ln>
              <a:effectLst/>
              <a:uLnTx/>
              <a:uFillTx/>
              <a:latin typeface="Arial"/>
              <a:ea typeface="+mn-ea"/>
              <a:cs typeface="+mn-cs"/>
            </a:endParaRPr>
          </a:p>
        </p:txBody>
      </p:sp>
      <p:sp>
        <p:nvSpPr>
          <p:cNvPr id="4" name="Object 3"/>
          <p:cNvSpPr/>
          <p:nvPr/>
        </p:nvSpPr>
        <p:spPr>
          <a:xfrm>
            <a:off x="6284928" y="1739366"/>
            <a:ext cx="5446938" cy="2429657"/>
          </a:xfrm>
          <a:prstGeom prst="rect">
            <a:avLst/>
          </a:prstGeom>
          <a:noFill/>
        </p:spPr>
        <p:txBody>
          <a:bodyPr wrap="square" lIns="0" tIns="0" rIns="0" bIns="0" rtlCol="0" anchor="t"/>
          <a:lstStyle/>
          <a:p>
            <a:pPr marL="242900" marR="0" lvl="0" indent="-242900" algn="l" defTabSz="914400" rtl="0" eaLnBrk="1" fontAlgn="auto" latinLnBrk="0" hangingPunct="1">
              <a:lnSpc>
                <a:spcPts val="3154"/>
              </a:lnSpc>
              <a:spcBef>
                <a:spcPts val="0"/>
              </a:spcBef>
              <a:spcAft>
                <a:spcPts val="0"/>
              </a:spcAft>
              <a:buClrTx/>
              <a:buSzPct val="100000"/>
              <a:buFontTx/>
              <a:buChar char="•"/>
              <a:tabLst/>
              <a:defRPr/>
            </a:pPr>
            <a:r>
              <a:rPr kumimoji="0" lang="en-US" sz="2700" b="1" i="0" u="none" strike="noStrike" kern="0" cap="none" spc="-162" normalizeH="0" baseline="0" noProof="0" dirty="0">
                <a:ln>
                  <a:noFill/>
                </a:ln>
                <a:effectLst/>
                <a:uLnTx/>
                <a:uFillTx/>
                <a:latin typeface="Inter" pitchFamily="34" charset="0"/>
                <a:ea typeface="Inter" pitchFamily="34" charset="-122"/>
                <a:cs typeface="Inter" pitchFamily="34" charset="-120"/>
              </a:rPr>
              <a:t>Prioritize low-code solutions</a:t>
            </a:r>
          </a:p>
          <a:p>
            <a:pPr marL="457200" marR="0" lvl="1" indent="0" algn="l" defTabSz="914400" rtl="0" eaLnBrk="1" fontAlgn="auto" latinLnBrk="0" hangingPunct="1">
              <a:lnSpc>
                <a:spcPts val="2392"/>
              </a:lnSpc>
              <a:spcBef>
                <a:spcPts val="321"/>
              </a:spcBef>
              <a:spcAft>
                <a:spcPts val="0"/>
              </a:spcAft>
              <a:buClrTx/>
              <a:buSzTx/>
              <a:buFontTx/>
              <a:buNone/>
              <a:tabLst/>
              <a:defRPr/>
            </a:pPr>
            <a:r>
              <a:rPr kumimoji="0" lang="en-US" sz="1725" b="0" i="0" u="none" strike="noStrike" kern="0" cap="none" spc="-34" normalizeH="0" baseline="0" noProof="0" dirty="0">
                <a:ln>
                  <a:noFill/>
                </a:ln>
                <a:effectLst/>
                <a:uLnTx/>
                <a:uFillTx/>
                <a:latin typeface="Inter" pitchFamily="34" charset="0"/>
                <a:ea typeface="Inter" pitchFamily="34" charset="-122"/>
                <a:cs typeface="Inter" pitchFamily="34" charset="-120"/>
              </a:rPr>
              <a:t>Prioritize low-code/no-code Google ecosystem solutions with ITSO partnership</a:t>
            </a:r>
          </a:p>
          <a:p>
            <a:pPr marL="242900" marR="0" lvl="0" indent="-242900" algn="l" defTabSz="914400" rtl="0" eaLnBrk="1" fontAlgn="auto" latinLnBrk="0" hangingPunct="1">
              <a:lnSpc>
                <a:spcPts val="3154"/>
              </a:lnSpc>
              <a:spcBef>
                <a:spcPts val="2555"/>
              </a:spcBef>
              <a:spcAft>
                <a:spcPts val="0"/>
              </a:spcAft>
              <a:buClrTx/>
              <a:buSzPct val="100000"/>
              <a:buFontTx/>
              <a:buChar char="•"/>
              <a:tabLst/>
              <a:defRPr/>
            </a:pPr>
            <a:r>
              <a:rPr kumimoji="0" lang="en-US" sz="2700" b="1" i="0" u="none" strike="noStrike" kern="0" cap="none" spc="-162" normalizeH="0" baseline="0" noProof="0" dirty="0">
                <a:ln>
                  <a:noFill/>
                </a:ln>
                <a:effectLst/>
                <a:uLnTx/>
                <a:uFillTx/>
                <a:latin typeface="Inter" pitchFamily="34" charset="0"/>
                <a:ea typeface="Inter" pitchFamily="34" charset="-122"/>
                <a:cs typeface="Inter" pitchFamily="34" charset="-120"/>
              </a:rPr>
              <a:t>Continuously scan for new tools</a:t>
            </a:r>
          </a:p>
          <a:p>
            <a:pPr marL="457200" marR="0" lvl="1" indent="0" algn="l" defTabSz="914400" rtl="0" eaLnBrk="1" fontAlgn="auto" latinLnBrk="0" hangingPunct="1">
              <a:lnSpc>
                <a:spcPts val="2392"/>
              </a:lnSpc>
              <a:spcBef>
                <a:spcPts val="321"/>
              </a:spcBef>
              <a:spcAft>
                <a:spcPts val="0"/>
              </a:spcAft>
              <a:buClrTx/>
              <a:buSzTx/>
              <a:buFontTx/>
              <a:buNone/>
              <a:tabLst/>
              <a:defRPr/>
            </a:pPr>
            <a:r>
              <a:rPr kumimoji="0" lang="en-US" sz="1725" b="0" i="0" u="none" strike="noStrike" kern="0" cap="none" spc="-34" normalizeH="0" baseline="0" noProof="0" dirty="0">
                <a:ln>
                  <a:noFill/>
                </a:ln>
                <a:effectLst/>
                <a:uLnTx/>
                <a:uFillTx/>
                <a:latin typeface="Inter" pitchFamily="34" charset="0"/>
                <a:ea typeface="Inter" pitchFamily="34" charset="-122"/>
                <a:cs typeface="Inter" pitchFamily="34" charset="-120"/>
              </a:rPr>
              <a:t>Continuously scan for emerging tools and evolving user needs</a:t>
            </a:r>
            <a:endParaRPr kumimoji="0" lang="en-US" sz="1800" b="0" i="0" u="none" strike="noStrike" kern="1200" cap="none" spc="0" normalizeH="0" baseline="0" noProof="0" dirty="0">
              <a:ln>
                <a:noFill/>
              </a:ln>
              <a:effectLst/>
              <a:uLnTx/>
              <a:uFillTx/>
              <a:latin typeface="Arial"/>
              <a:ea typeface="+mn-ea"/>
              <a:cs typeface="+mn-cs"/>
            </a:endParaRPr>
          </a:p>
        </p:txBody>
      </p:sp>
      <p:sp>
        <p:nvSpPr>
          <p:cNvPr id="5" name="Object 4"/>
          <p:cNvSpPr/>
          <p:nvPr/>
        </p:nvSpPr>
        <p:spPr>
          <a:xfrm>
            <a:off x="11798525" y="6497898"/>
            <a:ext cx="199975" cy="237669"/>
          </a:xfrm>
          <a:prstGeom prst="rect">
            <a:avLst/>
          </a:prstGeom>
          <a:noFill/>
        </p:spPr>
      </p:sp>
      <p:sp>
        <p:nvSpPr>
          <p:cNvPr id="25" name="Slide Number Placeholder 24"/>
          <p:cNvSpPr>
            <a:spLocks noGrp="1"/>
          </p:cNvSpPr>
          <p:nvPr>
            <p:ph type="sldNum" sz="quarter" idx="4294967295"/>
          </p:nvPr>
        </p:nvSpPr>
        <p:spPr>
          <a:xfrm>
            <a:off x="11826240" y="6515100"/>
            <a:ext cx="800000" cy="300000"/>
          </a:xfrm>
          <a:prstGeom prst="rect">
            <a:avLst/>
          </a:prstGeom>
          <a:extLst>
            <a:ext uri="{C572A759-6A51-4108-AA02-DFA0A04FC94B}">
              <ma14:wrappingTextBoxFlag xmlns="" xmlns:ma14="http://schemas.microsoft.com/office/mac/drawingml/2011/main" val="0"/>
            </a:ext>
          </a:extLst>
        </p:spPr>
        <p:txBody>
          <a:bodyPr/>
          <a:lstStyle>
            <a:lvl1pPr>
              <a:defRPr sz="1100"/>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100" b="0" i="0" u="none" strike="noStrike" kern="1200" cap="none" spc="0" normalizeH="0" baseline="0" noProof="0" smtClean="0">
                <a:ln>
                  <a:noFill/>
                </a:ln>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14</a:t>
            </a:fld>
            <a:endParaRPr kumimoji="0" lang="en-US" sz="1100" b="0" i="0" u="none" strike="noStrike" kern="1200" cap="none" spc="0" normalizeH="0" baseline="0" noProof="0">
              <a:ln>
                <a:noFill/>
              </a:ln>
              <a:effectLst/>
              <a:uLnTx/>
              <a:uFillTx/>
              <a:latin typeface="Arial"/>
              <a:ea typeface="+mn-ea"/>
              <a:cs typeface="+mn-cs"/>
            </a:endParaRPr>
          </a:p>
        </p:txBody>
      </p:sp>
    </p:spTree>
    <p:extLst>
      <p:ext uri="{BB962C8B-B14F-4D97-AF65-F5344CB8AC3E}">
        <p14:creationId xmlns:p14="http://schemas.microsoft.com/office/powerpoint/2010/main" val="32541757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2562477" y="379020"/>
            <a:ext cx="7063998" cy="1668244"/>
          </a:xfrm>
          <a:prstGeom prst="rect">
            <a:avLst/>
          </a:prstGeom>
          <a:noFill/>
        </p:spPr>
        <p:txBody>
          <a:bodyPr wrap="square" lIns="0" tIns="0" rIns="0" bIns="0" rtlCol="0" anchor="t"/>
          <a:lstStyle/>
          <a:p>
            <a:pPr marL="0" marR="0" lvl="0" indent="0" algn="ctr" defTabSz="914400" rtl="0" eaLnBrk="1" fontAlgn="auto" latinLnBrk="0" hangingPunct="1">
              <a:lnSpc>
                <a:spcPts val="4380"/>
              </a:lnSpc>
              <a:spcBef>
                <a:spcPts val="0"/>
              </a:spcBef>
              <a:spcAft>
                <a:spcPts val="0"/>
              </a:spcAft>
              <a:buClrTx/>
              <a:buSzTx/>
              <a:buFontTx/>
              <a:buNone/>
              <a:tabLst/>
              <a:defRPr/>
            </a:pPr>
            <a:r>
              <a:rPr kumimoji="0" lang="en-US" sz="3750" b="1" i="0" u="none" strike="noStrike" kern="0" cap="none" spc="-225" normalizeH="0" baseline="0" noProof="0" dirty="0">
                <a:ln>
                  <a:noFill/>
                </a:ln>
                <a:solidFill>
                  <a:srgbClr val="333333"/>
                </a:solidFill>
                <a:effectLst/>
                <a:uLnTx/>
                <a:uFillTx/>
                <a:latin typeface="Inter" pitchFamily="34" charset="0"/>
                <a:ea typeface="Inter" pitchFamily="34" charset="-122"/>
                <a:cs typeface="Inter" pitchFamily="34" charset="-120"/>
              </a:rPr>
              <a:t>Ethical Guidelines for Consultants and Companies</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3" name="Object 2"/>
          <p:cNvSpPr/>
          <p:nvPr/>
        </p:nvSpPr>
        <p:spPr>
          <a:xfrm>
            <a:off x="476131" y="2709185"/>
            <a:ext cx="714196" cy="714196"/>
          </a:xfrm>
          <a:prstGeom prst="ellipse">
            <a:avLst/>
          </a:prstGeom>
          <a:solidFill>
            <a:srgbClr val="22AAEE"/>
          </a:solidFill>
        </p:spPr>
      </p:sp>
      <p:pic>
        <p:nvPicPr>
          <p:cNvPr id="4" name="Object 3"/>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90939" y="2911446"/>
            <a:ext cx="295201" cy="314246"/>
          </a:xfrm>
          <a:prstGeom prst="rect">
            <a:avLst/>
          </a:prstGeom>
        </p:spPr>
      </p:pic>
      <p:sp>
        <p:nvSpPr>
          <p:cNvPr id="5" name="Object 4"/>
          <p:cNvSpPr/>
          <p:nvPr/>
        </p:nvSpPr>
        <p:spPr>
          <a:xfrm>
            <a:off x="1380780" y="2662564"/>
            <a:ext cx="2775843" cy="533862"/>
          </a:xfrm>
          <a:prstGeom prst="rect">
            <a:avLst/>
          </a:prstGeom>
          <a:noFill/>
        </p:spPr>
        <p:txBody>
          <a:bodyPr wrap="square" lIns="0" tIns="0" rIns="0" bIns="0" rtlCol="0" anchor="t"/>
          <a:lstStyle/>
          <a:p>
            <a:pPr marL="0" marR="0" lvl="0" indent="0" algn="l" defTabSz="914400" rtl="0" eaLnBrk="1" fontAlgn="auto" latinLnBrk="0" hangingPunct="1">
              <a:lnSpc>
                <a:spcPts val="2102"/>
              </a:lnSpc>
              <a:spcBef>
                <a:spcPts val="0"/>
              </a:spcBef>
              <a:spcAft>
                <a:spcPts val="0"/>
              </a:spcAft>
              <a:buClrTx/>
              <a:buSzTx/>
              <a:buFontTx/>
              <a:buNone/>
              <a:tabLst/>
              <a:defRPr/>
            </a:pPr>
            <a:r>
              <a:rPr kumimoji="0" lang="en-US" sz="1800" b="1" i="0" u="none" strike="noStrike" kern="0" cap="none" spc="-108" normalizeH="0" baseline="0" noProof="0" dirty="0">
                <a:ln>
                  <a:noFill/>
                </a:ln>
                <a:solidFill>
                  <a:srgbClr val="333333"/>
                </a:solidFill>
                <a:effectLst/>
                <a:uLnTx/>
                <a:uFillTx/>
                <a:latin typeface="Inter" pitchFamily="34" charset="0"/>
                <a:ea typeface="Inter" pitchFamily="34" charset="-122"/>
                <a:cs typeface="Inter" pitchFamily="34" charset="-120"/>
              </a:rPr>
              <a:t>Prior approval required for any AI tool use</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6" name="Object 5"/>
          <p:cNvSpPr/>
          <p:nvPr/>
        </p:nvSpPr>
        <p:spPr>
          <a:xfrm>
            <a:off x="1380780" y="3273599"/>
            <a:ext cx="2775843" cy="1320767"/>
          </a:xfrm>
          <a:prstGeom prst="rect">
            <a:avLst/>
          </a:prstGeom>
          <a:noFill/>
        </p:spPr>
        <p:txBody>
          <a:bodyPr wrap="square" lIns="0" tIns="0" rIns="0" bIns="0" rtlCol="0" anchor="t"/>
          <a:lstStyle/>
          <a:p>
            <a:pPr marL="0" marR="0" lvl="0" indent="0" algn="l" defTabSz="914400" rtl="0" eaLnBrk="1" fontAlgn="auto" latinLnBrk="0" hangingPunct="1">
              <a:lnSpc>
                <a:spcPts val="2081"/>
              </a:lnSpc>
              <a:spcBef>
                <a:spcPts val="596"/>
              </a:spcBef>
              <a:spcAft>
                <a:spcPts val="0"/>
              </a:spcAft>
              <a:buClrTx/>
              <a:buSzTx/>
              <a:buFontTx/>
              <a:buNone/>
              <a:tabLst/>
              <a:defRPr/>
            </a:pPr>
            <a:r>
              <a:rPr kumimoji="0" lang="en-US" sz="1500" b="0" i="0" u="none" strike="noStrike" kern="0" cap="none" spc="-30" normalizeH="0" baseline="0" noProof="0" dirty="0">
                <a:ln>
                  <a:noFill/>
                </a:ln>
                <a:solidFill>
                  <a:srgbClr val="000000">
                    <a:alpha val="56000"/>
                  </a:srgbClr>
                </a:solidFill>
                <a:effectLst/>
                <a:uLnTx/>
                <a:uFillTx/>
                <a:latin typeface="Inter" pitchFamily="34" charset="0"/>
                <a:ea typeface="Inter" pitchFamily="34" charset="-122"/>
                <a:cs typeface="Inter" pitchFamily="34" charset="-120"/>
              </a:rPr>
              <a:t>UNFPA will evaluate and approve all proposed AI tools before consultants or companies can use them in UNFPA evaluations</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7" name="Object 6"/>
          <p:cNvSpPr/>
          <p:nvPr/>
        </p:nvSpPr>
        <p:spPr>
          <a:xfrm>
            <a:off x="4380405" y="2709185"/>
            <a:ext cx="714196" cy="714196"/>
          </a:xfrm>
          <a:prstGeom prst="ellipse">
            <a:avLst/>
          </a:prstGeom>
          <a:solidFill>
            <a:srgbClr val="FFD9AD"/>
          </a:solidFill>
        </p:spPr>
      </p:sp>
      <p:pic>
        <p:nvPicPr>
          <p:cNvPr id="8" name="Object 7"/>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578468" y="2894708"/>
            <a:ext cx="323769" cy="342814"/>
          </a:xfrm>
          <a:prstGeom prst="rect">
            <a:avLst/>
          </a:prstGeom>
        </p:spPr>
      </p:pic>
      <p:sp>
        <p:nvSpPr>
          <p:cNvPr id="9" name="Object 8"/>
          <p:cNvSpPr/>
          <p:nvPr/>
        </p:nvSpPr>
        <p:spPr>
          <a:xfrm>
            <a:off x="5285053" y="2662564"/>
            <a:ext cx="2775843" cy="800793"/>
          </a:xfrm>
          <a:prstGeom prst="rect">
            <a:avLst/>
          </a:prstGeom>
          <a:noFill/>
        </p:spPr>
        <p:txBody>
          <a:bodyPr wrap="square" lIns="0" tIns="0" rIns="0" bIns="0" rtlCol="0" anchor="t"/>
          <a:lstStyle/>
          <a:p>
            <a:pPr marL="0" marR="0" lvl="0" indent="0" algn="l" defTabSz="914400" rtl="0" eaLnBrk="1" fontAlgn="auto" latinLnBrk="0" hangingPunct="1">
              <a:lnSpc>
                <a:spcPts val="2102"/>
              </a:lnSpc>
              <a:spcBef>
                <a:spcPts val="0"/>
              </a:spcBef>
              <a:spcAft>
                <a:spcPts val="0"/>
              </a:spcAft>
              <a:buClrTx/>
              <a:buSzTx/>
              <a:buFontTx/>
              <a:buNone/>
              <a:tabLst/>
              <a:defRPr/>
            </a:pPr>
            <a:r>
              <a:rPr kumimoji="0" lang="en-US" sz="1800" b="1" i="0" u="none" strike="noStrike" kern="0" cap="none" spc="-108" normalizeH="0" baseline="0" noProof="0" dirty="0">
                <a:ln>
                  <a:noFill/>
                </a:ln>
                <a:solidFill>
                  <a:srgbClr val="333333"/>
                </a:solidFill>
                <a:effectLst/>
                <a:uLnTx/>
                <a:uFillTx/>
                <a:latin typeface="Inter" pitchFamily="34" charset="0"/>
                <a:ea typeface="Inter" pitchFamily="34" charset="-122"/>
                <a:cs typeface="Inter" pitchFamily="34" charset="-120"/>
              </a:rPr>
              <a:t>Full transparency and manual validation of AI outputs</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10" name="Object 9"/>
          <p:cNvSpPr/>
          <p:nvPr/>
        </p:nvSpPr>
        <p:spPr>
          <a:xfrm>
            <a:off x="5285053" y="3540530"/>
            <a:ext cx="2775843" cy="1584921"/>
          </a:xfrm>
          <a:prstGeom prst="rect">
            <a:avLst/>
          </a:prstGeom>
          <a:noFill/>
        </p:spPr>
        <p:txBody>
          <a:bodyPr wrap="square" lIns="0" tIns="0" rIns="0" bIns="0" rtlCol="0" anchor="t"/>
          <a:lstStyle/>
          <a:p>
            <a:pPr marL="0" marR="0" lvl="0" indent="0" algn="l" defTabSz="914400" rtl="0" eaLnBrk="1" fontAlgn="auto" latinLnBrk="0" hangingPunct="1">
              <a:lnSpc>
                <a:spcPts val="2081"/>
              </a:lnSpc>
              <a:spcBef>
                <a:spcPts val="596"/>
              </a:spcBef>
              <a:spcAft>
                <a:spcPts val="0"/>
              </a:spcAft>
              <a:buClrTx/>
              <a:buSzTx/>
              <a:buFontTx/>
              <a:buNone/>
              <a:tabLst/>
              <a:defRPr/>
            </a:pPr>
            <a:r>
              <a:rPr kumimoji="0" lang="en-US" sz="1500" b="0" i="0" u="none" strike="noStrike" kern="0" cap="none" spc="-30" normalizeH="0" baseline="0" noProof="0" dirty="0">
                <a:ln>
                  <a:noFill/>
                </a:ln>
                <a:solidFill>
                  <a:srgbClr val="000000">
                    <a:alpha val="56000"/>
                  </a:srgbClr>
                </a:solidFill>
                <a:effectLst/>
                <a:uLnTx/>
                <a:uFillTx/>
                <a:latin typeface="Inter" pitchFamily="34" charset="0"/>
                <a:ea typeface="Inter" pitchFamily="34" charset="-122"/>
                <a:cs typeface="Inter" pitchFamily="34" charset="-120"/>
              </a:rPr>
              <a:t>Consultants and companies must provide complete documentation of AI processes and have a human expert validate all AI-generated outputs</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11" name="Object 10"/>
          <p:cNvSpPr/>
          <p:nvPr/>
        </p:nvSpPr>
        <p:spPr>
          <a:xfrm>
            <a:off x="8284678" y="2709185"/>
            <a:ext cx="714196" cy="714196"/>
          </a:xfrm>
          <a:prstGeom prst="ellipse">
            <a:avLst/>
          </a:prstGeom>
          <a:solidFill>
            <a:srgbClr val="FEC088"/>
          </a:solidFill>
        </p:spPr>
      </p:sp>
      <p:pic>
        <p:nvPicPr>
          <p:cNvPr id="12" name="Object 11"/>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457648" y="2907264"/>
            <a:ext cx="380905" cy="323769"/>
          </a:xfrm>
          <a:prstGeom prst="rect">
            <a:avLst/>
          </a:prstGeom>
        </p:spPr>
      </p:pic>
      <p:sp>
        <p:nvSpPr>
          <p:cNvPr id="13" name="Object 12"/>
          <p:cNvSpPr/>
          <p:nvPr/>
        </p:nvSpPr>
        <p:spPr>
          <a:xfrm>
            <a:off x="9189327" y="2662564"/>
            <a:ext cx="2775843" cy="800793"/>
          </a:xfrm>
          <a:prstGeom prst="rect">
            <a:avLst/>
          </a:prstGeom>
          <a:noFill/>
        </p:spPr>
        <p:txBody>
          <a:bodyPr wrap="square" lIns="0" tIns="0" rIns="0" bIns="0" rtlCol="0" anchor="t"/>
          <a:lstStyle/>
          <a:p>
            <a:pPr marL="0" marR="0" lvl="0" indent="0" algn="l" defTabSz="914400" rtl="0" eaLnBrk="1" fontAlgn="auto" latinLnBrk="0" hangingPunct="1">
              <a:lnSpc>
                <a:spcPts val="2102"/>
              </a:lnSpc>
              <a:spcBef>
                <a:spcPts val="0"/>
              </a:spcBef>
              <a:spcAft>
                <a:spcPts val="0"/>
              </a:spcAft>
              <a:buClrTx/>
              <a:buSzTx/>
              <a:buFontTx/>
              <a:buNone/>
              <a:tabLst/>
              <a:defRPr/>
            </a:pPr>
            <a:r>
              <a:rPr kumimoji="0" lang="en-US" sz="1800" b="1" i="0" u="none" strike="noStrike" kern="0" cap="none" spc="-108" normalizeH="0" baseline="0" noProof="0" dirty="0">
                <a:ln>
                  <a:noFill/>
                </a:ln>
                <a:solidFill>
                  <a:srgbClr val="333333"/>
                </a:solidFill>
                <a:effectLst/>
                <a:uLnTx/>
                <a:uFillTx/>
                <a:latin typeface="Inter" pitchFamily="34" charset="0"/>
                <a:ea typeface="Inter" pitchFamily="34" charset="-122"/>
                <a:cs typeface="Inter" pitchFamily="34" charset="-120"/>
              </a:rPr>
              <a:t>Respect UNFPA's human rights, privacy, and non-discrimination standards</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14" name="Object 13"/>
          <p:cNvSpPr/>
          <p:nvPr/>
        </p:nvSpPr>
        <p:spPr>
          <a:xfrm>
            <a:off x="9189327" y="3540530"/>
            <a:ext cx="2775843" cy="1584921"/>
          </a:xfrm>
          <a:prstGeom prst="rect">
            <a:avLst/>
          </a:prstGeom>
          <a:noFill/>
        </p:spPr>
        <p:txBody>
          <a:bodyPr wrap="square" lIns="0" tIns="0" rIns="0" bIns="0" rtlCol="0" anchor="t"/>
          <a:lstStyle/>
          <a:p>
            <a:pPr marL="0" marR="0" lvl="0" indent="0" algn="l" defTabSz="914400" rtl="0" eaLnBrk="1" fontAlgn="auto" latinLnBrk="0" hangingPunct="1">
              <a:lnSpc>
                <a:spcPts val="2081"/>
              </a:lnSpc>
              <a:spcBef>
                <a:spcPts val="596"/>
              </a:spcBef>
              <a:spcAft>
                <a:spcPts val="0"/>
              </a:spcAft>
              <a:buClrTx/>
              <a:buSzTx/>
              <a:buFontTx/>
              <a:buNone/>
              <a:tabLst/>
              <a:defRPr/>
            </a:pPr>
            <a:r>
              <a:rPr kumimoji="0" lang="en-US" sz="1500" b="0" i="0" u="none" strike="noStrike" kern="0" cap="none" spc="-30" normalizeH="0" baseline="0" noProof="0" dirty="0">
                <a:ln>
                  <a:noFill/>
                </a:ln>
                <a:solidFill>
                  <a:srgbClr val="000000">
                    <a:alpha val="56000"/>
                  </a:srgbClr>
                </a:solidFill>
                <a:effectLst/>
                <a:uLnTx/>
                <a:uFillTx/>
                <a:latin typeface="Inter" pitchFamily="34" charset="0"/>
                <a:ea typeface="Inter" pitchFamily="34" charset="-122"/>
                <a:cs typeface="Inter" pitchFamily="34" charset="-120"/>
              </a:rPr>
              <a:t>AI-powered evaluations must adhere to UNFPA's ethical principles, including protecting individual privacy and avoiding biased or discriminatory practices</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15" name="Object 14"/>
          <p:cNvSpPr/>
          <p:nvPr/>
        </p:nvSpPr>
        <p:spPr>
          <a:xfrm>
            <a:off x="0" y="5542164"/>
            <a:ext cx="12188952" cy="1314121"/>
          </a:xfrm>
          <a:prstGeom prst="rect">
            <a:avLst/>
          </a:prstGeom>
          <a:solidFill>
            <a:srgbClr val="FD864D"/>
          </a:solidFill>
        </p:spPr>
      </p:sp>
      <p:sp>
        <p:nvSpPr>
          <p:cNvPr id="16" name="Object 15"/>
          <p:cNvSpPr/>
          <p:nvPr/>
        </p:nvSpPr>
        <p:spPr>
          <a:xfrm>
            <a:off x="-90465" y="5864842"/>
            <a:ext cx="12369882" cy="667178"/>
          </a:xfrm>
          <a:prstGeom prst="rect">
            <a:avLst/>
          </a:prstGeom>
          <a:noFill/>
        </p:spPr>
        <p:txBody>
          <a:bodyPr wrap="square" lIns="0" tIns="0" rIns="0" bIns="0" rtlCol="0" anchor="ctr"/>
          <a:lstStyle/>
          <a:p>
            <a:pPr marL="0" marR="0" lvl="0" indent="0" algn="ctr" defTabSz="914400" rtl="0" eaLnBrk="1" fontAlgn="auto" latinLnBrk="0" hangingPunct="1">
              <a:lnSpc>
                <a:spcPts val="2628"/>
              </a:lnSpc>
              <a:spcBef>
                <a:spcPts val="0"/>
              </a:spcBef>
              <a:spcAft>
                <a:spcPts val="0"/>
              </a:spcAft>
              <a:buClrTx/>
              <a:buSzTx/>
              <a:buFontTx/>
              <a:buNone/>
              <a:tabLst/>
              <a:defRPr/>
            </a:pPr>
            <a:r>
              <a:rPr kumimoji="0" lang="en-US" sz="2250" b="1" i="0" u="none" strike="noStrike" kern="0" cap="none" spc="-135" normalizeH="0" baseline="0" noProof="0" dirty="0">
                <a:ln>
                  <a:noFill/>
                </a:ln>
                <a:solidFill>
                  <a:srgbClr val="333333"/>
                </a:solidFill>
                <a:effectLst/>
                <a:uLnTx/>
                <a:uFillTx/>
                <a:latin typeface="Inter" pitchFamily="34" charset="0"/>
                <a:ea typeface="Inter" pitchFamily="34" charset="-122"/>
                <a:cs typeface="Inter" pitchFamily="34" charset="-120"/>
              </a:rPr>
              <a:t>These ethical guidelines ensure responsible and accountable use of AI in UNFPA evaluations, prioritizing transparency, validation, and alignment with the organization's core values and principles.</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Tree>
    <p:extLst>
      <p:ext uri="{BB962C8B-B14F-4D97-AF65-F5344CB8AC3E}">
        <p14:creationId xmlns:p14="http://schemas.microsoft.com/office/powerpoint/2010/main" val="20849894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0" y="379020"/>
            <a:ext cx="12188952" cy="556081"/>
          </a:xfrm>
          <a:prstGeom prst="rect">
            <a:avLst/>
          </a:prstGeom>
          <a:noFill/>
        </p:spPr>
        <p:txBody>
          <a:bodyPr wrap="square" lIns="0" tIns="0" rIns="0" bIns="0" rtlCol="0" anchor="t"/>
          <a:lstStyle/>
          <a:p>
            <a:pPr marL="0" marR="0" lvl="0" indent="0" algn="ctr" defTabSz="914400" rtl="0" eaLnBrk="1" fontAlgn="auto" latinLnBrk="0" hangingPunct="1">
              <a:lnSpc>
                <a:spcPts val="4380"/>
              </a:lnSpc>
              <a:spcBef>
                <a:spcPts val="0"/>
              </a:spcBef>
              <a:spcAft>
                <a:spcPts val="0"/>
              </a:spcAft>
              <a:buClrTx/>
              <a:buSzTx/>
              <a:buFontTx/>
              <a:buNone/>
              <a:tabLst/>
              <a:defRPr/>
            </a:pPr>
            <a:r>
              <a:rPr kumimoji="0" lang="en-US" sz="3750" b="1" i="0" u="none" strike="noStrike" kern="0" cap="none" spc="-225" normalizeH="0" baseline="0" noProof="0" dirty="0">
                <a:ln>
                  <a:noFill/>
                </a:ln>
                <a:solidFill>
                  <a:srgbClr val="333333"/>
                </a:solidFill>
                <a:effectLst/>
                <a:uLnTx/>
                <a:uFillTx/>
                <a:latin typeface="Inter" pitchFamily="34" charset="0"/>
                <a:ea typeface="Inter" pitchFamily="34" charset="-122"/>
                <a:cs typeface="Inter" pitchFamily="34" charset="-120"/>
              </a:rPr>
              <a:t>Potential Harms at Different Levels</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3" name="Object 2"/>
          <p:cNvSpPr/>
          <p:nvPr/>
        </p:nvSpPr>
        <p:spPr>
          <a:xfrm>
            <a:off x="952262" y="1616564"/>
            <a:ext cx="5446938" cy="4353722"/>
          </a:xfrm>
          <a:prstGeom prst="rect">
            <a:avLst/>
          </a:prstGeom>
          <a:noFill/>
        </p:spPr>
        <p:txBody>
          <a:bodyPr wrap="square" lIns="0" tIns="0" rIns="0" bIns="0" rtlCol="0" anchor="t"/>
          <a:lstStyle/>
          <a:p>
            <a:pPr marL="242900" marR="0" lvl="0" indent="-242900" algn="l" defTabSz="914400" rtl="0" eaLnBrk="1" fontAlgn="auto" latinLnBrk="0" hangingPunct="1">
              <a:lnSpc>
                <a:spcPts val="2681"/>
              </a:lnSpc>
              <a:spcBef>
                <a:spcPts val="0"/>
              </a:spcBef>
              <a:spcAft>
                <a:spcPts val="0"/>
              </a:spcAft>
              <a:buClrTx/>
              <a:buSzPct val="100000"/>
              <a:buFontTx/>
              <a:buChar char="•"/>
              <a:tabLst/>
              <a:defRPr/>
            </a:pPr>
            <a:r>
              <a:rPr kumimoji="0" lang="en-US" sz="2295" b="1" i="0" u="none" strike="noStrike" kern="0" cap="none" spc="-138" normalizeH="0" baseline="0" noProof="0" dirty="0">
                <a:ln>
                  <a:noFill/>
                </a:ln>
                <a:solidFill>
                  <a:srgbClr val="333333"/>
                </a:solidFill>
                <a:effectLst/>
                <a:uLnTx/>
                <a:uFillTx/>
                <a:latin typeface="Inter" pitchFamily="34" charset="0"/>
                <a:ea typeface="Inter" pitchFamily="34" charset="-122"/>
                <a:cs typeface="Inter" pitchFamily="34" charset="-120"/>
              </a:rPr>
              <a:t>Breach of personal data privacy</a:t>
            </a:r>
          </a:p>
          <a:p>
            <a:pPr marL="457200" marR="0" lvl="1" indent="0" algn="l" defTabSz="914400" rtl="0" eaLnBrk="1" fontAlgn="auto" latinLnBrk="0" hangingPunct="1">
              <a:lnSpc>
                <a:spcPts val="2034"/>
              </a:lnSpc>
              <a:spcBef>
                <a:spcPts val="273"/>
              </a:spcBef>
              <a:spcAft>
                <a:spcPts val="0"/>
              </a:spcAft>
              <a:buClrTx/>
              <a:buSzTx/>
              <a:buFontTx/>
              <a:buNone/>
              <a:tabLst/>
              <a:defRPr/>
            </a:pPr>
            <a:r>
              <a:rPr kumimoji="0" lang="en-US" sz="1466" b="0" i="0" u="none" strike="noStrike" kern="0" cap="none" spc="-29" normalizeH="0" baseline="0" noProof="0" dirty="0">
                <a:ln>
                  <a:noFill/>
                </a:ln>
                <a:solidFill>
                  <a:srgbClr val="000000">
                    <a:alpha val="56000"/>
                  </a:srgbClr>
                </a:solidFill>
                <a:effectLst/>
                <a:uLnTx/>
                <a:uFillTx/>
                <a:latin typeface="Inter" pitchFamily="34" charset="0"/>
                <a:ea typeface="Inter" pitchFamily="34" charset="-122"/>
                <a:cs typeface="Inter" pitchFamily="34" charset="-120"/>
              </a:rPr>
              <a:t>Use of GenAI could lead to unauthorized access or leakage of sensitive personal information collected during evaluations, violating individual rights to privacy.</a:t>
            </a:r>
          </a:p>
          <a:p>
            <a:pPr marL="242900" marR="0" lvl="0" indent="-242900" algn="l" defTabSz="914400" rtl="0" eaLnBrk="1" fontAlgn="auto" latinLnBrk="0" hangingPunct="1">
              <a:lnSpc>
                <a:spcPts val="2681"/>
              </a:lnSpc>
              <a:spcBef>
                <a:spcPts val="2171"/>
              </a:spcBef>
              <a:spcAft>
                <a:spcPts val="0"/>
              </a:spcAft>
              <a:buClrTx/>
              <a:buSzPct val="100000"/>
              <a:buFontTx/>
              <a:buChar char="•"/>
              <a:tabLst/>
              <a:defRPr/>
            </a:pPr>
            <a:r>
              <a:rPr kumimoji="0" lang="en-US" sz="2295" b="1" i="0" u="none" strike="noStrike" kern="0" cap="none" spc="-138" normalizeH="0" baseline="0" noProof="0" dirty="0">
                <a:ln>
                  <a:noFill/>
                </a:ln>
                <a:solidFill>
                  <a:srgbClr val="333333"/>
                </a:solidFill>
                <a:effectLst/>
                <a:uLnTx/>
                <a:uFillTx/>
                <a:latin typeface="Inter" pitchFamily="34" charset="0"/>
                <a:ea typeface="Inter" pitchFamily="34" charset="-122"/>
                <a:cs typeface="Inter" pitchFamily="34" charset="-120"/>
              </a:rPr>
              <a:t>Algorithmic discrimination against minorities</a:t>
            </a:r>
          </a:p>
          <a:p>
            <a:pPr marL="457200" marR="0" lvl="1" indent="0" algn="l" defTabSz="914400" rtl="0" eaLnBrk="1" fontAlgn="auto" latinLnBrk="0" hangingPunct="1">
              <a:lnSpc>
                <a:spcPts val="2034"/>
              </a:lnSpc>
              <a:spcBef>
                <a:spcPts val="273"/>
              </a:spcBef>
              <a:spcAft>
                <a:spcPts val="0"/>
              </a:spcAft>
              <a:buClrTx/>
              <a:buSzTx/>
              <a:buFontTx/>
              <a:buNone/>
              <a:tabLst/>
              <a:defRPr/>
            </a:pPr>
            <a:r>
              <a:rPr kumimoji="0" lang="en-US" sz="1466" b="0" i="0" u="none" strike="noStrike" kern="0" cap="none" spc="-29" normalizeH="0" baseline="0" noProof="0" dirty="0">
                <a:ln>
                  <a:noFill/>
                </a:ln>
                <a:solidFill>
                  <a:srgbClr val="000000">
                    <a:alpha val="56000"/>
                  </a:srgbClr>
                </a:solidFill>
                <a:effectLst/>
                <a:uLnTx/>
                <a:uFillTx/>
                <a:latin typeface="Inter" pitchFamily="34" charset="0"/>
                <a:ea typeface="Inter" pitchFamily="34" charset="-122"/>
                <a:cs typeface="Inter" pitchFamily="34" charset="-120"/>
              </a:rPr>
              <a:t>If not carefully designed, GenAI models could exhibit biases and make decisions that unfairly disadvantage vulnerable or marginalized groups.</a:t>
            </a:r>
          </a:p>
          <a:p>
            <a:pPr marL="242900" marR="0" lvl="0" indent="-242900" algn="l" defTabSz="914400" rtl="0" eaLnBrk="1" fontAlgn="auto" latinLnBrk="0" hangingPunct="1">
              <a:lnSpc>
                <a:spcPts val="2681"/>
              </a:lnSpc>
              <a:spcBef>
                <a:spcPts val="2171"/>
              </a:spcBef>
              <a:spcAft>
                <a:spcPts val="0"/>
              </a:spcAft>
              <a:buClrTx/>
              <a:buSzPct val="100000"/>
              <a:buFontTx/>
              <a:buChar char="•"/>
              <a:tabLst/>
              <a:defRPr/>
            </a:pPr>
            <a:r>
              <a:rPr kumimoji="0" lang="en-US" sz="2295" b="1" i="0" u="none" strike="noStrike" kern="0" cap="none" spc="-138" normalizeH="0" baseline="0" noProof="0" dirty="0">
                <a:ln>
                  <a:noFill/>
                </a:ln>
                <a:solidFill>
                  <a:srgbClr val="333333"/>
                </a:solidFill>
                <a:effectLst/>
                <a:uLnTx/>
                <a:uFillTx/>
                <a:latin typeface="Inter" pitchFamily="34" charset="0"/>
                <a:ea typeface="Inter" pitchFamily="34" charset="-122"/>
                <a:cs typeface="Inter" pitchFamily="34" charset="-120"/>
              </a:rPr>
              <a:t>Loss of trust in evaluation outcomes</a:t>
            </a:r>
          </a:p>
          <a:p>
            <a:pPr marL="457200" marR="0" lvl="1" indent="0" algn="l" defTabSz="914400" rtl="0" eaLnBrk="1" fontAlgn="auto" latinLnBrk="0" hangingPunct="1">
              <a:lnSpc>
                <a:spcPts val="2034"/>
              </a:lnSpc>
              <a:spcBef>
                <a:spcPts val="273"/>
              </a:spcBef>
              <a:spcAft>
                <a:spcPts val="0"/>
              </a:spcAft>
              <a:buClrTx/>
              <a:buSzTx/>
              <a:buFontTx/>
              <a:buNone/>
              <a:tabLst/>
              <a:defRPr/>
            </a:pPr>
            <a:r>
              <a:rPr kumimoji="0" lang="en-US" sz="1466" b="0" i="0" u="none" strike="noStrike" kern="0" cap="none" spc="-29" normalizeH="0" baseline="0" noProof="0" dirty="0">
                <a:ln>
                  <a:noFill/>
                </a:ln>
                <a:solidFill>
                  <a:srgbClr val="000000">
                    <a:alpha val="56000"/>
                  </a:srgbClr>
                </a:solidFill>
                <a:effectLst/>
                <a:uLnTx/>
                <a:uFillTx/>
                <a:latin typeface="Inter" pitchFamily="34" charset="0"/>
                <a:ea typeface="Inter" pitchFamily="34" charset="-122"/>
                <a:cs typeface="Inter" pitchFamily="34" charset="-120"/>
              </a:rPr>
              <a:t>Over-reliance on GenAI or transparency issues around its use could erode stakeholder confidence in the credibility and fairness of evaluation findings.</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4" name="Object 3"/>
          <p:cNvSpPr/>
          <p:nvPr/>
        </p:nvSpPr>
        <p:spPr>
          <a:xfrm>
            <a:off x="6284928" y="1616564"/>
            <a:ext cx="5446938" cy="2581820"/>
          </a:xfrm>
          <a:prstGeom prst="rect">
            <a:avLst/>
          </a:prstGeom>
          <a:noFill/>
        </p:spPr>
        <p:txBody>
          <a:bodyPr wrap="square" lIns="0" tIns="0" rIns="0" bIns="0" rtlCol="0" anchor="t"/>
          <a:lstStyle/>
          <a:p>
            <a:pPr marL="242900" marR="0" lvl="0" indent="-242900" algn="l" defTabSz="914400" rtl="0" eaLnBrk="1" fontAlgn="auto" latinLnBrk="0" hangingPunct="1">
              <a:lnSpc>
                <a:spcPts val="2681"/>
              </a:lnSpc>
              <a:spcBef>
                <a:spcPts val="0"/>
              </a:spcBef>
              <a:spcAft>
                <a:spcPts val="0"/>
              </a:spcAft>
              <a:buClrTx/>
              <a:buSzPct val="100000"/>
              <a:buFontTx/>
              <a:buChar char="•"/>
              <a:tabLst/>
              <a:defRPr/>
            </a:pPr>
            <a:r>
              <a:rPr kumimoji="0" lang="en-US" sz="2295" b="1" i="0" u="none" strike="noStrike" kern="0" cap="none" spc="-138" normalizeH="0" baseline="0" noProof="0" dirty="0">
                <a:ln>
                  <a:noFill/>
                </a:ln>
                <a:solidFill>
                  <a:srgbClr val="333333"/>
                </a:solidFill>
                <a:effectLst/>
                <a:uLnTx/>
                <a:uFillTx/>
                <a:latin typeface="Inter" pitchFamily="34" charset="0"/>
                <a:ea typeface="Inter" pitchFamily="34" charset="-122"/>
                <a:cs typeface="Inter" pitchFamily="34" charset="-120"/>
              </a:rPr>
              <a:t>Reputational damage</a:t>
            </a:r>
          </a:p>
          <a:p>
            <a:pPr marL="457200" marR="0" lvl="1" indent="0" algn="l" defTabSz="914400" rtl="0" eaLnBrk="1" fontAlgn="auto" latinLnBrk="0" hangingPunct="1">
              <a:lnSpc>
                <a:spcPts val="2034"/>
              </a:lnSpc>
              <a:spcBef>
                <a:spcPts val="273"/>
              </a:spcBef>
              <a:spcAft>
                <a:spcPts val="0"/>
              </a:spcAft>
              <a:buClrTx/>
              <a:buSzTx/>
              <a:buFontTx/>
              <a:buNone/>
              <a:tabLst/>
              <a:defRPr/>
            </a:pPr>
            <a:r>
              <a:rPr kumimoji="0" lang="en-US" sz="1466" b="0" i="0" u="none" strike="noStrike" kern="0" cap="none" spc="-29" normalizeH="0" baseline="0" noProof="0" dirty="0">
                <a:ln>
                  <a:noFill/>
                </a:ln>
                <a:solidFill>
                  <a:srgbClr val="000000">
                    <a:alpha val="56000"/>
                  </a:srgbClr>
                </a:solidFill>
                <a:effectLst/>
                <a:uLnTx/>
                <a:uFillTx/>
                <a:latin typeface="Inter" pitchFamily="34" charset="0"/>
                <a:ea typeface="Inter" pitchFamily="34" charset="-122"/>
                <a:cs typeface="Inter" pitchFamily="34" charset="-120"/>
              </a:rPr>
              <a:t>Misuse of GenAI or associated scandals could tarnish UNFPA's reputation as a leader in ethical, responsible evaluation practices.</a:t>
            </a:r>
          </a:p>
          <a:p>
            <a:pPr marL="242900" marR="0" lvl="0" indent="-242900" algn="l" defTabSz="914400" rtl="0" eaLnBrk="1" fontAlgn="auto" latinLnBrk="0" hangingPunct="1">
              <a:lnSpc>
                <a:spcPts val="2681"/>
              </a:lnSpc>
              <a:spcBef>
                <a:spcPts val="2171"/>
              </a:spcBef>
              <a:spcAft>
                <a:spcPts val="0"/>
              </a:spcAft>
              <a:buClrTx/>
              <a:buSzPct val="100000"/>
              <a:buFontTx/>
              <a:buChar char="•"/>
              <a:tabLst/>
              <a:defRPr/>
            </a:pPr>
            <a:r>
              <a:rPr kumimoji="0" lang="en-US" sz="2295" b="1" i="0" u="none" strike="noStrike" kern="0" cap="none" spc="-138" normalizeH="0" baseline="0" noProof="0" dirty="0">
                <a:ln>
                  <a:noFill/>
                </a:ln>
                <a:solidFill>
                  <a:srgbClr val="333333"/>
                </a:solidFill>
                <a:effectLst/>
                <a:uLnTx/>
                <a:uFillTx/>
                <a:latin typeface="Inter" pitchFamily="34" charset="0"/>
                <a:ea typeface="Inter" pitchFamily="34" charset="-122"/>
                <a:cs typeface="Inter" pitchFamily="34" charset="-120"/>
              </a:rPr>
              <a:t>Carbon footprint of AI technologies</a:t>
            </a:r>
          </a:p>
          <a:p>
            <a:pPr marL="457200" marR="0" lvl="1" indent="0" algn="l" defTabSz="914400" rtl="0" eaLnBrk="1" fontAlgn="auto" latinLnBrk="0" hangingPunct="1">
              <a:lnSpc>
                <a:spcPts val="2034"/>
              </a:lnSpc>
              <a:spcBef>
                <a:spcPts val="273"/>
              </a:spcBef>
              <a:spcAft>
                <a:spcPts val="0"/>
              </a:spcAft>
              <a:buClrTx/>
              <a:buSzTx/>
              <a:buFontTx/>
              <a:buNone/>
              <a:tabLst/>
              <a:defRPr/>
            </a:pPr>
            <a:r>
              <a:rPr kumimoji="0" lang="en-US" sz="1466" b="0" i="0" u="none" strike="noStrike" kern="0" cap="none" spc="-29" normalizeH="0" baseline="0" noProof="0" dirty="0">
                <a:ln>
                  <a:noFill/>
                </a:ln>
                <a:solidFill>
                  <a:srgbClr val="000000">
                    <a:alpha val="56000"/>
                  </a:srgbClr>
                </a:solidFill>
                <a:effectLst/>
                <a:uLnTx/>
                <a:uFillTx/>
                <a:latin typeface="Inter" pitchFamily="34" charset="0"/>
                <a:ea typeface="Inter" pitchFamily="34" charset="-122"/>
                <a:cs typeface="Inter" pitchFamily="34" charset="-120"/>
              </a:rPr>
              <a:t>The energy-intensive nature of running large language models and AI infrastructure could contribute to UNFPA's environmental impact if not properly managed.</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5" name="Object 4"/>
          <p:cNvSpPr/>
          <p:nvPr/>
        </p:nvSpPr>
        <p:spPr>
          <a:xfrm>
            <a:off x="11798525" y="6497898"/>
            <a:ext cx="199975" cy="237669"/>
          </a:xfrm>
          <a:prstGeom prst="rect">
            <a:avLst/>
          </a:prstGeom>
          <a:noFill/>
        </p:spPr>
      </p:sp>
      <p:sp>
        <p:nvSpPr>
          <p:cNvPr id="25" name="Slide Number Placeholder 24"/>
          <p:cNvSpPr>
            <a:spLocks noGrp="1"/>
          </p:cNvSpPr>
          <p:nvPr>
            <p:ph type="sldNum" sz="quarter" idx="4294967295"/>
          </p:nvPr>
        </p:nvSpPr>
        <p:spPr>
          <a:xfrm>
            <a:off x="11826240" y="6515100"/>
            <a:ext cx="800000" cy="300000"/>
          </a:xfrm>
          <a:prstGeom prst="rect">
            <a:avLst/>
          </a:prstGeom>
          <a:extLst>
            <a:ext uri="{C572A759-6A51-4108-AA02-DFA0A04FC94B}">
              <ma14:wrappingTextBoxFlag xmlns="" xmlns:ma14="http://schemas.microsoft.com/office/mac/drawingml/2011/main" val="0"/>
            </a:ext>
          </a:extLst>
        </p:spPr>
        <p:txBody>
          <a:bodyPr/>
          <a:lstStyle>
            <a:lvl1pPr>
              <a:defRPr sz="1100"/>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100" b="0" i="0" u="none" strike="noStrike" kern="1200" cap="none" spc="0" normalizeH="0" baseline="0" noProof="0" smtClean="0">
                <a:ln>
                  <a:noFill/>
                </a:ln>
                <a:solidFill>
                  <a:prstClr val="black"/>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16</a:t>
            </a:fld>
            <a:endParaRPr kumimoji="0" lang="en-US" sz="1100" b="0" i="0" u="none" strike="noStrike" kern="1200" cap="none" spc="0" normalizeH="0" baseline="0" noProof="0">
              <a:ln>
                <a:noFill/>
              </a:ln>
              <a:solidFill>
                <a:prstClr val="black"/>
              </a:solidFill>
              <a:effectLst/>
              <a:uLnTx/>
              <a:uFillTx/>
              <a:latin typeface="Arial"/>
              <a:ea typeface="+mn-ea"/>
              <a:cs typeface="+mn-cs"/>
            </a:endParaRPr>
          </a:p>
        </p:txBody>
      </p:sp>
    </p:spTree>
    <p:extLst>
      <p:ext uri="{BB962C8B-B14F-4D97-AF65-F5344CB8AC3E}">
        <p14:creationId xmlns:p14="http://schemas.microsoft.com/office/powerpoint/2010/main" val="32683360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0" y="379020"/>
            <a:ext cx="12188952" cy="556081"/>
          </a:xfrm>
          <a:prstGeom prst="rect">
            <a:avLst/>
          </a:prstGeom>
          <a:noFill/>
        </p:spPr>
        <p:txBody>
          <a:bodyPr wrap="square" lIns="0" tIns="0" rIns="0" bIns="0" rtlCol="0" anchor="t"/>
          <a:lstStyle/>
          <a:p>
            <a:pPr marL="0" marR="0" lvl="0" indent="0" algn="ctr" defTabSz="914400" rtl="0" eaLnBrk="1" fontAlgn="auto" latinLnBrk="0" hangingPunct="1">
              <a:lnSpc>
                <a:spcPts val="4380"/>
              </a:lnSpc>
              <a:spcBef>
                <a:spcPts val="0"/>
              </a:spcBef>
              <a:spcAft>
                <a:spcPts val="0"/>
              </a:spcAft>
              <a:buClrTx/>
              <a:buSzTx/>
              <a:buFontTx/>
              <a:buNone/>
              <a:tabLst/>
              <a:defRPr/>
            </a:pPr>
            <a:r>
              <a:rPr kumimoji="0" lang="en-US" sz="3750" b="1" i="0" u="none" strike="noStrike" kern="0" cap="none" spc="-225" normalizeH="0" baseline="0" noProof="0" dirty="0">
                <a:ln>
                  <a:noFill/>
                </a:ln>
                <a:effectLst/>
                <a:uLnTx/>
                <a:uFillTx/>
                <a:latin typeface="Inter" pitchFamily="34" charset="0"/>
                <a:ea typeface="Inter" pitchFamily="34" charset="-122"/>
                <a:cs typeface="Inter" pitchFamily="34" charset="-120"/>
              </a:rPr>
              <a:t>Risk Mitigation Strategies</a:t>
            </a:r>
            <a:endParaRPr kumimoji="0" lang="en-US" sz="1800" b="0" i="0" u="none" strike="noStrike" kern="1200" cap="none" spc="0" normalizeH="0" baseline="0" noProof="0" dirty="0">
              <a:ln>
                <a:noFill/>
              </a:ln>
              <a:effectLst/>
              <a:uLnTx/>
              <a:uFillTx/>
              <a:latin typeface="Arial"/>
              <a:ea typeface="+mn-ea"/>
              <a:cs typeface="+mn-cs"/>
            </a:endParaRPr>
          </a:p>
        </p:txBody>
      </p:sp>
      <p:pic>
        <p:nvPicPr>
          <p:cNvPr id="3" name="Object 2"/>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42716" y="1875956"/>
            <a:ext cx="3323394" cy="895126"/>
          </a:xfrm>
          <a:prstGeom prst="rect">
            <a:avLst/>
          </a:prstGeom>
        </p:spPr>
      </p:pic>
      <p:pic>
        <p:nvPicPr>
          <p:cNvPr id="4" name="Object 3"/>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0" y="1395350"/>
            <a:ext cx="1152237" cy="1276031"/>
          </a:xfrm>
          <a:prstGeom prst="rect">
            <a:avLst/>
          </a:prstGeom>
        </p:spPr>
      </p:pic>
      <p:sp>
        <p:nvSpPr>
          <p:cNvPr id="5" name="Object 4"/>
          <p:cNvSpPr/>
          <p:nvPr/>
        </p:nvSpPr>
        <p:spPr>
          <a:xfrm>
            <a:off x="1333167" y="2071765"/>
            <a:ext cx="2597880" cy="498152"/>
          </a:xfrm>
          <a:prstGeom prst="rect">
            <a:avLst/>
          </a:prstGeom>
          <a:noFill/>
        </p:spPr>
        <p:txBody>
          <a:bodyPr wrap="square" lIns="0" tIns="0" rIns="0" bIns="0" rtlCol="0" anchor="ctr"/>
          <a:lstStyle/>
          <a:p>
            <a:pPr marL="0" marR="0" lvl="0" indent="0" algn="l" defTabSz="914400" rtl="0" eaLnBrk="1" fontAlgn="auto" latinLnBrk="0" hangingPunct="1">
              <a:lnSpc>
                <a:spcPts val="1962"/>
              </a:lnSpc>
              <a:spcBef>
                <a:spcPts val="0"/>
              </a:spcBef>
              <a:spcAft>
                <a:spcPts val="0"/>
              </a:spcAft>
              <a:buClrTx/>
              <a:buSzTx/>
              <a:buFontTx/>
              <a:buNone/>
              <a:tabLst/>
              <a:defRPr/>
            </a:pPr>
            <a:r>
              <a:rPr kumimoji="0" lang="en-US" sz="1680" b="1" i="0" u="none" strike="noStrike" kern="0" cap="none" spc="-101" normalizeH="0" baseline="0" noProof="0" dirty="0">
                <a:ln>
                  <a:noFill/>
                </a:ln>
                <a:solidFill>
                  <a:srgbClr val="333333"/>
                </a:solidFill>
                <a:effectLst/>
                <a:uLnTx/>
                <a:uFillTx/>
                <a:latin typeface="Inter" pitchFamily="34" charset="0"/>
                <a:ea typeface="Inter" pitchFamily="34" charset="-122"/>
                <a:cs typeface="Inter" pitchFamily="34" charset="-120"/>
              </a:rPr>
              <a:t>Strong Encryption and Privacy Compliance</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pic>
        <p:nvPicPr>
          <p:cNvPr id="6" name="Object 5"/>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42716" y="2859167"/>
            <a:ext cx="10570107" cy="895126"/>
          </a:xfrm>
          <a:prstGeom prst="rect">
            <a:avLst/>
          </a:prstGeom>
        </p:spPr>
      </p:pic>
      <p:pic>
        <p:nvPicPr>
          <p:cNvPr id="7" name="Object 6"/>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0" y="2688998"/>
            <a:ext cx="1152237" cy="971307"/>
          </a:xfrm>
          <a:prstGeom prst="rect">
            <a:avLst/>
          </a:prstGeom>
        </p:spPr>
      </p:pic>
      <p:sp>
        <p:nvSpPr>
          <p:cNvPr id="8" name="Object 7"/>
          <p:cNvSpPr/>
          <p:nvPr/>
        </p:nvSpPr>
        <p:spPr>
          <a:xfrm>
            <a:off x="1333167" y="3178769"/>
            <a:ext cx="10570107" cy="249076"/>
          </a:xfrm>
          <a:prstGeom prst="rect">
            <a:avLst/>
          </a:prstGeom>
          <a:noFill/>
        </p:spPr>
        <p:txBody>
          <a:bodyPr wrap="square" lIns="0" tIns="0" rIns="0" bIns="0" rtlCol="0" anchor="ctr"/>
          <a:lstStyle/>
          <a:p>
            <a:pPr marL="0" marR="0" lvl="0" indent="0" algn="l" defTabSz="914400" rtl="0" eaLnBrk="1" fontAlgn="auto" latinLnBrk="0" hangingPunct="1">
              <a:lnSpc>
                <a:spcPts val="1962"/>
              </a:lnSpc>
              <a:spcBef>
                <a:spcPts val="0"/>
              </a:spcBef>
              <a:spcAft>
                <a:spcPts val="0"/>
              </a:spcAft>
              <a:buClrTx/>
              <a:buSzTx/>
              <a:buFontTx/>
              <a:buNone/>
              <a:tabLst/>
              <a:defRPr/>
            </a:pPr>
            <a:r>
              <a:rPr kumimoji="0" lang="en-US" sz="1680" b="1" i="0" u="none" strike="noStrike" kern="0" cap="none" spc="-101" normalizeH="0" baseline="0" noProof="0" dirty="0">
                <a:ln>
                  <a:noFill/>
                </a:ln>
                <a:solidFill>
                  <a:srgbClr val="333333"/>
                </a:solidFill>
                <a:effectLst/>
                <a:uLnTx/>
                <a:uFillTx/>
                <a:latin typeface="Inter" pitchFamily="34" charset="0"/>
                <a:ea typeface="Inter" pitchFamily="34" charset="-122"/>
                <a:cs typeface="Inter" pitchFamily="34" charset="-120"/>
              </a:rPr>
              <a:t>Human Oversight for Every AI-Assisted Output</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pic>
        <p:nvPicPr>
          <p:cNvPr id="9" name="Object 8"/>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142716" y="3842377"/>
            <a:ext cx="5742139" cy="895126"/>
          </a:xfrm>
          <a:prstGeom prst="rect">
            <a:avLst/>
          </a:prstGeom>
        </p:spPr>
      </p:pic>
      <p:pic>
        <p:nvPicPr>
          <p:cNvPr id="10" name="Object 9"/>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0" y="3937603"/>
            <a:ext cx="1152237" cy="971307"/>
          </a:xfrm>
          <a:prstGeom prst="rect">
            <a:avLst/>
          </a:prstGeom>
        </p:spPr>
      </p:pic>
      <p:sp>
        <p:nvSpPr>
          <p:cNvPr id="11" name="Object 10"/>
          <p:cNvSpPr/>
          <p:nvPr/>
        </p:nvSpPr>
        <p:spPr>
          <a:xfrm>
            <a:off x="1333167" y="4161980"/>
            <a:ext cx="5258390" cy="249076"/>
          </a:xfrm>
          <a:prstGeom prst="rect">
            <a:avLst/>
          </a:prstGeom>
          <a:noFill/>
        </p:spPr>
        <p:txBody>
          <a:bodyPr wrap="square" lIns="0" tIns="0" rIns="0" bIns="0" rtlCol="0" anchor="ctr"/>
          <a:lstStyle/>
          <a:p>
            <a:pPr marL="0" marR="0" lvl="0" indent="0" algn="l" defTabSz="914400" rtl="0" eaLnBrk="1" fontAlgn="auto" latinLnBrk="0" hangingPunct="1">
              <a:lnSpc>
                <a:spcPts val="1962"/>
              </a:lnSpc>
              <a:spcBef>
                <a:spcPts val="0"/>
              </a:spcBef>
              <a:spcAft>
                <a:spcPts val="0"/>
              </a:spcAft>
              <a:buClrTx/>
              <a:buSzTx/>
              <a:buFontTx/>
              <a:buNone/>
              <a:tabLst/>
              <a:defRPr/>
            </a:pPr>
            <a:r>
              <a:rPr kumimoji="0" lang="en-US" sz="1680" b="1" i="0" u="none" strike="noStrike" kern="0" cap="none" spc="-101" normalizeH="0" baseline="0" noProof="0" dirty="0">
                <a:ln>
                  <a:noFill/>
                </a:ln>
                <a:solidFill>
                  <a:srgbClr val="333333"/>
                </a:solidFill>
                <a:effectLst/>
                <a:uLnTx/>
                <a:uFillTx/>
                <a:latin typeface="Inter" pitchFamily="34" charset="0"/>
                <a:ea typeface="Inter" pitchFamily="34" charset="-122"/>
                <a:cs typeface="Inter" pitchFamily="34" charset="-120"/>
              </a:rPr>
              <a:t>Ethical Compliance Audits</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pic>
        <p:nvPicPr>
          <p:cNvPr id="12" name="Object 11"/>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142716" y="4825588"/>
            <a:ext cx="8151362" cy="895126"/>
          </a:xfrm>
          <a:prstGeom prst="rect">
            <a:avLst/>
          </a:prstGeom>
        </p:spPr>
      </p:pic>
      <p:pic>
        <p:nvPicPr>
          <p:cNvPr id="13" name="Object 12"/>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0" y="4920814"/>
            <a:ext cx="1152237" cy="1276031"/>
          </a:xfrm>
          <a:prstGeom prst="rect">
            <a:avLst/>
          </a:prstGeom>
        </p:spPr>
      </p:pic>
      <p:sp>
        <p:nvSpPr>
          <p:cNvPr id="14" name="Object 13"/>
          <p:cNvSpPr/>
          <p:nvPr/>
        </p:nvSpPr>
        <p:spPr>
          <a:xfrm>
            <a:off x="1333167" y="5145190"/>
            <a:ext cx="7919010" cy="249076"/>
          </a:xfrm>
          <a:prstGeom prst="rect">
            <a:avLst/>
          </a:prstGeom>
          <a:noFill/>
        </p:spPr>
        <p:txBody>
          <a:bodyPr wrap="square" lIns="0" tIns="0" rIns="0" bIns="0" rtlCol="0" anchor="ctr"/>
          <a:lstStyle/>
          <a:p>
            <a:pPr marL="0" marR="0" lvl="0" indent="0" algn="l" defTabSz="914400" rtl="0" eaLnBrk="1" fontAlgn="auto" latinLnBrk="0" hangingPunct="1">
              <a:lnSpc>
                <a:spcPts val="1962"/>
              </a:lnSpc>
              <a:spcBef>
                <a:spcPts val="0"/>
              </a:spcBef>
              <a:spcAft>
                <a:spcPts val="0"/>
              </a:spcAft>
              <a:buClrTx/>
              <a:buSzTx/>
              <a:buFontTx/>
              <a:buNone/>
              <a:tabLst/>
              <a:defRPr/>
            </a:pPr>
            <a:r>
              <a:rPr kumimoji="0" lang="en-US" sz="1680" b="1" i="0" u="none" strike="noStrike" kern="0" cap="none" spc="-101" normalizeH="0" baseline="0" noProof="0" dirty="0">
                <a:ln>
                  <a:noFill/>
                </a:ln>
                <a:solidFill>
                  <a:srgbClr val="333333"/>
                </a:solidFill>
                <a:effectLst/>
                <a:uLnTx/>
                <a:uFillTx/>
                <a:latin typeface="Inter" pitchFamily="34" charset="0"/>
                <a:ea typeface="Inter" pitchFamily="34" charset="-122"/>
                <a:cs typeface="Inter" pitchFamily="34" charset="-120"/>
              </a:rPr>
              <a:t>Transparency and Sustainability in Tool Selection</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15" name="Object 14"/>
          <p:cNvSpPr/>
          <p:nvPr/>
        </p:nvSpPr>
        <p:spPr>
          <a:xfrm>
            <a:off x="11798525" y="6497898"/>
            <a:ext cx="199975" cy="237669"/>
          </a:xfrm>
          <a:prstGeom prst="rect">
            <a:avLst/>
          </a:prstGeom>
          <a:noFill/>
        </p:spPr>
      </p:sp>
      <p:sp>
        <p:nvSpPr>
          <p:cNvPr id="25" name="Slide Number Placeholder 24"/>
          <p:cNvSpPr>
            <a:spLocks noGrp="1"/>
          </p:cNvSpPr>
          <p:nvPr>
            <p:ph type="sldNum" sz="quarter" idx="4294967295"/>
          </p:nvPr>
        </p:nvSpPr>
        <p:spPr>
          <a:xfrm>
            <a:off x="11826240" y="6515100"/>
            <a:ext cx="800000" cy="300000"/>
          </a:xfrm>
          <a:prstGeom prst="rect">
            <a:avLst/>
          </a:prstGeom>
          <a:extLst>
            <a:ext uri="{C572A759-6A51-4108-AA02-DFA0A04FC94B}">
              <ma14:wrappingTextBoxFlag xmlns="" xmlns:ma14="http://schemas.microsoft.com/office/mac/drawingml/2011/main" val="0"/>
            </a:ext>
          </a:extLst>
        </p:spPr>
        <p:txBody>
          <a:bodyPr/>
          <a:lstStyle>
            <a:lvl1pPr>
              <a:defRPr sz="1100"/>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100" b="0" i="0" u="none" strike="noStrike" kern="1200" cap="none" spc="0" normalizeH="0" baseline="0" noProof="0" smtClean="0">
                <a:ln>
                  <a:noFill/>
                </a:ln>
                <a:solidFill>
                  <a:prstClr val="black"/>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17</a:t>
            </a:fld>
            <a:endParaRPr kumimoji="0" lang="en-US" sz="1100" b="0" i="0" u="none" strike="noStrike" kern="1200" cap="none" spc="0" normalizeH="0" baseline="0" noProof="0">
              <a:ln>
                <a:noFill/>
              </a:ln>
              <a:solidFill>
                <a:prstClr val="black"/>
              </a:solidFill>
              <a:effectLst/>
              <a:uLnTx/>
              <a:uFillTx/>
              <a:latin typeface="Arial"/>
              <a:ea typeface="+mn-ea"/>
              <a:cs typeface="+mn-cs"/>
            </a:endParaRPr>
          </a:p>
        </p:txBody>
      </p:sp>
    </p:spTree>
    <p:extLst>
      <p:ext uri="{BB962C8B-B14F-4D97-AF65-F5344CB8AC3E}">
        <p14:creationId xmlns:p14="http://schemas.microsoft.com/office/powerpoint/2010/main" val="22214607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0" y="379020"/>
            <a:ext cx="12188952" cy="556081"/>
          </a:xfrm>
          <a:prstGeom prst="rect">
            <a:avLst/>
          </a:prstGeom>
          <a:noFill/>
        </p:spPr>
        <p:txBody>
          <a:bodyPr wrap="square" lIns="0" tIns="0" rIns="0" bIns="0" rtlCol="0" anchor="t"/>
          <a:lstStyle/>
          <a:p>
            <a:pPr marL="0" marR="0" lvl="0" indent="0" algn="ctr" defTabSz="914400" rtl="0" eaLnBrk="1" fontAlgn="auto" latinLnBrk="0" hangingPunct="1">
              <a:lnSpc>
                <a:spcPts val="4380"/>
              </a:lnSpc>
              <a:spcBef>
                <a:spcPts val="0"/>
              </a:spcBef>
              <a:spcAft>
                <a:spcPts val="0"/>
              </a:spcAft>
              <a:buClrTx/>
              <a:buSzTx/>
              <a:buFontTx/>
              <a:buNone/>
              <a:tabLst/>
              <a:defRPr/>
            </a:pPr>
            <a:r>
              <a:rPr kumimoji="0" lang="en-US" sz="3750" b="1" i="0" u="none" strike="noStrike" kern="0" cap="none" spc="-225" normalizeH="0" baseline="0" noProof="0" dirty="0">
                <a:ln>
                  <a:noFill/>
                </a:ln>
                <a:effectLst/>
                <a:uLnTx/>
                <a:uFillTx/>
                <a:latin typeface="Inter" pitchFamily="34" charset="0"/>
                <a:ea typeface="Inter" pitchFamily="34" charset="-122"/>
                <a:cs typeface="Inter" pitchFamily="34" charset="-120"/>
              </a:rPr>
              <a:t>Risk Mitigation Measures</a:t>
            </a:r>
            <a:endParaRPr kumimoji="0" lang="en-US" sz="1800" b="0" i="0" u="none" strike="noStrike" kern="1200" cap="none" spc="0" normalizeH="0" baseline="0" noProof="0" dirty="0">
              <a:ln>
                <a:noFill/>
              </a:ln>
              <a:effectLst/>
              <a:uLnTx/>
              <a:uFillTx/>
              <a:latin typeface="Arial"/>
              <a:ea typeface="+mn-ea"/>
              <a:cs typeface="+mn-cs"/>
            </a:endParaRPr>
          </a:p>
        </p:txBody>
      </p:sp>
      <p:sp>
        <p:nvSpPr>
          <p:cNvPr id="3" name="Object 2"/>
          <p:cNvSpPr/>
          <p:nvPr/>
        </p:nvSpPr>
        <p:spPr>
          <a:xfrm>
            <a:off x="1095101" y="1661697"/>
            <a:ext cx="714196" cy="714196"/>
          </a:xfrm>
          <a:prstGeom prst="ellipse">
            <a:avLst/>
          </a:prstGeom>
          <a:solidFill>
            <a:srgbClr val="22AAEE"/>
          </a:solidFill>
        </p:spPr>
      </p:sp>
      <p:pic>
        <p:nvPicPr>
          <p:cNvPr id="4" name="Object 3"/>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297362" y="1843036"/>
            <a:ext cx="314246" cy="352337"/>
          </a:xfrm>
          <a:prstGeom prst="rect">
            <a:avLst/>
          </a:prstGeom>
        </p:spPr>
      </p:pic>
      <p:sp>
        <p:nvSpPr>
          <p:cNvPr id="5" name="Object 4"/>
          <p:cNvSpPr/>
          <p:nvPr/>
        </p:nvSpPr>
        <p:spPr>
          <a:xfrm>
            <a:off x="1999750" y="1615076"/>
            <a:ext cx="4242327" cy="533862"/>
          </a:xfrm>
          <a:prstGeom prst="rect">
            <a:avLst/>
          </a:prstGeom>
          <a:noFill/>
        </p:spPr>
        <p:txBody>
          <a:bodyPr wrap="square" lIns="0" tIns="0" rIns="0" bIns="0" rtlCol="0" anchor="t"/>
          <a:lstStyle/>
          <a:p>
            <a:pPr marL="0" marR="0" lvl="0" indent="0" algn="l" defTabSz="914400" rtl="0" eaLnBrk="1" fontAlgn="auto" latinLnBrk="0" hangingPunct="1">
              <a:lnSpc>
                <a:spcPts val="2102"/>
              </a:lnSpc>
              <a:spcBef>
                <a:spcPts val="0"/>
              </a:spcBef>
              <a:spcAft>
                <a:spcPts val="0"/>
              </a:spcAft>
              <a:buClrTx/>
              <a:buSzTx/>
              <a:buFontTx/>
              <a:buNone/>
              <a:tabLst/>
              <a:defRPr/>
            </a:pPr>
            <a:r>
              <a:rPr kumimoji="0" lang="en-US" sz="1800" b="1" i="0" u="none" strike="noStrike" kern="0" cap="none" spc="-108" normalizeH="0" baseline="0" noProof="0" dirty="0">
                <a:ln>
                  <a:noFill/>
                </a:ln>
                <a:effectLst/>
                <a:uLnTx/>
                <a:uFillTx/>
                <a:latin typeface="Inter" pitchFamily="34" charset="0"/>
                <a:ea typeface="Inter" pitchFamily="34" charset="-122"/>
                <a:cs typeface="Inter" pitchFamily="34" charset="-120"/>
              </a:rPr>
              <a:t>Encrypt and protect sensitive evaluation data</a:t>
            </a:r>
            <a:endParaRPr kumimoji="0" lang="en-US" sz="1800" b="0" i="0" u="none" strike="noStrike" kern="1200" cap="none" spc="0" normalizeH="0" baseline="0" noProof="0" dirty="0">
              <a:ln>
                <a:noFill/>
              </a:ln>
              <a:effectLst/>
              <a:uLnTx/>
              <a:uFillTx/>
              <a:latin typeface="Arial"/>
              <a:ea typeface="+mn-ea"/>
              <a:cs typeface="+mn-cs"/>
            </a:endParaRPr>
          </a:p>
        </p:txBody>
      </p:sp>
      <p:sp>
        <p:nvSpPr>
          <p:cNvPr id="6" name="Object 5"/>
          <p:cNvSpPr/>
          <p:nvPr/>
        </p:nvSpPr>
        <p:spPr>
          <a:xfrm>
            <a:off x="1999750" y="2226111"/>
            <a:ext cx="4242327" cy="792460"/>
          </a:xfrm>
          <a:prstGeom prst="rect">
            <a:avLst/>
          </a:prstGeom>
          <a:noFill/>
        </p:spPr>
        <p:txBody>
          <a:bodyPr wrap="square" lIns="0" tIns="0" rIns="0" bIns="0" rtlCol="0" anchor="t"/>
          <a:lstStyle/>
          <a:p>
            <a:pPr marL="0" marR="0" lvl="0" indent="0" algn="l" defTabSz="914400" rtl="0" eaLnBrk="1" fontAlgn="auto" latinLnBrk="0" hangingPunct="1">
              <a:lnSpc>
                <a:spcPts val="2081"/>
              </a:lnSpc>
              <a:spcBef>
                <a:spcPts val="596"/>
              </a:spcBef>
              <a:spcAft>
                <a:spcPts val="0"/>
              </a:spcAft>
              <a:buClrTx/>
              <a:buSzTx/>
              <a:buFontTx/>
              <a:buNone/>
              <a:tabLst/>
              <a:defRPr/>
            </a:pPr>
            <a:r>
              <a:rPr kumimoji="0" lang="en-US" sz="1500" b="0" i="0" u="none" strike="noStrike" kern="0" cap="none" spc="-30" normalizeH="0" baseline="0" noProof="0" dirty="0">
                <a:ln>
                  <a:noFill/>
                </a:ln>
                <a:effectLst/>
                <a:uLnTx/>
                <a:uFillTx/>
                <a:latin typeface="Inter" pitchFamily="34" charset="0"/>
                <a:ea typeface="Inter" pitchFamily="34" charset="-122"/>
                <a:cs typeface="Inter" pitchFamily="34" charset="-120"/>
              </a:rPr>
              <a:t>Use strong encryption and access controls to safeguard confidential information, such as personal data, collected during evaluations.</a:t>
            </a:r>
            <a:endParaRPr kumimoji="0" lang="en-US" sz="1800" b="0" i="0" u="none" strike="noStrike" kern="1200" cap="none" spc="0" normalizeH="0" baseline="0" noProof="0" dirty="0">
              <a:ln>
                <a:noFill/>
              </a:ln>
              <a:effectLst/>
              <a:uLnTx/>
              <a:uFillTx/>
              <a:latin typeface="Arial"/>
              <a:ea typeface="+mn-ea"/>
              <a:cs typeface="+mn-cs"/>
            </a:endParaRPr>
          </a:p>
        </p:txBody>
      </p:sp>
      <p:sp>
        <p:nvSpPr>
          <p:cNvPr id="7" name="Object 6"/>
          <p:cNvSpPr/>
          <p:nvPr/>
        </p:nvSpPr>
        <p:spPr>
          <a:xfrm>
            <a:off x="1095101" y="3432904"/>
            <a:ext cx="714196" cy="714196"/>
          </a:xfrm>
          <a:prstGeom prst="ellipse">
            <a:avLst/>
          </a:prstGeom>
          <a:solidFill>
            <a:srgbClr val="FFD9AD"/>
          </a:solidFill>
        </p:spPr>
      </p:sp>
      <p:pic>
        <p:nvPicPr>
          <p:cNvPr id="8" name="Object 7"/>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272383" y="3618429"/>
            <a:ext cx="361860" cy="352337"/>
          </a:xfrm>
          <a:prstGeom prst="rect">
            <a:avLst/>
          </a:prstGeom>
        </p:spPr>
      </p:pic>
      <p:sp>
        <p:nvSpPr>
          <p:cNvPr id="9" name="Object 8"/>
          <p:cNvSpPr/>
          <p:nvPr/>
        </p:nvSpPr>
        <p:spPr>
          <a:xfrm>
            <a:off x="1999750" y="3386283"/>
            <a:ext cx="4242327" cy="533862"/>
          </a:xfrm>
          <a:prstGeom prst="rect">
            <a:avLst/>
          </a:prstGeom>
          <a:noFill/>
        </p:spPr>
        <p:txBody>
          <a:bodyPr wrap="square" lIns="0" tIns="0" rIns="0" bIns="0" rtlCol="0" anchor="t"/>
          <a:lstStyle/>
          <a:p>
            <a:pPr marL="0" marR="0" lvl="0" indent="0" algn="l" defTabSz="914400" rtl="0" eaLnBrk="1" fontAlgn="auto" latinLnBrk="0" hangingPunct="1">
              <a:lnSpc>
                <a:spcPts val="2102"/>
              </a:lnSpc>
              <a:spcBef>
                <a:spcPts val="0"/>
              </a:spcBef>
              <a:spcAft>
                <a:spcPts val="0"/>
              </a:spcAft>
              <a:buClrTx/>
              <a:buSzTx/>
              <a:buFontTx/>
              <a:buNone/>
              <a:tabLst/>
              <a:defRPr/>
            </a:pPr>
            <a:r>
              <a:rPr kumimoji="0" lang="en-US" sz="1800" b="1" i="0" u="none" strike="noStrike" kern="0" cap="none" spc="-108" normalizeH="0" baseline="0" noProof="0" dirty="0">
                <a:ln>
                  <a:noFill/>
                </a:ln>
                <a:effectLst/>
                <a:uLnTx/>
                <a:uFillTx/>
                <a:latin typeface="Inter" pitchFamily="34" charset="0"/>
                <a:ea typeface="Inter" pitchFamily="34" charset="-122"/>
                <a:cs typeface="Inter" pitchFamily="34" charset="-120"/>
              </a:rPr>
              <a:t>Validate all GenAI outputs with human oversight</a:t>
            </a:r>
            <a:endParaRPr kumimoji="0" lang="en-US" sz="1800" b="0" i="0" u="none" strike="noStrike" kern="1200" cap="none" spc="0" normalizeH="0" baseline="0" noProof="0" dirty="0">
              <a:ln>
                <a:noFill/>
              </a:ln>
              <a:effectLst/>
              <a:uLnTx/>
              <a:uFillTx/>
              <a:latin typeface="Arial"/>
              <a:ea typeface="+mn-ea"/>
              <a:cs typeface="+mn-cs"/>
            </a:endParaRPr>
          </a:p>
        </p:txBody>
      </p:sp>
      <p:sp>
        <p:nvSpPr>
          <p:cNvPr id="10" name="Object 9"/>
          <p:cNvSpPr/>
          <p:nvPr/>
        </p:nvSpPr>
        <p:spPr>
          <a:xfrm>
            <a:off x="1999750" y="3997318"/>
            <a:ext cx="4242327" cy="1056614"/>
          </a:xfrm>
          <a:prstGeom prst="rect">
            <a:avLst/>
          </a:prstGeom>
          <a:noFill/>
        </p:spPr>
        <p:txBody>
          <a:bodyPr wrap="square" lIns="0" tIns="0" rIns="0" bIns="0" rtlCol="0" anchor="t"/>
          <a:lstStyle/>
          <a:p>
            <a:pPr marL="0" marR="0" lvl="0" indent="0" algn="l" defTabSz="914400" rtl="0" eaLnBrk="1" fontAlgn="auto" latinLnBrk="0" hangingPunct="1">
              <a:lnSpc>
                <a:spcPts val="2081"/>
              </a:lnSpc>
              <a:spcBef>
                <a:spcPts val="596"/>
              </a:spcBef>
              <a:spcAft>
                <a:spcPts val="0"/>
              </a:spcAft>
              <a:buClrTx/>
              <a:buSzTx/>
              <a:buFontTx/>
              <a:buNone/>
              <a:tabLst/>
              <a:defRPr/>
            </a:pPr>
            <a:r>
              <a:rPr kumimoji="0" lang="en-US" sz="1500" b="0" i="0" u="none" strike="noStrike" kern="0" cap="none" spc="-30" normalizeH="0" baseline="0" noProof="0" dirty="0">
                <a:ln>
                  <a:noFill/>
                </a:ln>
                <a:effectLst/>
                <a:uLnTx/>
                <a:uFillTx/>
                <a:latin typeface="Inter" pitchFamily="34" charset="0"/>
                <a:ea typeface="Inter" pitchFamily="34" charset="-122"/>
                <a:cs typeface="Inter" pitchFamily="34" charset="-120"/>
              </a:rPr>
              <a:t>Implement a rigorous process to cross-check and validate all outputs generated by AI systems before incorporating them into evaluation findings or reports.</a:t>
            </a:r>
            <a:endParaRPr kumimoji="0" lang="en-US" sz="1800" b="0" i="0" u="none" strike="noStrike" kern="1200" cap="none" spc="0" normalizeH="0" baseline="0" noProof="0" dirty="0">
              <a:ln>
                <a:noFill/>
              </a:ln>
              <a:effectLst/>
              <a:uLnTx/>
              <a:uFillTx/>
              <a:latin typeface="Arial"/>
              <a:ea typeface="+mn-ea"/>
              <a:cs typeface="+mn-cs"/>
            </a:endParaRPr>
          </a:p>
        </p:txBody>
      </p:sp>
      <p:sp>
        <p:nvSpPr>
          <p:cNvPr id="11" name="Object 10"/>
          <p:cNvSpPr/>
          <p:nvPr/>
        </p:nvSpPr>
        <p:spPr>
          <a:xfrm>
            <a:off x="6332541" y="1661697"/>
            <a:ext cx="714196" cy="714196"/>
          </a:xfrm>
          <a:prstGeom prst="ellipse">
            <a:avLst/>
          </a:prstGeom>
          <a:solidFill>
            <a:srgbClr val="FEC088"/>
          </a:solidFill>
        </p:spPr>
      </p:sp>
      <p:pic>
        <p:nvPicPr>
          <p:cNvPr id="12" name="Object 11"/>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568285" y="1855593"/>
            <a:ext cx="247588" cy="323769"/>
          </a:xfrm>
          <a:prstGeom prst="rect">
            <a:avLst/>
          </a:prstGeom>
        </p:spPr>
      </p:pic>
      <p:sp>
        <p:nvSpPr>
          <p:cNvPr id="13" name="Object 12"/>
          <p:cNvSpPr/>
          <p:nvPr/>
        </p:nvSpPr>
        <p:spPr>
          <a:xfrm>
            <a:off x="7237190" y="1615076"/>
            <a:ext cx="4242327" cy="533862"/>
          </a:xfrm>
          <a:prstGeom prst="rect">
            <a:avLst/>
          </a:prstGeom>
          <a:noFill/>
        </p:spPr>
        <p:txBody>
          <a:bodyPr wrap="square" lIns="0" tIns="0" rIns="0" bIns="0" rtlCol="0" anchor="t"/>
          <a:lstStyle/>
          <a:p>
            <a:pPr marL="0" marR="0" lvl="0" indent="0" algn="l" defTabSz="914400" rtl="0" eaLnBrk="1" fontAlgn="auto" latinLnBrk="0" hangingPunct="1">
              <a:lnSpc>
                <a:spcPts val="2102"/>
              </a:lnSpc>
              <a:spcBef>
                <a:spcPts val="0"/>
              </a:spcBef>
              <a:spcAft>
                <a:spcPts val="0"/>
              </a:spcAft>
              <a:buClrTx/>
              <a:buSzTx/>
              <a:buFontTx/>
              <a:buNone/>
              <a:tabLst/>
              <a:defRPr/>
            </a:pPr>
            <a:r>
              <a:rPr kumimoji="0" lang="en-US" sz="1800" b="1" i="0" u="none" strike="noStrike" kern="0" cap="none" spc="-108" normalizeH="0" baseline="0" noProof="0" dirty="0">
                <a:ln>
                  <a:noFill/>
                </a:ln>
                <a:effectLst/>
                <a:uLnTx/>
                <a:uFillTx/>
                <a:latin typeface="Inter" pitchFamily="34" charset="0"/>
                <a:ea typeface="Inter" pitchFamily="34" charset="-122"/>
                <a:cs typeface="Inter" pitchFamily="34" charset="-120"/>
              </a:rPr>
              <a:t>Transparently document AI use and methodologies</a:t>
            </a:r>
            <a:endParaRPr kumimoji="0" lang="en-US" sz="1800" b="0" i="0" u="none" strike="noStrike" kern="1200" cap="none" spc="0" normalizeH="0" baseline="0" noProof="0" dirty="0">
              <a:ln>
                <a:noFill/>
              </a:ln>
              <a:effectLst/>
              <a:uLnTx/>
              <a:uFillTx/>
              <a:latin typeface="Arial"/>
              <a:ea typeface="+mn-ea"/>
              <a:cs typeface="+mn-cs"/>
            </a:endParaRPr>
          </a:p>
        </p:txBody>
      </p:sp>
      <p:sp>
        <p:nvSpPr>
          <p:cNvPr id="14" name="Object 13"/>
          <p:cNvSpPr/>
          <p:nvPr/>
        </p:nvSpPr>
        <p:spPr>
          <a:xfrm>
            <a:off x="7237190" y="2226111"/>
            <a:ext cx="4242327" cy="1056614"/>
          </a:xfrm>
          <a:prstGeom prst="rect">
            <a:avLst/>
          </a:prstGeom>
          <a:noFill/>
        </p:spPr>
        <p:txBody>
          <a:bodyPr wrap="square" lIns="0" tIns="0" rIns="0" bIns="0" rtlCol="0" anchor="t"/>
          <a:lstStyle/>
          <a:p>
            <a:pPr marL="0" marR="0" lvl="0" indent="0" algn="l" defTabSz="914400" rtl="0" eaLnBrk="1" fontAlgn="auto" latinLnBrk="0" hangingPunct="1">
              <a:lnSpc>
                <a:spcPts val="2081"/>
              </a:lnSpc>
              <a:spcBef>
                <a:spcPts val="596"/>
              </a:spcBef>
              <a:spcAft>
                <a:spcPts val="0"/>
              </a:spcAft>
              <a:buClrTx/>
              <a:buSzTx/>
              <a:buFontTx/>
              <a:buNone/>
              <a:tabLst/>
              <a:defRPr/>
            </a:pPr>
            <a:r>
              <a:rPr kumimoji="0" lang="en-US" sz="1500" b="0" i="0" u="none" strike="noStrike" kern="0" cap="none" spc="-30" normalizeH="0" baseline="0" noProof="0" dirty="0">
                <a:ln>
                  <a:noFill/>
                </a:ln>
                <a:effectLst/>
                <a:uLnTx/>
                <a:uFillTx/>
                <a:latin typeface="Inter" pitchFamily="34" charset="0"/>
                <a:ea typeface="Inter" pitchFamily="34" charset="-122"/>
                <a:cs typeface="Inter" pitchFamily="34" charset="-120"/>
              </a:rPr>
              <a:t>Maintain detailed records of how and where AI tools are applied, and clearly communicate the limitations and caveats of AI-assisted analysis in evaluation reports.</a:t>
            </a:r>
            <a:endParaRPr kumimoji="0" lang="en-US" sz="1800" b="0" i="0" u="none" strike="noStrike" kern="1200" cap="none" spc="0" normalizeH="0" baseline="0" noProof="0" dirty="0">
              <a:ln>
                <a:noFill/>
              </a:ln>
              <a:effectLst/>
              <a:uLnTx/>
              <a:uFillTx/>
              <a:latin typeface="Arial"/>
              <a:ea typeface="+mn-ea"/>
              <a:cs typeface="+mn-cs"/>
            </a:endParaRPr>
          </a:p>
        </p:txBody>
      </p:sp>
      <p:sp>
        <p:nvSpPr>
          <p:cNvPr id="15" name="Object 14"/>
          <p:cNvSpPr/>
          <p:nvPr/>
        </p:nvSpPr>
        <p:spPr>
          <a:xfrm>
            <a:off x="6332541" y="3699537"/>
            <a:ext cx="714196" cy="714196"/>
          </a:xfrm>
          <a:prstGeom prst="ellipse">
            <a:avLst/>
          </a:prstGeom>
          <a:solidFill>
            <a:srgbClr val="FD864D"/>
          </a:solidFill>
        </p:spPr>
      </p:sp>
      <p:pic>
        <p:nvPicPr>
          <p:cNvPr id="16" name="Object 15"/>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572458" y="3885061"/>
            <a:ext cx="228543" cy="361860"/>
          </a:xfrm>
          <a:prstGeom prst="rect">
            <a:avLst/>
          </a:prstGeom>
        </p:spPr>
      </p:pic>
      <p:sp>
        <p:nvSpPr>
          <p:cNvPr id="17" name="Object 16"/>
          <p:cNvSpPr/>
          <p:nvPr/>
        </p:nvSpPr>
        <p:spPr>
          <a:xfrm>
            <a:off x="7237190" y="3652916"/>
            <a:ext cx="4242327" cy="266931"/>
          </a:xfrm>
          <a:prstGeom prst="rect">
            <a:avLst/>
          </a:prstGeom>
          <a:noFill/>
        </p:spPr>
        <p:txBody>
          <a:bodyPr wrap="square" lIns="0" tIns="0" rIns="0" bIns="0" rtlCol="0" anchor="t"/>
          <a:lstStyle/>
          <a:p>
            <a:pPr marL="0" marR="0" lvl="0" indent="0" algn="l" defTabSz="914400" rtl="0" eaLnBrk="1" fontAlgn="auto" latinLnBrk="0" hangingPunct="1">
              <a:lnSpc>
                <a:spcPts val="2102"/>
              </a:lnSpc>
              <a:spcBef>
                <a:spcPts val="0"/>
              </a:spcBef>
              <a:spcAft>
                <a:spcPts val="0"/>
              </a:spcAft>
              <a:buClrTx/>
              <a:buSzTx/>
              <a:buFontTx/>
              <a:buNone/>
              <a:tabLst/>
              <a:defRPr/>
            </a:pPr>
            <a:r>
              <a:rPr kumimoji="0" lang="en-US" sz="1800" b="1" i="0" u="none" strike="noStrike" kern="0" cap="none" spc="-108" normalizeH="0" baseline="0" noProof="0" dirty="0">
                <a:ln>
                  <a:noFill/>
                </a:ln>
                <a:effectLst/>
                <a:uLnTx/>
                <a:uFillTx/>
                <a:latin typeface="Inter" pitchFamily="34" charset="0"/>
                <a:ea typeface="Inter" pitchFamily="34" charset="-122"/>
                <a:cs typeface="Inter" pitchFamily="34" charset="-120"/>
              </a:rPr>
              <a:t>Prefer energy-efficient, ethical AI systems</a:t>
            </a:r>
            <a:endParaRPr kumimoji="0" lang="en-US" sz="1800" b="0" i="0" u="none" strike="noStrike" kern="1200" cap="none" spc="0" normalizeH="0" baseline="0" noProof="0" dirty="0">
              <a:ln>
                <a:noFill/>
              </a:ln>
              <a:effectLst/>
              <a:uLnTx/>
              <a:uFillTx/>
              <a:latin typeface="Arial"/>
              <a:ea typeface="+mn-ea"/>
              <a:cs typeface="+mn-cs"/>
            </a:endParaRPr>
          </a:p>
        </p:txBody>
      </p:sp>
      <p:sp>
        <p:nvSpPr>
          <p:cNvPr id="18" name="Object 17"/>
          <p:cNvSpPr/>
          <p:nvPr/>
        </p:nvSpPr>
        <p:spPr>
          <a:xfrm>
            <a:off x="7237190" y="3997020"/>
            <a:ext cx="4242327" cy="1056614"/>
          </a:xfrm>
          <a:prstGeom prst="rect">
            <a:avLst/>
          </a:prstGeom>
          <a:noFill/>
        </p:spPr>
        <p:txBody>
          <a:bodyPr wrap="square" lIns="0" tIns="0" rIns="0" bIns="0" rtlCol="0" anchor="t"/>
          <a:lstStyle/>
          <a:p>
            <a:pPr marL="0" marR="0" lvl="0" indent="0" algn="l" defTabSz="914400" rtl="0" eaLnBrk="1" fontAlgn="auto" latinLnBrk="0" hangingPunct="1">
              <a:lnSpc>
                <a:spcPts val="2081"/>
              </a:lnSpc>
              <a:spcBef>
                <a:spcPts val="596"/>
              </a:spcBef>
              <a:spcAft>
                <a:spcPts val="0"/>
              </a:spcAft>
              <a:buClrTx/>
              <a:buSzTx/>
              <a:buFontTx/>
              <a:buNone/>
              <a:tabLst/>
              <a:defRPr/>
            </a:pPr>
            <a:r>
              <a:rPr kumimoji="0" lang="en-US" sz="1500" b="0" i="0" u="none" strike="noStrike" kern="0" cap="none" spc="-30" normalizeH="0" baseline="0" noProof="0" dirty="0">
                <a:ln>
                  <a:noFill/>
                </a:ln>
                <a:effectLst/>
                <a:uLnTx/>
                <a:uFillTx/>
                <a:latin typeface="Inter" pitchFamily="34" charset="0"/>
                <a:ea typeface="Inter" pitchFamily="34" charset="-122"/>
                <a:cs typeface="Inter" pitchFamily="34" charset="-120"/>
              </a:rPr>
              <a:t>Prioritize the use of AI systems that adhere to UNFPA's environmental and human rights standards, minimizing the carbon footprint and negative social impacts of AI deployment.</a:t>
            </a:r>
            <a:endParaRPr kumimoji="0" lang="en-US" sz="1800" b="0" i="0" u="none" strike="noStrike" kern="1200" cap="none" spc="0" normalizeH="0" baseline="0" noProof="0" dirty="0">
              <a:ln>
                <a:noFill/>
              </a:ln>
              <a:effectLst/>
              <a:uLnTx/>
              <a:uFillTx/>
              <a:latin typeface="Arial"/>
              <a:ea typeface="+mn-ea"/>
              <a:cs typeface="+mn-cs"/>
            </a:endParaRPr>
          </a:p>
        </p:txBody>
      </p:sp>
      <p:sp>
        <p:nvSpPr>
          <p:cNvPr id="19" name="Object 18"/>
          <p:cNvSpPr/>
          <p:nvPr/>
        </p:nvSpPr>
        <p:spPr>
          <a:xfrm>
            <a:off x="0" y="5542164"/>
            <a:ext cx="12188952" cy="1314121"/>
          </a:xfrm>
          <a:prstGeom prst="rect">
            <a:avLst/>
          </a:prstGeom>
          <a:solidFill>
            <a:srgbClr val="FEC088"/>
          </a:solidFill>
        </p:spPr>
      </p:sp>
      <p:sp>
        <p:nvSpPr>
          <p:cNvPr id="20" name="Object 19"/>
          <p:cNvSpPr/>
          <p:nvPr/>
        </p:nvSpPr>
        <p:spPr>
          <a:xfrm>
            <a:off x="342814" y="5864842"/>
            <a:ext cx="11503323" cy="667178"/>
          </a:xfrm>
          <a:prstGeom prst="rect">
            <a:avLst/>
          </a:prstGeom>
          <a:noFill/>
        </p:spPr>
        <p:txBody>
          <a:bodyPr wrap="square" lIns="0" tIns="0" rIns="0" bIns="0" rtlCol="0" anchor="ctr"/>
          <a:lstStyle/>
          <a:p>
            <a:pPr marL="0" marR="0" lvl="0" indent="0" algn="ctr" defTabSz="914400" rtl="0" eaLnBrk="1" fontAlgn="auto" latinLnBrk="0" hangingPunct="1">
              <a:lnSpc>
                <a:spcPts val="2628"/>
              </a:lnSpc>
              <a:spcBef>
                <a:spcPts val="0"/>
              </a:spcBef>
              <a:spcAft>
                <a:spcPts val="0"/>
              </a:spcAft>
              <a:buClrTx/>
              <a:buSzTx/>
              <a:buFontTx/>
              <a:buNone/>
              <a:tabLst/>
              <a:defRPr/>
            </a:pPr>
            <a:r>
              <a:rPr kumimoji="0" lang="en-US" sz="2250" b="1" i="0" u="none" strike="noStrike" kern="0" cap="none" spc="-135" normalizeH="0" baseline="0" noProof="0" dirty="0">
                <a:ln>
                  <a:noFill/>
                </a:ln>
                <a:effectLst/>
                <a:uLnTx/>
                <a:uFillTx/>
                <a:latin typeface="Inter" pitchFamily="34" charset="0"/>
                <a:ea typeface="Inter" pitchFamily="34" charset="-122"/>
                <a:cs typeface="Inter" pitchFamily="34" charset="-120"/>
              </a:rPr>
              <a:t>By implementing these risk mitigation measures, UNFPA can harness the benefits of GenAI while upholding its commitment to ethical, responsible, and transparent evaluation practices.</a:t>
            </a:r>
            <a:endParaRPr kumimoji="0" lang="en-US" sz="1800" b="0" i="0" u="none" strike="noStrike" kern="1200" cap="none" spc="0" normalizeH="0" baseline="0" noProof="0" dirty="0">
              <a:ln>
                <a:noFill/>
              </a:ln>
              <a:effectLst/>
              <a:uLnTx/>
              <a:uFillTx/>
              <a:latin typeface="Arial"/>
              <a:ea typeface="+mn-ea"/>
              <a:cs typeface="+mn-cs"/>
            </a:endParaRPr>
          </a:p>
        </p:txBody>
      </p:sp>
    </p:spTree>
    <p:extLst>
      <p:ext uri="{BB962C8B-B14F-4D97-AF65-F5344CB8AC3E}">
        <p14:creationId xmlns:p14="http://schemas.microsoft.com/office/powerpoint/2010/main" val="5172813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0" y="379020"/>
            <a:ext cx="12188952" cy="556081"/>
          </a:xfrm>
          <a:prstGeom prst="rect">
            <a:avLst/>
          </a:prstGeom>
          <a:noFill/>
        </p:spPr>
        <p:txBody>
          <a:bodyPr wrap="square" lIns="0" tIns="0" rIns="0" bIns="0" rtlCol="0" anchor="t"/>
          <a:lstStyle/>
          <a:p>
            <a:pPr marL="0" marR="0" lvl="0" indent="0" algn="ctr" defTabSz="914400" rtl="0" eaLnBrk="1" fontAlgn="auto" latinLnBrk="0" hangingPunct="1">
              <a:lnSpc>
                <a:spcPts val="4380"/>
              </a:lnSpc>
              <a:spcBef>
                <a:spcPts val="0"/>
              </a:spcBef>
              <a:spcAft>
                <a:spcPts val="0"/>
              </a:spcAft>
              <a:buClrTx/>
              <a:buSzTx/>
              <a:buFontTx/>
              <a:buNone/>
              <a:tabLst/>
              <a:defRPr/>
            </a:pPr>
            <a:r>
              <a:rPr kumimoji="0" lang="en-US" sz="3750" b="1" i="0" u="none" strike="noStrike" kern="0" cap="none" spc="-225" normalizeH="0" baseline="0" noProof="0" dirty="0">
                <a:ln>
                  <a:noFill/>
                </a:ln>
                <a:effectLst/>
                <a:uLnTx/>
                <a:uFillTx/>
                <a:latin typeface="Inter" pitchFamily="34" charset="0"/>
                <a:ea typeface="Inter" pitchFamily="34" charset="-122"/>
                <a:cs typeface="Inter" pitchFamily="34" charset="-120"/>
              </a:rPr>
              <a:t>Principles Underlying GenAI Use</a:t>
            </a:r>
            <a:endParaRPr kumimoji="0" lang="en-US" sz="1800" b="0" i="0" u="none" strike="noStrike" kern="1200" cap="none" spc="0" normalizeH="0" baseline="0" noProof="0" dirty="0">
              <a:ln>
                <a:noFill/>
              </a:ln>
              <a:effectLst/>
              <a:uLnTx/>
              <a:uFillTx/>
              <a:latin typeface="Arial"/>
              <a:ea typeface="+mn-ea"/>
              <a:cs typeface="+mn-cs"/>
            </a:endParaRPr>
          </a:p>
        </p:txBody>
      </p:sp>
      <p:sp>
        <p:nvSpPr>
          <p:cNvPr id="3" name="Object 2"/>
          <p:cNvSpPr/>
          <p:nvPr/>
        </p:nvSpPr>
        <p:spPr>
          <a:xfrm>
            <a:off x="952262" y="1670228"/>
            <a:ext cx="5446938" cy="3974801"/>
          </a:xfrm>
          <a:prstGeom prst="rect">
            <a:avLst/>
          </a:prstGeom>
          <a:noFill/>
        </p:spPr>
        <p:txBody>
          <a:bodyPr wrap="square" lIns="0" tIns="0" rIns="0" bIns="0" rtlCol="0" anchor="t"/>
          <a:lstStyle/>
          <a:p>
            <a:pPr marL="242900" marR="0" lvl="0" indent="-242900" algn="l" defTabSz="914400" rtl="0" eaLnBrk="1" fontAlgn="auto" latinLnBrk="0" hangingPunct="1">
              <a:lnSpc>
                <a:spcPts val="2838"/>
              </a:lnSpc>
              <a:spcBef>
                <a:spcPts val="0"/>
              </a:spcBef>
              <a:spcAft>
                <a:spcPts val="0"/>
              </a:spcAft>
              <a:buClrTx/>
              <a:buSzPct val="100000"/>
              <a:buFontTx/>
              <a:buChar char="•"/>
              <a:tabLst/>
              <a:defRPr/>
            </a:pPr>
            <a:r>
              <a:rPr kumimoji="0" lang="en-US" sz="2430" b="1" i="0" u="none" strike="noStrike" kern="0" cap="none" spc="-145" normalizeH="0" baseline="0" noProof="0" dirty="0">
                <a:ln>
                  <a:noFill/>
                </a:ln>
                <a:effectLst/>
                <a:uLnTx/>
                <a:uFillTx/>
                <a:latin typeface="Inter" pitchFamily="34" charset="0"/>
                <a:ea typeface="Inter" pitchFamily="34" charset="-122"/>
                <a:cs typeface="Inter" pitchFamily="34" charset="-120"/>
              </a:rPr>
              <a:t>Do No Harm</a:t>
            </a:r>
          </a:p>
          <a:p>
            <a:pPr marL="457200" marR="0" lvl="1" indent="0" algn="l" defTabSz="914400" rtl="0" eaLnBrk="1" fontAlgn="auto" latinLnBrk="0" hangingPunct="1">
              <a:lnSpc>
                <a:spcPts val="2153"/>
              </a:lnSpc>
              <a:spcBef>
                <a:spcPts val="289"/>
              </a:spcBef>
              <a:spcAft>
                <a:spcPts val="0"/>
              </a:spcAft>
              <a:buClrTx/>
              <a:buSzTx/>
              <a:buFontTx/>
              <a:buNone/>
              <a:tabLst/>
              <a:defRPr/>
            </a:pPr>
            <a:r>
              <a:rPr kumimoji="0" lang="en-US" sz="1552" b="0" i="0" u="none" strike="noStrike" kern="0" cap="none" spc="-31" normalizeH="0" baseline="0" noProof="0" dirty="0">
                <a:ln>
                  <a:noFill/>
                </a:ln>
                <a:effectLst/>
                <a:uLnTx/>
                <a:uFillTx/>
                <a:latin typeface="Inter" pitchFamily="34" charset="0"/>
                <a:ea typeface="Inter" pitchFamily="34" charset="-122"/>
                <a:cs typeface="Inter" pitchFamily="34" charset="-120"/>
              </a:rPr>
              <a:t>Ensure the use of GenAI does not cause harm to individuals, groups, communities, institutions, or the environment.</a:t>
            </a:r>
          </a:p>
          <a:p>
            <a:pPr marL="242900" marR="0" lvl="0" indent="-242900" algn="l" defTabSz="914400" rtl="0" eaLnBrk="1" fontAlgn="auto" latinLnBrk="0" hangingPunct="1">
              <a:lnSpc>
                <a:spcPts val="2838"/>
              </a:lnSpc>
              <a:spcBef>
                <a:spcPts val="2299"/>
              </a:spcBef>
              <a:spcAft>
                <a:spcPts val="0"/>
              </a:spcAft>
              <a:buClrTx/>
              <a:buSzPct val="100000"/>
              <a:buFontTx/>
              <a:buChar char="•"/>
              <a:tabLst/>
              <a:defRPr/>
            </a:pPr>
            <a:r>
              <a:rPr kumimoji="0" lang="en-US" sz="2430" b="1" i="0" u="none" strike="noStrike" kern="0" cap="none" spc="-145" normalizeH="0" baseline="0" noProof="0" dirty="0">
                <a:ln>
                  <a:noFill/>
                </a:ln>
                <a:effectLst/>
                <a:uLnTx/>
                <a:uFillTx/>
                <a:latin typeface="Inter" pitchFamily="34" charset="0"/>
                <a:ea typeface="Inter" pitchFamily="34" charset="-122"/>
                <a:cs typeface="Inter" pitchFamily="34" charset="-120"/>
              </a:rPr>
              <a:t>Transparency and Explainability</a:t>
            </a:r>
          </a:p>
          <a:p>
            <a:pPr marL="457200" marR="0" lvl="1" indent="0" algn="l" defTabSz="914400" rtl="0" eaLnBrk="1" fontAlgn="auto" latinLnBrk="0" hangingPunct="1">
              <a:lnSpc>
                <a:spcPts val="2153"/>
              </a:lnSpc>
              <a:spcBef>
                <a:spcPts val="289"/>
              </a:spcBef>
              <a:spcAft>
                <a:spcPts val="0"/>
              </a:spcAft>
              <a:buClrTx/>
              <a:buSzTx/>
              <a:buFontTx/>
              <a:buNone/>
              <a:tabLst/>
              <a:defRPr/>
            </a:pPr>
            <a:r>
              <a:rPr kumimoji="0" lang="en-US" sz="1552" b="0" i="0" u="none" strike="noStrike" kern="0" cap="none" spc="-31" normalizeH="0" baseline="0" noProof="0" dirty="0">
                <a:ln>
                  <a:noFill/>
                </a:ln>
                <a:effectLst/>
                <a:uLnTx/>
                <a:uFillTx/>
                <a:latin typeface="Inter" pitchFamily="34" charset="0"/>
                <a:ea typeface="Inter" pitchFamily="34" charset="-122"/>
                <a:cs typeface="Inter" pitchFamily="34" charset="-120"/>
              </a:rPr>
              <a:t>Document data collection, cleaning, and labeling processes. Clearly explain GenAI and NLP tasks, methods, and tools used.</a:t>
            </a:r>
          </a:p>
          <a:p>
            <a:pPr marL="242900" marR="0" lvl="0" indent="-242900" algn="l" defTabSz="914400" rtl="0" eaLnBrk="1" fontAlgn="auto" latinLnBrk="0" hangingPunct="1">
              <a:lnSpc>
                <a:spcPts val="2838"/>
              </a:lnSpc>
              <a:spcBef>
                <a:spcPts val="2299"/>
              </a:spcBef>
              <a:spcAft>
                <a:spcPts val="0"/>
              </a:spcAft>
              <a:buClrTx/>
              <a:buSzPct val="100000"/>
              <a:buFontTx/>
              <a:buChar char="•"/>
              <a:tabLst/>
              <a:defRPr/>
            </a:pPr>
            <a:r>
              <a:rPr kumimoji="0" lang="en-US" sz="2430" b="1" i="0" u="none" strike="noStrike" kern="0" cap="none" spc="-145" normalizeH="0" baseline="0" noProof="0" dirty="0">
                <a:ln>
                  <a:noFill/>
                </a:ln>
                <a:effectLst/>
                <a:uLnTx/>
                <a:uFillTx/>
                <a:latin typeface="Inter" pitchFamily="34" charset="0"/>
                <a:ea typeface="Inter" pitchFamily="34" charset="-122"/>
                <a:cs typeface="Inter" pitchFamily="34" charset="-120"/>
              </a:rPr>
              <a:t>Fairness and Inclusion</a:t>
            </a:r>
          </a:p>
          <a:p>
            <a:pPr marL="457200" marR="0" lvl="1" indent="0" algn="l" defTabSz="914400" rtl="0" eaLnBrk="1" fontAlgn="auto" latinLnBrk="0" hangingPunct="1">
              <a:lnSpc>
                <a:spcPts val="2153"/>
              </a:lnSpc>
              <a:spcBef>
                <a:spcPts val="289"/>
              </a:spcBef>
              <a:spcAft>
                <a:spcPts val="0"/>
              </a:spcAft>
              <a:buClrTx/>
              <a:buSzTx/>
              <a:buFontTx/>
              <a:buNone/>
              <a:tabLst/>
              <a:defRPr/>
            </a:pPr>
            <a:r>
              <a:rPr kumimoji="0" lang="en-US" sz="1552" b="0" i="0" u="none" strike="noStrike" kern="0" cap="none" spc="-31" normalizeH="0" baseline="0" noProof="0" dirty="0">
                <a:ln>
                  <a:noFill/>
                </a:ln>
                <a:effectLst/>
                <a:uLnTx/>
                <a:uFillTx/>
                <a:latin typeface="Inter" pitchFamily="34" charset="0"/>
                <a:ea typeface="Inter" pitchFamily="34" charset="-122"/>
                <a:cs typeface="Inter" pitchFamily="34" charset="-120"/>
              </a:rPr>
              <a:t>Design and deploy GenAI models to ensure fairness, non-discrimination, and inclusivity, avoiding biases.</a:t>
            </a:r>
            <a:endParaRPr kumimoji="0" lang="en-US" sz="1800" b="0" i="0" u="none" strike="noStrike" kern="1200" cap="none" spc="0" normalizeH="0" baseline="0" noProof="0" dirty="0">
              <a:ln>
                <a:noFill/>
              </a:ln>
              <a:effectLst/>
              <a:uLnTx/>
              <a:uFillTx/>
              <a:latin typeface="Arial"/>
              <a:ea typeface="+mn-ea"/>
              <a:cs typeface="+mn-cs"/>
            </a:endParaRPr>
          </a:p>
        </p:txBody>
      </p:sp>
      <p:sp>
        <p:nvSpPr>
          <p:cNvPr id="4" name="Object 3"/>
          <p:cNvSpPr/>
          <p:nvPr/>
        </p:nvSpPr>
        <p:spPr>
          <a:xfrm>
            <a:off x="6284928" y="1670228"/>
            <a:ext cx="5446938" cy="4248080"/>
          </a:xfrm>
          <a:prstGeom prst="rect">
            <a:avLst/>
          </a:prstGeom>
          <a:noFill/>
        </p:spPr>
        <p:txBody>
          <a:bodyPr wrap="square" lIns="0" tIns="0" rIns="0" bIns="0" rtlCol="0" anchor="t"/>
          <a:lstStyle/>
          <a:p>
            <a:pPr marL="242900" marR="0" lvl="0" indent="-242900" algn="l" defTabSz="914400" rtl="0" eaLnBrk="1" fontAlgn="auto" latinLnBrk="0" hangingPunct="1">
              <a:lnSpc>
                <a:spcPts val="2838"/>
              </a:lnSpc>
              <a:spcBef>
                <a:spcPts val="0"/>
              </a:spcBef>
              <a:spcAft>
                <a:spcPts val="0"/>
              </a:spcAft>
              <a:buClrTx/>
              <a:buSzPct val="100000"/>
              <a:buFontTx/>
              <a:buChar char="•"/>
              <a:tabLst/>
              <a:defRPr/>
            </a:pPr>
            <a:r>
              <a:rPr kumimoji="0" lang="en-US" sz="2430" b="1" i="0" u="none" strike="noStrike" kern="0" cap="none" spc="-145" normalizeH="0" baseline="0" noProof="0" dirty="0">
                <a:ln>
                  <a:noFill/>
                </a:ln>
                <a:effectLst/>
                <a:uLnTx/>
                <a:uFillTx/>
                <a:latin typeface="Inter" pitchFamily="34" charset="0"/>
                <a:ea typeface="Inter" pitchFamily="34" charset="-122"/>
                <a:cs typeface="Inter" pitchFamily="34" charset="-120"/>
              </a:rPr>
              <a:t>Data Privacy and Protection</a:t>
            </a:r>
          </a:p>
          <a:p>
            <a:pPr marL="457200" marR="0" lvl="1" indent="0" algn="l" defTabSz="914400" rtl="0" eaLnBrk="1" fontAlgn="auto" latinLnBrk="0" hangingPunct="1">
              <a:lnSpc>
                <a:spcPts val="2153"/>
              </a:lnSpc>
              <a:spcBef>
                <a:spcPts val="289"/>
              </a:spcBef>
              <a:spcAft>
                <a:spcPts val="0"/>
              </a:spcAft>
              <a:buClrTx/>
              <a:buSzTx/>
              <a:buFontTx/>
              <a:buNone/>
              <a:tabLst/>
              <a:defRPr/>
            </a:pPr>
            <a:r>
              <a:rPr kumimoji="0" lang="en-US" sz="1552" b="0" i="0" u="none" strike="noStrike" kern="0" cap="none" spc="-31" normalizeH="0" baseline="0" noProof="0" dirty="0">
                <a:ln>
                  <a:noFill/>
                </a:ln>
                <a:effectLst/>
                <a:uLnTx/>
                <a:uFillTx/>
                <a:latin typeface="Inter" pitchFamily="34" charset="0"/>
                <a:ea typeface="Inter" pitchFamily="34" charset="-122"/>
                <a:cs typeface="Inter" pitchFamily="34" charset="-120"/>
              </a:rPr>
              <a:t>Implement strict measures to protect personal and sensitive data, aligning with UNFPA IT guidelines and policies.</a:t>
            </a:r>
          </a:p>
          <a:p>
            <a:pPr marL="242900" marR="0" lvl="0" indent="-242900" algn="l" defTabSz="914400" rtl="0" eaLnBrk="1" fontAlgn="auto" latinLnBrk="0" hangingPunct="1">
              <a:lnSpc>
                <a:spcPts val="2838"/>
              </a:lnSpc>
              <a:spcBef>
                <a:spcPts val="2299"/>
              </a:spcBef>
              <a:spcAft>
                <a:spcPts val="0"/>
              </a:spcAft>
              <a:buClrTx/>
              <a:buSzPct val="100000"/>
              <a:buFontTx/>
              <a:buChar char="•"/>
              <a:tabLst/>
              <a:defRPr/>
            </a:pPr>
            <a:r>
              <a:rPr kumimoji="0" lang="en-US" sz="2430" b="1" i="0" u="none" strike="noStrike" kern="0" cap="none" spc="-145" normalizeH="0" baseline="0" noProof="0" dirty="0">
                <a:ln>
                  <a:noFill/>
                </a:ln>
                <a:effectLst/>
                <a:uLnTx/>
                <a:uFillTx/>
                <a:latin typeface="Inter" pitchFamily="34" charset="0"/>
                <a:ea typeface="Inter" pitchFamily="34" charset="-122"/>
                <a:cs typeface="Inter" pitchFamily="34" charset="-120"/>
              </a:rPr>
              <a:t>Human Oversight and Responsibility</a:t>
            </a:r>
          </a:p>
          <a:p>
            <a:pPr marL="457200" marR="0" lvl="1" indent="0" algn="l" defTabSz="914400" rtl="0" eaLnBrk="1" fontAlgn="auto" latinLnBrk="0" hangingPunct="1">
              <a:lnSpc>
                <a:spcPts val="2153"/>
              </a:lnSpc>
              <a:spcBef>
                <a:spcPts val="289"/>
              </a:spcBef>
              <a:spcAft>
                <a:spcPts val="0"/>
              </a:spcAft>
              <a:buClrTx/>
              <a:buSzTx/>
              <a:buFontTx/>
              <a:buNone/>
              <a:tabLst/>
              <a:defRPr/>
            </a:pPr>
            <a:r>
              <a:rPr kumimoji="0" lang="en-US" sz="1552" b="0" i="0" u="none" strike="noStrike" kern="0" cap="none" spc="-31" normalizeH="0" baseline="0" noProof="0" dirty="0">
                <a:ln>
                  <a:noFill/>
                </a:ln>
                <a:effectLst/>
                <a:uLnTx/>
                <a:uFillTx/>
                <a:latin typeface="Inter" pitchFamily="34" charset="0"/>
                <a:ea typeface="Inter" pitchFamily="34" charset="-122"/>
                <a:cs typeface="Inter" pitchFamily="34" charset="-120"/>
              </a:rPr>
              <a:t>Maintain critical thinking and be responsible for the validity and quality of evaluation outputs, even when using GenAI.</a:t>
            </a:r>
          </a:p>
          <a:p>
            <a:pPr marL="242900" marR="0" lvl="0" indent="-242900" algn="l" defTabSz="914400" rtl="0" eaLnBrk="1" fontAlgn="auto" latinLnBrk="0" hangingPunct="1">
              <a:lnSpc>
                <a:spcPts val="2838"/>
              </a:lnSpc>
              <a:spcBef>
                <a:spcPts val="2299"/>
              </a:spcBef>
              <a:spcAft>
                <a:spcPts val="0"/>
              </a:spcAft>
              <a:buClrTx/>
              <a:buSzPct val="100000"/>
              <a:buFontTx/>
              <a:buChar char="•"/>
              <a:tabLst/>
              <a:defRPr/>
            </a:pPr>
            <a:r>
              <a:rPr kumimoji="0" lang="en-US" sz="2430" b="1" i="0" u="none" strike="noStrike" kern="0" cap="none" spc="-145" normalizeH="0" baseline="0" noProof="0" dirty="0">
                <a:ln>
                  <a:noFill/>
                </a:ln>
                <a:effectLst/>
                <a:uLnTx/>
                <a:uFillTx/>
                <a:latin typeface="Inter" pitchFamily="34" charset="0"/>
                <a:ea typeface="Inter" pitchFamily="34" charset="-122"/>
                <a:cs typeface="Inter" pitchFamily="34" charset="-120"/>
              </a:rPr>
              <a:t>Environmental Sustainability</a:t>
            </a:r>
          </a:p>
          <a:p>
            <a:pPr marL="457200" marR="0" lvl="1" indent="0" algn="l" defTabSz="914400" rtl="0" eaLnBrk="1" fontAlgn="auto" latinLnBrk="0" hangingPunct="1">
              <a:lnSpc>
                <a:spcPts val="2153"/>
              </a:lnSpc>
              <a:spcBef>
                <a:spcPts val="289"/>
              </a:spcBef>
              <a:spcAft>
                <a:spcPts val="0"/>
              </a:spcAft>
              <a:buClrTx/>
              <a:buSzTx/>
              <a:buFontTx/>
              <a:buNone/>
              <a:tabLst/>
              <a:defRPr/>
            </a:pPr>
            <a:r>
              <a:rPr kumimoji="0" lang="en-US" sz="1552" b="0" i="0" u="none" strike="noStrike" kern="0" cap="none" spc="-31" normalizeH="0" baseline="0" noProof="0" dirty="0">
                <a:ln>
                  <a:noFill/>
                </a:ln>
                <a:effectLst/>
                <a:uLnTx/>
                <a:uFillTx/>
                <a:latin typeface="Inter" pitchFamily="34" charset="0"/>
                <a:ea typeface="Inter" pitchFamily="34" charset="-122"/>
                <a:cs typeface="Inter" pitchFamily="34" charset="-120"/>
              </a:rPr>
              <a:t>Assess and monitor the carbon footprint and resource use of GenAI tools, adopting sustainable computing practices.</a:t>
            </a:r>
            <a:endParaRPr kumimoji="0" lang="en-US" sz="1800" b="0" i="0" u="none" strike="noStrike" kern="1200" cap="none" spc="0" normalizeH="0" baseline="0" noProof="0" dirty="0">
              <a:ln>
                <a:noFill/>
              </a:ln>
              <a:effectLst/>
              <a:uLnTx/>
              <a:uFillTx/>
              <a:latin typeface="Arial"/>
              <a:ea typeface="+mn-ea"/>
              <a:cs typeface="+mn-cs"/>
            </a:endParaRPr>
          </a:p>
        </p:txBody>
      </p:sp>
      <p:sp>
        <p:nvSpPr>
          <p:cNvPr id="5" name="Object 4"/>
          <p:cNvSpPr/>
          <p:nvPr/>
        </p:nvSpPr>
        <p:spPr>
          <a:xfrm>
            <a:off x="11836615" y="6497898"/>
            <a:ext cx="161885" cy="237669"/>
          </a:xfrm>
          <a:prstGeom prst="rect">
            <a:avLst/>
          </a:prstGeom>
          <a:noFill/>
        </p:spPr>
      </p:sp>
      <p:sp>
        <p:nvSpPr>
          <p:cNvPr id="25" name="Slide Number Placeholder 24"/>
          <p:cNvSpPr>
            <a:spLocks noGrp="1"/>
          </p:cNvSpPr>
          <p:nvPr>
            <p:ph type="sldNum" sz="quarter" idx="4294967295"/>
          </p:nvPr>
        </p:nvSpPr>
        <p:spPr>
          <a:xfrm>
            <a:off x="11826240" y="6515100"/>
            <a:ext cx="800000" cy="300000"/>
          </a:xfrm>
          <a:prstGeom prst="rect">
            <a:avLst/>
          </a:prstGeom>
          <a:extLst>
            <a:ext uri="{C572A759-6A51-4108-AA02-DFA0A04FC94B}">
              <ma14:wrappingTextBoxFlag xmlns="" xmlns:ma14="http://schemas.microsoft.com/office/mac/drawingml/2011/main" val="0"/>
            </a:ext>
          </a:extLst>
        </p:spPr>
        <p:txBody>
          <a:bodyPr/>
          <a:lstStyle>
            <a:lvl1pPr>
              <a:defRPr sz="1100"/>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100" b="0" i="0" u="none" strike="noStrike" kern="1200" cap="none" spc="0" normalizeH="0" baseline="0" noProof="0" smtClean="0">
                <a:ln>
                  <a:noFill/>
                </a:ln>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19</a:t>
            </a:fld>
            <a:endParaRPr kumimoji="0" lang="en-US" sz="1100" b="0" i="0" u="none" strike="noStrike" kern="1200" cap="none" spc="0" normalizeH="0" baseline="0" noProof="0">
              <a:ln>
                <a:noFill/>
              </a:ln>
              <a:effectLst/>
              <a:uLnTx/>
              <a:uFillTx/>
              <a:latin typeface="Arial"/>
              <a:ea typeface="+mn-ea"/>
              <a:cs typeface="+mn-cs"/>
            </a:endParaRPr>
          </a:p>
        </p:txBody>
      </p:sp>
    </p:spTree>
    <p:extLst>
      <p:ext uri="{BB962C8B-B14F-4D97-AF65-F5344CB8AC3E}">
        <p14:creationId xmlns:p14="http://schemas.microsoft.com/office/powerpoint/2010/main" val="26608399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0" y="379020"/>
            <a:ext cx="12188952" cy="556081"/>
          </a:xfrm>
          <a:prstGeom prst="rect">
            <a:avLst/>
          </a:prstGeom>
          <a:noFill/>
        </p:spPr>
        <p:txBody>
          <a:bodyPr wrap="square" lIns="0" tIns="0" rIns="0" bIns="0" rtlCol="0" anchor="t"/>
          <a:lstStyle/>
          <a:p>
            <a:pPr marL="0" marR="0" lvl="0" indent="0" algn="ctr" defTabSz="914400" rtl="0" eaLnBrk="1" fontAlgn="auto" latinLnBrk="0" hangingPunct="1">
              <a:lnSpc>
                <a:spcPts val="4380"/>
              </a:lnSpc>
              <a:spcBef>
                <a:spcPts val="0"/>
              </a:spcBef>
              <a:spcAft>
                <a:spcPts val="0"/>
              </a:spcAft>
              <a:buClrTx/>
              <a:buSzTx/>
              <a:buFontTx/>
              <a:buNone/>
              <a:tabLst/>
              <a:defRPr/>
            </a:pPr>
            <a:r>
              <a:rPr kumimoji="0" lang="en-US" sz="3750" b="1" i="0" u="none" strike="noStrike" kern="0" cap="none" spc="-225" normalizeH="0" baseline="0" noProof="0" dirty="0">
                <a:ln>
                  <a:noFill/>
                </a:ln>
                <a:effectLst/>
                <a:uLnTx/>
                <a:uFillTx/>
                <a:latin typeface="Inter" pitchFamily="34" charset="0"/>
                <a:ea typeface="Inter" pitchFamily="34" charset="-122"/>
                <a:cs typeface="Inter" pitchFamily="34" charset="-120"/>
              </a:rPr>
              <a:t>GenAI Key Use Cases for Evaluation</a:t>
            </a:r>
            <a:endParaRPr kumimoji="0" lang="en-US" sz="1800" b="0" i="0" u="none" strike="noStrike" kern="1200" cap="none" spc="0" normalizeH="0" baseline="0" noProof="0" dirty="0">
              <a:ln>
                <a:noFill/>
              </a:ln>
              <a:effectLst/>
              <a:uLnTx/>
              <a:uFillTx/>
              <a:latin typeface="Arial"/>
              <a:ea typeface="+mn-ea"/>
              <a:cs typeface="+mn-cs"/>
            </a:endParaRPr>
          </a:p>
        </p:txBody>
      </p:sp>
      <p:sp>
        <p:nvSpPr>
          <p:cNvPr id="3" name="Object 2"/>
          <p:cNvSpPr/>
          <p:nvPr/>
        </p:nvSpPr>
        <p:spPr>
          <a:xfrm>
            <a:off x="952262" y="1691753"/>
            <a:ext cx="5446938" cy="3809940"/>
          </a:xfrm>
          <a:prstGeom prst="rect">
            <a:avLst/>
          </a:prstGeom>
          <a:noFill/>
        </p:spPr>
        <p:txBody>
          <a:bodyPr wrap="square" lIns="0" tIns="0" rIns="0" bIns="0" rtlCol="0" anchor="t"/>
          <a:lstStyle/>
          <a:p>
            <a:pPr marL="242900" marR="0" lvl="0" indent="-242900" algn="l" defTabSz="914400" rtl="0" eaLnBrk="1" fontAlgn="auto" latinLnBrk="0" hangingPunct="1">
              <a:lnSpc>
                <a:spcPts val="3154"/>
              </a:lnSpc>
              <a:spcBef>
                <a:spcPts val="0"/>
              </a:spcBef>
              <a:spcAft>
                <a:spcPts val="0"/>
              </a:spcAft>
              <a:buClrTx/>
              <a:buSzPct val="100000"/>
              <a:buFontTx/>
              <a:buChar char="•"/>
              <a:tabLst/>
              <a:defRPr/>
            </a:pPr>
            <a:r>
              <a:rPr kumimoji="0" lang="en-US" sz="2700" b="1" i="0" u="none" strike="noStrike" kern="0" cap="none" spc="-162" normalizeH="0" baseline="0" noProof="0" dirty="0">
                <a:ln>
                  <a:noFill/>
                </a:ln>
                <a:effectLst/>
                <a:uLnTx/>
                <a:uFillTx/>
                <a:latin typeface="Inter" pitchFamily="34" charset="0"/>
                <a:ea typeface="Inter" pitchFamily="34" charset="-122"/>
                <a:cs typeface="Inter" pitchFamily="34" charset="-120"/>
              </a:rPr>
              <a:t>Document Review</a:t>
            </a:r>
          </a:p>
          <a:p>
            <a:pPr marL="457200" marR="0" lvl="1" indent="0" algn="l" defTabSz="914400" rtl="0" eaLnBrk="1" fontAlgn="auto" latinLnBrk="0" hangingPunct="1">
              <a:lnSpc>
                <a:spcPts val="2392"/>
              </a:lnSpc>
              <a:spcBef>
                <a:spcPts val="321"/>
              </a:spcBef>
              <a:spcAft>
                <a:spcPts val="0"/>
              </a:spcAft>
              <a:buClrTx/>
              <a:buSzTx/>
              <a:buFontTx/>
              <a:buNone/>
              <a:tabLst/>
              <a:defRPr/>
            </a:pPr>
            <a:r>
              <a:rPr kumimoji="0" lang="en-US" sz="1725" b="0" i="0" u="none" strike="noStrike" kern="0" cap="none" spc="-34" normalizeH="0" baseline="0" noProof="0" dirty="0">
                <a:ln>
                  <a:noFill/>
                </a:ln>
                <a:effectLst/>
                <a:uLnTx/>
                <a:uFillTx/>
                <a:latin typeface="Inter" pitchFamily="34" charset="0"/>
                <a:ea typeface="Inter" pitchFamily="34" charset="-122"/>
                <a:cs typeface="Inter" pitchFamily="34" charset="-120"/>
              </a:rPr>
              <a:t>Summarizing large reports and extracting key insights to inform the evaluation</a:t>
            </a:r>
          </a:p>
          <a:p>
            <a:pPr marL="242900" marR="0" lvl="0" indent="-242900" algn="l" defTabSz="914400" rtl="0" eaLnBrk="1" fontAlgn="auto" latinLnBrk="0" hangingPunct="1">
              <a:lnSpc>
                <a:spcPts val="3154"/>
              </a:lnSpc>
              <a:spcBef>
                <a:spcPts val="2555"/>
              </a:spcBef>
              <a:spcAft>
                <a:spcPts val="0"/>
              </a:spcAft>
              <a:buClrTx/>
              <a:buSzPct val="100000"/>
              <a:buFontTx/>
              <a:buChar char="•"/>
              <a:tabLst/>
              <a:defRPr/>
            </a:pPr>
            <a:r>
              <a:rPr kumimoji="0" lang="en-US" sz="2700" b="1" i="0" u="none" strike="noStrike" kern="0" cap="none" spc="-162" normalizeH="0" baseline="0" noProof="0" dirty="0">
                <a:ln>
                  <a:noFill/>
                </a:ln>
                <a:effectLst/>
                <a:uLnTx/>
                <a:uFillTx/>
                <a:latin typeface="Inter" pitchFamily="34" charset="0"/>
                <a:ea typeface="Inter" pitchFamily="34" charset="-122"/>
                <a:cs typeface="Inter" pitchFamily="34" charset="-120"/>
              </a:rPr>
              <a:t>Interview Analysis</a:t>
            </a:r>
          </a:p>
          <a:p>
            <a:pPr marL="457200" marR="0" lvl="1" indent="0" algn="l" defTabSz="914400" rtl="0" eaLnBrk="1" fontAlgn="auto" latinLnBrk="0" hangingPunct="1">
              <a:lnSpc>
                <a:spcPts val="2392"/>
              </a:lnSpc>
              <a:spcBef>
                <a:spcPts val="321"/>
              </a:spcBef>
              <a:spcAft>
                <a:spcPts val="0"/>
              </a:spcAft>
              <a:buClrTx/>
              <a:buSzTx/>
              <a:buFontTx/>
              <a:buNone/>
              <a:tabLst/>
              <a:defRPr/>
            </a:pPr>
            <a:r>
              <a:rPr kumimoji="0" lang="en-US" sz="1725" b="0" i="0" u="none" strike="noStrike" kern="0" cap="none" spc="-34" normalizeH="0" baseline="0" noProof="0" dirty="0">
                <a:ln>
                  <a:noFill/>
                </a:ln>
                <a:effectLst/>
                <a:uLnTx/>
                <a:uFillTx/>
                <a:latin typeface="Inter" pitchFamily="34" charset="0"/>
                <a:ea typeface="Inter" pitchFamily="34" charset="-122"/>
                <a:cs typeface="Inter" pitchFamily="34" charset="-120"/>
              </a:rPr>
              <a:t>Thematic clustering and sentiment analysis of interview transcripts</a:t>
            </a:r>
          </a:p>
          <a:p>
            <a:pPr marL="242900" marR="0" lvl="0" indent="-242900" algn="l" defTabSz="914400" rtl="0" eaLnBrk="1" fontAlgn="auto" latinLnBrk="0" hangingPunct="1">
              <a:lnSpc>
                <a:spcPts val="3154"/>
              </a:lnSpc>
              <a:spcBef>
                <a:spcPts val="2555"/>
              </a:spcBef>
              <a:spcAft>
                <a:spcPts val="0"/>
              </a:spcAft>
              <a:buClrTx/>
              <a:buSzPct val="100000"/>
              <a:buFontTx/>
              <a:buChar char="•"/>
              <a:tabLst/>
              <a:defRPr/>
            </a:pPr>
            <a:r>
              <a:rPr kumimoji="0" lang="en-US" sz="2700" b="1" i="0" u="none" strike="noStrike" kern="0" cap="none" spc="-162" normalizeH="0" baseline="0" noProof="0" dirty="0">
                <a:ln>
                  <a:noFill/>
                </a:ln>
                <a:effectLst/>
                <a:uLnTx/>
                <a:uFillTx/>
                <a:latin typeface="Inter" pitchFamily="34" charset="0"/>
                <a:ea typeface="Inter" pitchFamily="34" charset="-122"/>
                <a:cs typeface="Inter" pitchFamily="34" charset="-120"/>
              </a:rPr>
              <a:t>Evidence Synthesis</a:t>
            </a:r>
          </a:p>
          <a:p>
            <a:pPr marL="457200" marR="0" lvl="1" indent="0" algn="l" defTabSz="914400" rtl="0" eaLnBrk="1" fontAlgn="auto" latinLnBrk="0" hangingPunct="1">
              <a:lnSpc>
                <a:spcPts val="2392"/>
              </a:lnSpc>
              <a:spcBef>
                <a:spcPts val="321"/>
              </a:spcBef>
              <a:spcAft>
                <a:spcPts val="0"/>
              </a:spcAft>
              <a:buClrTx/>
              <a:buSzTx/>
              <a:buFontTx/>
              <a:buNone/>
              <a:tabLst/>
              <a:defRPr/>
            </a:pPr>
            <a:r>
              <a:rPr kumimoji="0" lang="en-US" sz="1725" b="0" i="0" u="none" strike="noStrike" kern="0" cap="none" spc="-34" normalizeH="0" baseline="0" noProof="0" dirty="0">
                <a:ln>
                  <a:noFill/>
                </a:ln>
                <a:effectLst/>
                <a:uLnTx/>
                <a:uFillTx/>
                <a:latin typeface="Inter" pitchFamily="34" charset="0"/>
                <a:ea typeface="Inter" pitchFamily="34" charset="-122"/>
                <a:cs typeface="Inter" pitchFamily="34" charset="-120"/>
              </a:rPr>
              <a:t>Triangulation and synthesis of data from multiple sources</a:t>
            </a:r>
            <a:endParaRPr kumimoji="0" lang="en-US" sz="1800" b="0" i="0" u="none" strike="noStrike" kern="1200" cap="none" spc="0" normalizeH="0" baseline="0" noProof="0" dirty="0">
              <a:ln>
                <a:noFill/>
              </a:ln>
              <a:effectLst/>
              <a:uLnTx/>
              <a:uFillTx/>
              <a:latin typeface="Arial"/>
              <a:ea typeface="+mn-ea"/>
              <a:cs typeface="+mn-cs"/>
            </a:endParaRPr>
          </a:p>
        </p:txBody>
      </p:sp>
      <p:sp>
        <p:nvSpPr>
          <p:cNvPr id="4" name="Object 3"/>
          <p:cNvSpPr/>
          <p:nvPr/>
        </p:nvSpPr>
        <p:spPr>
          <a:xfrm>
            <a:off x="6284928" y="1691753"/>
            <a:ext cx="5446938" cy="4210287"/>
          </a:xfrm>
          <a:prstGeom prst="rect">
            <a:avLst/>
          </a:prstGeom>
          <a:noFill/>
        </p:spPr>
        <p:txBody>
          <a:bodyPr wrap="square" lIns="0" tIns="0" rIns="0" bIns="0" rtlCol="0" anchor="t"/>
          <a:lstStyle/>
          <a:p>
            <a:pPr marL="242900" marR="0" lvl="0" indent="-242900" algn="l" defTabSz="914400" rtl="0" eaLnBrk="1" fontAlgn="auto" latinLnBrk="0" hangingPunct="1">
              <a:lnSpc>
                <a:spcPts val="3154"/>
              </a:lnSpc>
              <a:spcBef>
                <a:spcPts val="0"/>
              </a:spcBef>
              <a:spcAft>
                <a:spcPts val="0"/>
              </a:spcAft>
              <a:buClrTx/>
              <a:buSzPct val="100000"/>
              <a:buFontTx/>
              <a:buChar char="•"/>
              <a:tabLst/>
              <a:defRPr/>
            </a:pPr>
            <a:r>
              <a:rPr kumimoji="0" lang="en-US" sz="2700" b="1" i="0" u="none" strike="noStrike" kern="0" cap="none" spc="-162" normalizeH="0" baseline="0" noProof="0" dirty="0">
                <a:ln>
                  <a:noFill/>
                </a:ln>
                <a:effectLst/>
                <a:uLnTx/>
                <a:uFillTx/>
                <a:latin typeface="Inter" pitchFamily="34" charset="0"/>
                <a:ea typeface="Inter" pitchFamily="34" charset="-122"/>
                <a:cs typeface="Inter" pitchFamily="34" charset="-120"/>
              </a:rPr>
              <a:t>Drafting</a:t>
            </a:r>
          </a:p>
          <a:p>
            <a:pPr marL="457200" marR="0" lvl="1" indent="0" algn="l" defTabSz="914400" rtl="0" eaLnBrk="1" fontAlgn="auto" latinLnBrk="0" hangingPunct="1">
              <a:lnSpc>
                <a:spcPts val="2392"/>
              </a:lnSpc>
              <a:spcBef>
                <a:spcPts val="321"/>
              </a:spcBef>
              <a:spcAft>
                <a:spcPts val="0"/>
              </a:spcAft>
              <a:buClrTx/>
              <a:buSzTx/>
              <a:buFontTx/>
              <a:buNone/>
              <a:tabLst/>
              <a:defRPr/>
            </a:pPr>
            <a:r>
              <a:rPr kumimoji="0" lang="en-US" sz="1725" b="0" i="0" u="none" strike="noStrike" kern="0" cap="none" spc="-34" normalizeH="0" baseline="0" noProof="0" dirty="0">
                <a:ln>
                  <a:noFill/>
                </a:ln>
                <a:effectLst/>
                <a:uLnTx/>
                <a:uFillTx/>
                <a:latin typeface="Inter" pitchFamily="34" charset="0"/>
                <a:ea typeface="Inter" pitchFamily="34" charset="-122"/>
                <a:cs typeface="Inter" pitchFamily="34" charset="-120"/>
              </a:rPr>
              <a:t>Generating draft text for background sections and other report components</a:t>
            </a:r>
          </a:p>
          <a:p>
            <a:pPr marL="242900" marR="0" lvl="0" indent="-242900" algn="l" defTabSz="914400" rtl="0" eaLnBrk="1" fontAlgn="auto" latinLnBrk="0" hangingPunct="1">
              <a:lnSpc>
                <a:spcPts val="3154"/>
              </a:lnSpc>
              <a:spcBef>
                <a:spcPts val="2555"/>
              </a:spcBef>
              <a:spcAft>
                <a:spcPts val="0"/>
              </a:spcAft>
              <a:buClrTx/>
              <a:buSzPct val="100000"/>
              <a:buFontTx/>
              <a:buChar char="•"/>
              <a:tabLst/>
              <a:defRPr/>
            </a:pPr>
            <a:r>
              <a:rPr kumimoji="0" lang="en-US" sz="2700" b="1" i="0" u="none" strike="noStrike" kern="0" cap="none" spc="-162" normalizeH="0" baseline="0" noProof="0" dirty="0">
                <a:ln>
                  <a:noFill/>
                </a:ln>
                <a:effectLst/>
                <a:uLnTx/>
                <a:uFillTx/>
                <a:latin typeface="Inter" pitchFamily="34" charset="0"/>
                <a:ea typeface="Inter" pitchFamily="34" charset="-122"/>
                <a:cs typeface="Inter" pitchFamily="34" charset="-120"/>
              </a:rPr>
              <a:t>Visualization</a:t>
            </a:r>
          </a:p>
          <a:p>
            <a:pPr marL="457200" marR="0" lvl="1" indent="0" algn="l" defTabSz="914400" rtl="0" eaLnBrk="1" fontAlgn="auto" latinLnBrk="0" hangingPunct="1">
              <a:lnSpc>
                <a:spcPts val="2392"/>
              </a:lnSpc>
              <a:spcBef>
                <a:spcPts val="321"/>
              </a:spcBef>
              <a:spcAft>
                <a:spcPts val="0"/>
              </a:spcAft>
              <a:buClrTx/>
              <a:buSzTx/>
              <a:buFontTx/>
              <a:buNone/>
              <a:tabLst/>
              <a:defRPr/>
            </a:pPr>
            <a:r>
              <a:rPr kumimoji="0" lang="en-US" sz="1725" b="0" i="0" u="none" strike="noStrike" kern="0" cap="none" spc="-34" normalizeH="0" baseline="0" noProof="0" dirty="0">
                <a:ln>
                  <a:noFill/>
                </a:ln>
                <a:effectLst/>
                <a:uLnTx/>
                <a:uFillTx/>
                <a:latin typeface="Inter" pitchFamily="34" charset="0"/>
                <a:ea typeface="Inter" pitchFamily="34" charset="-122"/>
                <a:cs typeface="Inter" pitchFamily="34" charset="-120"/>
              </a:rPr>
              <a:t>Creating mind maps, flowcharts, and other visual aids to communicate findings</a:t>
            </a:r>
          </a:p>
          <a:p>
            <a:pPr marL="242900" marR="0" lvl="0" indent="-242900" algn="l" defTabSz="914400" rtl="0" eaLnBrk="1" fontAlgn="auto" latinLnBrk="0" hangingPunct="1">
              <a:lnSpc>
                <a:spcPts val="3154"/>
              </a:lnSpc>
              <a:spcBef>
                <a:spcPts val="2555"/>
              </a:spcBef>
              <a:spcAft>
                <a:spcPts val="0"/>
              </a:spcAft>
              <a:buClrTx/>
              <a:buSzPct val="100000"/>
              <a:buFontTx/>
              <a:buChar char="•"/>
              <a:tabLst/>
              <a:defRPr/>
            </a:pPr>
            <a:r>
              <a:rPr kumimoji="0" lang="en-US" sz="2700" b="1" i="0" u="none" strike="noStrike" kern="0" cap="none" spc="-162" normalizeH="0" baseline="0" noProof="0" dirty="0">
                <a:ln>
                  <a:noFill/>
                </a:ln>
                <a:effectLst/>
                <a:uLnTx/>
                <a:uFillTx/>
                <a:latin typeface="Inter" pitchFamily="34" charset="0"/>
                <a:ea typeface="Inter" pitchFamily="34" charset="-122"/>
                <a:cs typeface="Inter" pitchFamily="34" charset="-120"/>
              </a:rPr>
              <a:t>Sentiment Analysis (Experimental)</a:t>
            </a:r>
          </a:p>
          <a:p>
            <a:pPr marL="457200" marR="0" lvl="1" indent="0" algn="l" defTabSz="914400" rtl="0" eaLnBrk="1" fontAlgn="auto" latinLnBrk="0" hangingPunct="1">
              <a:lnSpc>
                <a:spcPts val="2392"/>
              </a:lnSpc>
              <a:spcBef>
                <a:spcPts val="321"/>
              </a:spcBef>
              <a:spcAft>
                <a:spcPts val="0"/>
              </a:spcAft>
              <a:buClrTx/>
              <a:buSzTx/>
              <a:buFontTx/>
              <a:buNone/>
              <a:tabLst/>
              <a:defRPr/>
            </a:pPr>
            <a:r>
              <a:rPr kumimoji="0" lang="en-US" sz="1725" b="0" i="0" u="none" strike="noStrike" kern="0" cap="none" spc="-34" normalizeH="0" baseline="0" noProof="0" dirty="0">
                <a:ln>
                  <a:noFill/>
                </a:ln>
                <a:effectLst/>
                <a:uLnTx/>
                <a:uFillTx/>
                <a:latin typeface="Inter" pitchFamily="34" charset="0"/>
                <a:ea typeface="Inter" pitchFamily="34" charset="-122"/>
                <a:cs typeface="Inter" pitchFamily="34" charset="-120"/>
              </a:rPr>
              <a:t>Analyzing stakeholder perceptions and emotions (with caution)</a:t>
            </a:r>
            <a:endParaRPr kumimoji="0" lang="en-US" sz="1800" b="0" i="0" u="none" strike="noStrike" kern="1200" cap="none" spc="0" normalizeH="0" baseline="0" noProof="0" dirty="0">
              <a:ln>
                <a:noFill/>
              </a:ln>
              <a:effectLst/>
              <a:uLnTx/>
              <a:uFillTx/>
              <a:latin typeface="Arial"/>
              <a:ea typeface="+mn-ea"/>
              <a:cs typeface="+mn-cs"/>
            </a:endParaRPr>
          </a:p>
        </p:txBody>
      </p:sp>
      <p:sp>
        <p:nvSpPr>
          <p:cNvPr id="5" name="Object 4"/>
          <p:cNvSpPr/>
          <p:nvPr/>
        </p:nvSpPr>
        <p:spPr>
          <a:xfrm>
            <a:off x="11798525" y="6497898"/>
            <a:ext cx="199975" cy="237669"/>
          </a:xfrm>
          <a:prstGeom prst="rect">
            <a:avLst/>
          </a:prstGeom>
          <a:noFill/>
        </p:spPr>
      </p:sp>
      <p:sp>
        <p:nvSpPr>
          <p:cNvPr id="25" name="Slide Number Placeholder 24"/>
          <p:cNvSpPr>
            <a:spLocks noGrp="1"/>
          </p:cNvSpPr>
          <p:nvPr>
            <p:ph type="sldNum" sz="quarter" idx="4294967295"/>
          </p:nvPr>
        </p:nvSpPr>
        <p:spPr>
          <a:xfrm>
            <a:off x="11826240" y="6515100"/>
            <a:ext cx="800000" cy="300000"/>
          </a:xfrm>
          <a:prstGeom prst="rect">
            <a:avLst/>
          </a:prstGeom>
          <a:extLst>
            <a:ext uri="{C572A759-6A51-4108-AA02-DFA0A04FC94B}">
              <ma14:wrappingTextBoxFlag xmlns="" xmlns:ma14="http://schemas.microsoft.com/office/mac/drawingml/2011/main" val="0"/>
            </a:ext>
          </a:extLst>
        </p:spPr>
        <p:txBody>
          <a:bodyPr/>
          <a:lstStyle>
            <a:lvl1pPr>
              <a:defRPr sz="1100"/>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100" b="0" i="0" u="none" strike="noStrike" kern="1200" cap="none" spc="0" normalizeH="0" baseline="0" noProof="0" smtClean="0">
                <a:ln>
                  <a:noFill/>
                </a:ln>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20</a:t>
            </a:fld>
            <a:endParaRPr kumimoji="0" lang="en-US" sz="1100" b="0" i="0" u="none" strike="noStrike" kern="1200" cap="none" spc="0" normalizeH="0" baseline="0" noProof="0">
              <a:ln>
                <a:noFill/>
              </a:ln>
              <a:effectLst/>
              <a:uLnTx/>
              <a:uFillTx/>
              <a:latin typeface="Arial"/>
              <a:ea typeface="+mn-ea"/>
              <a:cs typeface="+mn-cs"/>
            </a:endParaRPr>
          </a:p>
        </p:txBody>
      </p:sp>
    </p:spTree>
    <p:extLst>
      <p:ext uri="{BB962C8B-B14F-4D97-AF65-F5344CB8AC3E}">
        <p14:creationId xmlns:p14="http://schemas.microsoft.com/office/powerpoint/2010/main" val="10906480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0" y="379020"/>
            <a:ext cx="12188952" cy="556081"/>
          </a:xfrm>
          <a:prstGeom prst="rect">
            <a:avLst/>
          </a:prstGeom>
          <a:noFill/>
        </p:spPr>
        <p:txBody>
          <a:bodyPr wrap="square" lIns="0" tIns="0" rIns="0" bIns="0" rtlCol="0" anchor="t"/>
          <a:lstStyle/>
          <a:p>
            <a:pPr marL="0" marR="0" lvl="0" indent="0" algn="ctr" defTabSz="914400" rtl="0" eaLnBrk="1" fontAlgn="auto" latinLnBrk="0" hangingPunct="1">
              <a:lnSpc>
                <a:spcPts val="4380"/>
              </a:lnSpc>
              <a:spcBef>
                <a:spcPts val="0"/>
              </a:spcBef>
              <a:spcAft>
                <a:spcPts val="0"/>
              </a:spcAft>
              <a:buClrTx/>
              <a:buSzTx/>
              <a:buFontTx/>
              <a:buNone/>
              <a:tabLst/>
              <a:defRPr/>
            </a:pPr>
            <a:r>
              <a:rPr kumimoji="0" lang="en-US" sz="3750" b="1" i="0" u="none" strike="noStrike" kern="0" cap="none" spc="-225" normalizeH="0" baseline="0" noProof="0" dirty="0">
                <a:ln>
                  <a:noFill/>
                </a:ln>
                <a:effectLst/>
                <a:uLnTx/>
                <a:uFillTx/>
                <a:latin typeface="Inter" pitchFamily="34" charset="0"/>
                <a:ea typeface="Inter" pitchFamily="34" charset="-122"/>
                <a:cs typeface="Inter" pitchFamily="34" charset="-120"/>
              </a:rPr>
              <a:t>Ethical Use Guidelines for Consultants and Vendors</a:t>
            </a:r>
            <a:endParaRPr kumimoji="0" lang="en-US" sz="1800" b="0" i="0" u="none" strike="noStrike" kern="1200" cap="none" spc="0" normalizeH="0" baseline="0" noProof="0" dirty="0">
              <a:ln>
                <a:noFill/>
              </a:ln>
              <a:effectLst/>
              <a:uLnTx/>
              <a:uFillTx/>
              <a:latin typeface="Arial"/>
              <a:ea typeface="+mn-ea"/>
              <a:cs typeface="+mn-cs"/>
            </a:endParaRPr>
          </a:p>
        </p:txBody>
      </p:sp>
      <p:sp>
        <p:nvSpPr>
          <p:cNvPr id="3" name="Object 2"/>
          <p:cNvSpPr/>
          <p:nvPr/>
        </p:nvSpPr>
        <p:spPr>
          <a:xfrm>
            <a:off x="952262" y="1552484"/>
            <a:ext cx="5446938" cy="4485054"/>
          </a:xfrm>
          <a:prstGeom prst="rect">
            <a:avLst/>
          </a:prstGeom>
          <a:noFill/>
        </p:spPr>
        <p:txBody>
          <a:bodyPr wrap="square" lIns="0" tIns="0" rIns="0" bIns="0" rtlCol="0" anchor="t"/>
          <a:lstStyle/>
          <a:p>
            <a:pPr marL="242900" marR="0" lvl="0" indent="-242900" algn="l" defTabSz="914400" rtl="0" eaLnBrk="1" fontAlgn="auto" latinLnBrk="0" hangingPunct="1">
              <a:lnSpc>
                <a:spcPts val="2996"/>
              </a:lnSpc>
              <a:spcBef>
                <a:spcPts val="0"/>
              </a:spcBef>
              <a:spcAft>
                <a:spcPts val="0"/>
              </a:spcAft>
              <a:buClrTx/>
              <a:buSzPct val="100000"/>
              <a:buFontTx/>
              <a:buChar char="•"/>
              <a:tabLst/>
              <a:defRPr/>
            </a:pPr>
            <a:r>
              <a:rPr kumimoji="0" lang="en-US" sz="2565" b="1" i="0" u="none" strike="noStrike" kern="0" cap="none" spc="-154" normalizeH="0" baseline="0" noProof="0" dirty="0">
                <a:ln>
                  <a:noFill/>
                </a:ln>
                <a:effectLst/>
                <a:uLnTx/>
                <a:uFillTx/>
                <a:latin typeface="Inter" pitchFamily="34" charset="0"/>
                <a:ea typeface="Inter" pitchFamily="34" charset="-122"/>
                <a:cs typeface="Inter" pitchFamily="34" charset="-120"/>
              </a:rPr>
              <a:t>Obtain prior approval</a:t>
            </a:r>
          </a:p>
          <a:p>
            <a:pPr marL="457200" marR="0" lvl="1" indent="0" algn="l" defTabSz="914400" rtl="0" eaLnBrk="1" fontAlgn="auto" latinLnBrk="0" hangingPunct="1">
              <a:lnSpc>
                <a:spcPts val="2273"/>
              </a:lnSpc>
              <a:spcBef>
                <a:spcPts val="305"/>
              </a:spcBef>
              <a:spcAft>
                <a:spcPts val="0"/>
              </a:spcAft>
              <a:buClrTx/>
              <a:buSzTx/>
              <a:buFontTx/>
              <a:buNone/>
              <a:tabLst/>
              <a:defRPr/>
            </a:pPr>
            <a:r>
              <a:rPr kumimoji="0" lang="en-US" sz="1639" b="0" i="0" u="none" strike="noStrike" kern="0" cap="none" spc="-33" normalizeH="0" baseline="0" noProof="0" dirty="0">
                <a:ln>
                  <a:noFill/>
                </a:ln>
                <a:effectLst/>
                <a:uLnTx/>
                <a:uFillTx/>
                <a:latin typeface="Inter" pitchFamily="34" charset="0"/>
                <a:ea typeface="Inter" pitchFamily="34" charset="-122"/>
                <a:cs typeface="Inter" pitchFamily="34" charset="-120"/>
              </a:rPr>
              <a:t>Consultants must obtain explicit written approval from the IEO Director before utilizing AI tools in their evaluation work.</a:t>
            </a:r>
          </a:p>
          <a:p>
            <a:pPr marL="242900" marR="0" lvl="0" indent="-242900" algn="l" defTabSz="914400" rtl="0" eaLnBrk="1" fontAlgn="auto" latinLnBrk="0" hangingPunct="1">
              <a:lnSpc>
                <a:spcPts val="2996"/>
              </a:lnSpc>
              <a:spcBef>
                <a:spcPts val="2427"/>
              </a:spcBef>
              <a:spcAft>
                <a:spcPts val="0"/>
              </a:spcAft>
              <a:buClrTx/>
              <a:buSzPct val="100000"/>
              <a:buFontTx/>
              <a:buChar char="•"/>
              <a:tabLst/>
              <a:defRPr/>
            </a:pPr>
            <a:r>
              <a:rPr kumimoji="0" lang="en-US" sz="2565" b="1" i="0" u="none" strike="noStrike" kern="0" cap="none" spc="-154" normalizeH="0" baseline="0" noProof="0" dirty="0">
                <a:ln>
                  <a:noFill/>
                </a:ln>
                <a:effectLst/>
                <a:uLnTx/>
                <a:uFillTx/>
                <a:latin typeface="Inter" pitchFamily="34" charset="0"/>
                <a:ea typeface="Inter" pitchFamily="34" charset="-122"/>
                <a:cs typeface="Inter" pitchFamily="34" charset="-120"/>
              </a:rPr>
              <a:t>Disclose AI tool use</a:t>
            </a:r>
          </a:p>
          <a:p>
            <a:pPr marL="457200" marR="0" lvl="1" indent="0" algn="l" defTabSz="914400" rtl="0" eaLnBrk="1" fontAlgn="auto" latinLnBrk="0" hangingPunct="1">
              <a:lnSpc>
                <a:spcPts val="2273"/>
              </a:lnSpc>
              <a:spcBef>
                <a:spcPts val="305"/>
              </a:spcBef>
              <a:spcAft>
                <a:spcPts val="0"/>
              </a:spcAft>
              <a:buClrTx/>
              <a:buSzTx/>
              <a:buFontTx/>
              <a:buNone/>
              <a:tabLst/>
              <a:defRPr/>
            </a:pPr>
            <a:r>
              <a:rPr kumimoji="0" lang="en-US" sz="1639" b="0" i="0" u="none" strike="noStrike" kern="0" cap="none" spc="-33" normalizeH="0" baseline="0" noProof="0" dirty="0">
                <a:ln>
                  <a:noFill/>
                </a:ln>
                <a:effectLst/>
                <a:uLnTx/>
                <a:uFillTx/>
                <a:latin typeface="Inter" pitchFamily="34" charset="0"/>
                <a:ea typeface="Inter" pitchFamily="34" charset="-122"/>
                <a:cs typeface="Inter" pitchFamily="34" charset="-120"/>
              </a:rPr>
              <a:t>Consultants must be transparent and declare the use of AI tools, specifying the nature of AI usage. Only IEO-vetted AI tools can be used.</a:t>
            </a:r>
          </a:p>
          <a:p>
            <a:pPr marL="242900" marR="0" lvl="0" indent="-242900" algn="l" defTabSz="914400" rtl="0" eaLnBrk="1" fontAlgn="auto" latinLnBrk="0" hangingPunct="1">
              <a:lnSpc>
                <a:spcPts val="2996"/>
              </a:lnSpc>
              <a:spcBef>
                <a:spcPts val="2427"/>
              </a:spcBef>
              <a:spcAft>
                <a:spcPts val="0"/>
              </a:spcAft>
              <a:buClrTx/>
              <a:buSzPct val="100000"/>
              <a:buFontTx/>
              <a:buChar char="•"/>
              <a:tabLst/>
              <a:defRPr/>
            </a:pPr>
            <a:r>
              <a:rPr kumimoji="0" lang="en-US" sz="2565" b="1" i="0" u="none" strike="noStrike" kern="0" cap="none" spc="-154" normalizeH="0" baseline="0" noProof="0" dirty="0">
                <a:ln>
                  <a:noFill/>
                </a:ln>
                <a:effectLst/>
                <a:uLnTx/>
                <a:uFillTx/>
                <a:latin typeface="Inter" pitchFamily="34" charset="0"/>
                <a:ea typeface="Inter" pitchFamily="34" charset="-122"/>
                <a:cs typeface="Inter" pitchFamily="34" charset="-120"/>
              </a:rPr>
              <a:t>Validate outputs manually</a:t>
            </a:r>
          </a:p>
          <a:p>
            <a:pPr marL="457200" marR="0" lvl="1" indent="0" algn="l" defTabSz="914400" rtl="0" eaLnBrk="1" fontAlgn="auto" latinLnBrk="0" hangingPunct="1">
              <a:lnSpc>
                <a:spcPts val="2273"/>
              </a:lnSpc>
              <a:spcBef>
                <a:spcPts val="305"/>
              </a:spcBef>
              <a:spcAft>
                <a:spcPts val="0"/>
              </a:spcAft>
              <a:buClrTx/>
              <a:buSzTx/>
              <a:buFontTx/>
              <a:buNone/>
              <a:tabLst/>
              <a:defRPr/>
            </a:pPr>
            <a:r>
              <a:rPr kumimoji="0" lang="en-US" sz="1639" b="0" i="0" u="none" strike="noStrike" kern="0" cap="none" spc="-33" normalizeH="0" baseline="0" noProof="0" dirty="0">
                <a:ln>
                  <a:noFill/>
                </a:ln>
                <a:effectLst/>
                <a:uLnTx/>
                <a:uFillTx/>
                <a:latin typeface="Inter" pitchFamily="34" charset="0"/>
                <a:ea typeface="Inter" pitchFamily="34" charset="-122"/>
                <a:cs typeface="Inter" pitchFamily="34" charset="-120"/>
              </a:rPr>
              <a:t>Consultants must diligently check the accuracy of AI-generated results and assume full responsibility for their reliability and validity.</a:t>
            </a:r>
            <a:endParaRPr kumimoji="0" lang="en-US" sz="1800" b="0" i="0" u="none" strike="noStrike" kern="1200" cap="none" spc="0" normalizeH="0" baseline="0" noProof="0" dirty="0">
              <a:ln>
                <a:noFill/>
              </a:ln>
              <a:effectLst/>
              <a:uLnTx/>
              <a:uFillTx/>
              <a:latin typeface="Arial"/>
              <a:ea typeface="+mn-ea"/>
              <a:cs typeface="+mn-cs"/>
            </a:endParaRPr>
          </a:p>
        </p:txBody>
      </p:sp>
      <p:sp>
        <p:nvSpPr>
          <p:cNvPr id="4" name="Object 3"/>
          <p:cNvSpPr/>
          <p:nvPr/>
        </p:nvSpPr>
        <p:spPr>
          <a:xfrm>
            <a:off x="6284928" y="1552484"/>
            <a:ext cx="5446938" cy="3173810"/>
          </a:xfrm>
          <a:prstGeom prst="rect">
            <a:avLst/>
          </a:prstGeom>
          <a:noFill/>
        </p:spPr>
        <p:txBody>
          <a:bodyPr wrap="square" lIns="0" tIns="0" rIns="0" bIns="0" rtlCol="0" anchor="t"/>
          <a:lstStyle/>
          <a:p>
            <a:pPr marL="242900" marR="0" lvl="0" indent="-242900" algn="l" defTabSz="914400" rtl="0" eaLnBrk="1" fontAlgn="auto" latinLnBrk="0" hangingPunct="1">
              <a:lnSpc>
                <a:spcPts val="2996"/>
              </a:lnSpc>
              <a:spcBef>
                <a:spcPts val="0"/>
              </a:spcBef>
              <a:spcAft>
                <a:spcPts val="0"/>
              </a:spcAft>
              <a:buClrTx/>
              <a:buSzPct val="100000"/>
              <a:buFontTx/>
              <a:buChar char="•"/>
              <a:tabLst/>
              <a:defRPr/>
            </a:pPr>
            <a:r>
              <a:rPr kumimoji="0" lang="en-US" sz="2565" b="1" i="0" u="none" strike="noStrike" kern="0" cap="none" spc="-154" normalizeH="0" baseline="0" noProof="0" dirty="0">
                <a:ln>
                  <a:noFill/>
                </a:ln>
                <a:effectLst/>
                <a:uLnTx/>
                <a:uFillTx/>
                <a:latin typeface="Inter" pitchFamily="34" charset="0"/>
                <a:ea typeface="Inter" pitchFamily="34" charset="-122"/>
                <a:cs typeface="Inter" pitchFamily="34" charset="-120"/>
              </a:rPr>
              <a:t>Follow UNFPA ethical principles</a:t>
            </a:r>
          </a:p>
          <a:p>
            <a:pPr marL="457200" marR="0" lvl="1" indent="0" algn="l" defTabSz="914400" rtl="0" eaLnBrk="1" fontAlgn="auto" latinLnBrk="0" hangingPunct="1">
              <a:lnSpc>
                <a:spcPts val="2273"/>
              </a:lnSpc>
              <a:spcBef>
                <a:spcPts val="305"/>
              </a:spcBef>
              <a:spcAft>
                <a:spcPts val="0"/>
              </a:spcAft>
              <a:buClrTx/>
              <a:buSzTx/>
              <a:buFontTx/>
              <a:buNone/>
              <a:tabLst/>
              <a:defRPr/>
            </a:pPr>
            <a:r>
              <a:rPr kumimoji="0" lang="en-US" sz="1639" b="0" i="0" u="none" strike="noStrike" kern="0" cap="none" spc="-33" normalizeH="0" baseline="0" noProof="0" dirty="0">
                <a:ln>
                  <a:noFill/>
                </a:ln>
                <a:effectLst/>
                <a:uLnTx/>
                <a:uFillTx/>
                <a:latin typeface="Inter" pitchFamily="34" charset="0"/>
                <a:ea typeface="Inter" pitchFamily="34" charset="-122"/>
                <a:cs typeface="Inter" pitchFamily="34" charset="-120"/>
              </a:rPr>
              <a:t>Companies providing evaluation support to UNFPA must uphold and adhere to the Principles for the Ethical Use of Artificial Intelligence in the UN System.</a:t>
            </a:r>
          </a:p>
          <a:p>
            <a:pPr marL="242900" marR="0" lvl="0" indent="-242900" algn="l" defTabSz="914400" rtl="0" eaLnBrk="1" fontAlgn="auto" latinLnBrk="0" hangingPunct="1">
              <a:lnSpc>
                <a:spcPts val="2996"/>
              </a:lnSpc>
              <a:spcBef>
                <a:spcPts val="2427"/>
              </a:spcBef>
              <a:spcAft>
                <a:spcPts val="0"/>
              </a:spcAft>
              <a:buClrTx/>
              <a:buSzPct val="100000"/>
              <a:buFontTx/>
              <a:buChar char="•"/>
              <a:tabLst/>
              <a:defRPr/>
            </a:pPr>
            <a:r>
              <a:rPr kumimoji="0" lang="en-US" sz="2565" b="1" i="0" u="none" strike="noStrike" kern="0" cap="none" spc="-154" normalizeH="0" baseline="0" noProof="0" dirty="0">
                <a:ln>
                  <a:noFill/>
                </a:ln>
                <a:effectLst/>
                <a:uLnTx/>
                <a:uFillTx/>
                <a:latin typeface="Inter" pitchFamily="34" charset="0"/>
                <a:ea typeface="Inter" pitchFamily="34" charset="-122"/>
                <a:cs typeface="Inter" pitchFamily="34" charset="-120"/>
              </a:rPr>
              <a:t>Allow verification and transparency</a:t>
            </a:r>
          </a:p>
          <a:p>
            <a:pPr marL="457200" marR="0" lvl="1" indent="0" algn="l" defTabSz="914400" rtl="0" eaLnBrk="1" fontAlgn="auto" latinLnBrk="0" hangingPunct="1">
              <a:lnSpc>
                <a:spcPts val="2273"/>
              </a:lnSpc>
              <a:spcBef>
                <a:spcPts val="305"/>
              </a:spcBef>
              <a:spcAft>
                <a:spcPts val="0"/>
              </a:spcAft>
              <a:buClrTx/>
              <a:buSzTx/>
              <a:buFontTx/>
              <a:buNone/>
              <a:tabLst/>
              <a:defRPr/>
            </a:pPr>
            <a:r>
              <a:rPr kumimoji="0" lang="en-US" sz="1639" b="0" i="0" u="none" strike="noStrike" kern="0" cap="none" spc="-33" normalizeH="0" baseline="0" noProof="0" dirty="0">
                <a:ln>
                  <a:noFill/>
                </a:ln>
                <a:effectLst/>
                <a:uLnTx/>
                <a:uFillTx/>
                <a:latin typeface="Inter" pitchFamily="34" charset="0"/>
                <a:ea typeface="Inter" pitchFamily="34" charset="-122"/>
                <a:cs typeface="Inter" pitchFamily="34" charset="-120"/>
              </a:rPr>
              <a:t>Companies must implement processes to validate the results generated by AI analyses and provide a clear description of the methodology employed.</a:t>
            </a:r>
            <a:endParaRPr kumimoji="0" lang="en-US" sz="1800" b="0" i="0" u="none" strike="noStrike" kern="1200" cap="none" spc="0" normalizeH="0" baseline="0" noProof="0" dirty="0">
              <a:ln>
                <a:noFill/>
              </a:ln>
              <a:effectLst/>
              <a:uLnTx/>
              <a:uFillTx/>
              <a:latin typeface="Arial"/>
              <a:ea typeface="+mn-ea"/>
              <a:cs typeface="+mn-cs"/>
            </a:endParaRPr>
          </a:p>
        </p:txBody>
      </p:sp>
      <p:sp>
        <p:nvSpPr>
          <p:cNvPr id="5" name="Object 4"/>
          <p:cNvSpPr/>
          <p:nvPr/>
        </p:nvSpPr>
        <p:spPr>
          <a:xfrm>
            <a:off x="11798525" y="6497898"/>
            <a:ext cx="199975" cy="237669"/>
          </a:xfrm>
          <a:prstGeom prst="rect">
            <a:avLst/>
          </a:prstGeom>
          <a:noFill/>
        </p:spPr>
      </p:sp>
      <p:sp>
        <p:nvSpPr>
          <p:cNvPr id="25" name="Slide Number Placeholder 24"/>
          <p:cNvSpPr>
            <a:spLocks noGrp="1"/>
          </p:cNvSpPr>
          <p:nvPr>
            <p:ph type="sldNum" sz="quarter" idx="4294967295"/>
          </p:nvPr>
        </p:nvSpPr>
        <p:spPr>
          <a:xfrm>
            <a:off x="11826240" y="6515100"/>
            <a:ext cx="800000" cy="300000"/>
          </a:xfrm>
          <a:prstGeom prst="rect">
            <a:avLst/>
          </a:prstGeom>
          <a:extLst>
            <a:ext uri="{C572A759-6A51-4108-AA02-DFA0A04FC94B}">
              <ma14:wrappingTextBoxFlag xmlns="" xmlns:ma14="http://schemas.microsoft.com/office/mac/drawingml/2011/main" val="0"/>
            </a:ext>
          </a:extLst>
        </p:spPr>
        <p:txBody>
          <a:bodyPr/>
          <a:lstStyle>
            <a:lvl1pPr>
              <a:defRPr sz="1100"/>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100" b="0" i="0" u="none" strike="noStrike" kern="1200" cap="none" spc="0" normalizeH="0" baseline="0" noProof="0" smtClean="0">
                <a:ln>
                  <a:noFill/>
                </a:ln>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a:t>
            </a:fld>
            <a:endParaRPr kumimoji="0" lang="en-US" sz="1100" b="0" i="0" u="none" strike="noStrike" kern="1200" cap="none" spc="0" normalizeH="0" baseline="0" noProof="0">
              <a:ln>
                <a:noFill/>
              </a:ln>
              <a:effectLst/>
              <a:uLnTx/>
              <a:uFillTx/>
              <a:latin typeface="Arial"/>
              <a:ea typeface="+mn-ea"/>
              <a:cs typeface="+mn-cs"/>
            </a:endParaRPr>
          </a:p>
        </p:txBody>
      </p:sp>
    </p:spTree>
    <p:extLst>
      <p:ext uri="{BB962C8B-B14F-4D97-AF65-F5344CB8AC3E}">
        <p14:creationId xmlns:p14="http://schemas.microsoft.com/office/powerpoint/2010/main" val="33968714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Object 1"/>
          <p:cNvSpPr/>
          <p:nvPr/>
        </p:nvSpPr>
        <p:spPr>
          <a:xfrm>
            <a:off x="0" y="379020"/>
            <a:ext cx="12188952" cy="556081"/>
          </a:xfrm>
          <a:prstGeom prst="rect">
            <a:avLst/>
          </a:prstGeom>
          <a:noFill/>
        </p:spPr>
        <p:txBody>
          <a:bodyPr wrap="square" lIns="0" tIns="0" rIns="0" bIns="0" rtlCol="0" anchor="t"/>
          <a:lstStyle/>
          <a:p>
            <a:pPr marL="0" marR="0" lvl="0" indent="0" algn="ctr" defTabSz="914400" rtl="0" eaLnBrk="1" fontAlgn="auto" latinLnBrk="0" hangingPunct="1">
              <a:lnSpc>
                <a:spcPts val="4380"/>
              </a:lnSpc>
              <a:spcBef>
                <a:spcPts val="0"/>
              </a:spcBef>
              <a:spcAft>
                <a:spcPts val="0"/>
              </a:spcAft>
              <a:buClrTx/>
              <a:buSzTx/>
              <a:buFontTx/>
              <a:buNone/>
              <a:tabLst/>
              <a:defRPr/>
            </a:pPr>
            <a:r>
              <a:rPr kumimoji="0" lang="en-US" sz="3750" b="1" i="0" u="none" strike="noStrike" kern="0" cap="none" spc="-225" normalizeH="0" baseline="0" noProof="0" dirty="0">
                <a:ln>
                  <a:noFill/>
                </a:ln>
                <a:solidFill>
                  <a:srgbClr val="FFFFFF"/>
                </a:solidFill>
                <a:effectLst/>
                <a:uLnTx/>
                <a:uFillTx/>
                <a:latin typeface="Inter" pitchFamily="34" charset="0"/>
                <a:ea typeface="Inter" pitchFamily="34" charset="-122"/>
                <a:cs typeface="Inter" pitchFamily="34" charset="-120"/>
              </a:rPr>
              <a:t>GenAI Use Cases by Phase</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pic>
        <p:nvPicPr>
          <p:cNvPr id="3" name="Object 2"/>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76131" y="2401288"/>
            <a:ext cx="2037840" cy="1190327"/>
          </a:xfrm>
          <a:prstGeom prst="rect">
            <a:avLst/>
          </a:prstGeom>
        </p:spPr>
      </p:pic>
      <p:sp>
        <p:nvSpPr>
          <p:cNvPr id="4" name="Object 3"/>
          <p:cNvSpPr/>
          <p:nvPr/>
        </p:nvSpPr>
        <p:spPr>
          <a:xfrm>
            <a:off x="598338" y="2885532"/>
            <a:ext cx="1501400" cy="226757"/>
          </a:xfrm>
          <a:prstGeom prst="rect">
            <a:avLst/>
          </a:prstGeom>
          <a:noFill/>
        </p:spPr>
        <p:txBody>
          <a:bodyPr wrap="square" lIns="0" tIns="0" rIns="0" bIns="0" rtlCol="0" anchor="t"/>
          <a:lstStyle/>
          <a:p>
            <a:pPr marL="0" marR="0" lvl="0" indent="0" algn="ctr" defTabSz="914400" rtl="0" eaLnBrk="1" fontAlgn="auto" latinLnBrk="0" hangingPunct="1">
              <a:lnSpc>
                <a:spcPts val="1787"/>
              </a:lnSpc>
              <a:spcBef>
                <a:spcPts val="0"/>
              </a:spcBef>
              <a:spcAft>
                <a:spcPts val="0"/>
              </a:spcAft>
              <a:buClrTx/>
              <a:buSzTx/>
              <a:buFontTx/>
              <a:buNone/>
              <a:tabLst/>
              <a:defRPr/>
            </a:pPr>
            <a:r>
              <a:rPr kumimoji="0" lang="en-US" sz="1530" b="1" i="0" u="none" strike="noStrike" kern="0" cap="none" spc="-91" normalizeH="0" baseline="0" noProof="0" dirty="0">
                <a:ln>
                  <a:noFill/>
                </a:ln>
                <a:solidFill>
                  <a:srgbClr val="FFFFFF"/>
                </a:solidFill>
                <a:effectLst/>
                <a:uLnTx/>
                <a:uFillTx/>
                <a:latin typeface="Inter" pitchFamily="34" charset="0"/>
                <a:ea typeface="Inter" pitchFamily="34" charset="-122"/>
                <a:cs typeface="Inter" pitchFamily="34" charset="-120"/>
              </a:rPr>
              <a:t>Preparatory</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5" name="Object 4"/>
          <p:cNvSpPr/>
          <p:nvPr/>
        </p:nvSpPr>
        <p:spPr>
          <a:xfrm>
            <a:off x="761810" y="3722531"/>
            <a:ext cx="1501400" cy="1056614"/>
          </a:xfrm>
          <a:prstGeom prst="rect">
            <a:avLst/>
          </a:prstGeom>
          <a:noFill/>
        </p:spPr>
        <p:txBody>
          <a:bodyPr wrap="square" lIns="0" tIns="0" rIns="0" bIns="0" rtlCol="0" anchor="t"/>
          <a:lstStyle/>
          <a:p>
            <a:pPr marL="0" marR="0" lvl="0" indent="0" algn="l" defTabSz="914400" rtl="0" eaLnBrk="1" fontAlgn="auto" latinLnBrk="0" hangingPunct="1">
              <a:lnSpc>
                <a:spcPts val="2081"/>
              </a:lnSpc>
              <a:spcBef>
                <a:spcPts val="0"/>
              </a:spcBef>
              <a:spcAft>
                <a:spcPts val="0"/>
              </a:spcAft>
              <a:buClrTx/>
              <a:buSzTx/>
              <a:buFontTx/>
              <a:buNone/>
              <a:tabLst/>
              <a:defRPr/>
            </a:pPr>
            <a:r>
              <a:rPr kumimoji="0" lang="en-US" sz="1500" b="0" i="0" u="none" strike="noStrike" kern="0" cap="none" spc="-30" normalizeH="0" baseline="0" noProof="0" dirty="0">
                <a:ln>
                  <a:noFill/>
                </a:ln>
                <a:solidFill>
                  <a:srgbClr val="FFFFFF">
                    <a:alpha val="80000"/>
                  </a:srgbClr>
                </a:solidFill>
                <a:effectLst/>
                <a:uLnTx/>
                <a:uFillTx/>
                <a:latin typeface="Inter" pitchFamily="34" charset="0"/>
                <a:ea typeface="Inter" pitchFamily="34" charset="-122"/>
                <a:cs typeface="Inter" pitchFamily="34" charset="-120"/>
              </a:rPr>
              <a:t>Auto-draft ToRs; CRM-based consultant recruitment.</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pic>
        <p:nvPicPr>
          <p:cNvPr id="6" name="Object 5"/>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317171" y="2401288"/>
            <a:ext cx="2037840" cy="1190327"/>
          </a:xfrm>
          <a:prstGeom prst="rect">
            <a:avLst/>
          </a:prstGeom>
        </p:spPr>
      </p:pic>
      <p:sp>
        <p:nvSpPr>
          <p:cNvPr id="7" name="Object 6"/>
          <p:cNvSpPr/>
          <p:nvPr/>
        </p:nvSpPr>
        <p:spPr>
          <a:xfrm>
            <a:off x="2739340" y="2885532"/>
            <a:ext cx="1187153" cy="226757"/>
          </a:xfrm>
          <a:prstGeom prst="rect">
            <a:avLst/>
          </a:prstGeom>
          <a:noFill/>
        </p:spPr>
        <p:txBody>
          <a:bodyPr wrap="square" lIns="0" tIns="0" rIns="0" bIns="0" rtlCol="0" anchor="t"/>
          <a:lstStyle/>
          <a:p>
            <a:pPr marL="0" marR="0" lvl="0" indent="0" algn="ctr" defTabSz="914400" rtl="0" eaLnBrk="1" fontAlgn="auto" latinLnBrk="0" hangingPunct="1">
              <a:lnSpc>
                <a:spcPts val="1787"/>
              </a:lnSpc>
              <a:spcBef>
                <a:spcPts val="0"/>
              </a:spcBef>
              <a:spcAft>
                <a:spcPts val="0"/>
              </a:spcAft>
              <a:buClrTx/>
              <a:buSzTx/>
              <a:buFontTx/>
              <a:buNone/>
              <a:tabLst/>
              <a:defRPr/>
            </a:pPr>
            <a:r>
              <a:rPr kumimoji="0" lang="en-US" sz="1530" b="1" i="0" u="none" strike="noStrike" kern="0" cap="none" spc="-91" normalizeH="0" baseline="0" noProof="0" dirty="0">
                <a:ln>
                  <a:noFill/>
                </a:ln>
                <a:solidFill>
                  <a:srgbClr val="FFFFFF"/>
                </a:solidFill>
                <a:effectLst/>
                <a:uLnTx/>
                <a:uFillTx/>
                <a:latin typeface="Inter" pitchFamily="34" charset="0"/>
                <a:ea typeface="Inter" pitchFamily="34" charset="-122"/>
                <a:cs typeface="Inter" pitchFamily="34" charset="-120"/>
              </a:rPr>
              <a:t>Design</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8" name="Object 7"/>
          <p:cNvSpPr/>
          <p:nvPr/>
        </p:nvSpPr>
        <p:spPr>
          <a:xfrm>
            <a:off x="2602849" y="3722531"/>
            <a:ext cx="1501400" cy="1584921"/>
          </a:xfrm>
          <a:prstGeom prst="rect">
            <a:avLst/>
          </a:prstGeom>
          <a:noFill/>
        </p:spPr>
        <p:txBody>
          <a:bodyPr wrap="square" lIns="0" tIns="0" rIns="0" bIns="0" rtlCol="0" anchor="t"/>
          <a:lstStyle/>
          <a:p>
            <a:pPr marL="0" marR="0" lvl="0" indent="0" algn="l" defTabSz="914400" rtl="0" eaLnBrk="1" fontAlgn="auto" latinLnBrk="0" hangingPunct="1">
              <a:lnSpc>
                <a:spcPts val="2081"/>
              </a:lnSpc>
              <a:spcBef>
                <a:spcPts val="0"/>
              </a:spcBef>
              <a:spcAft>
                <a:spcPts val="0"/>
              </a:spcAft>
              <a:buClrTx/>
              <a:buSzTx/>
              <a:buFontTx/>
              <a:buNone/>
              <a:tabLst/>
              <a:defRPr/>
            </a:pPr>
            <a:r>
              <a:rPr kumimoji="0" lang="en-US" sz="1500" b="0" i="0" u="none" strike="noStrike" kern="0" cap="none" spc="-30" normalizeH="0" baseline="0" noProof="0" dirty="0">
                <a:ln>
                  <a:noFill/>
                </a:ln>
                <a:solidFill>
                  <a:srgbClr val="FFFFFF">
                    <a:alpha val="80000"/>
                  </a:srgbClr>
                </a:solidFill>
                <a:effectLst/>
                <a:uLnTx/>
                <a:uFillTx/>
                <a:latin typeface="Inter" pitchFamily="34" charset="0"/>
                <a:ea typeface="Inter" pitchFamily="34" charset="-122"/>
                <a:cs typeface="Inter" pitchFamily="34" charset="-120"/>
              </a:rPr>
              <a:t>Automated evidence search, summarization, portfolio synthesis.</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pic>
        <p:nvPicPr>
          <p:cNvPr id="9" name="Object 8"/>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158208" y="2401288"/>
            <a:ext cx="2037840" cy="1190327"/>
          </a:xfrm>
          <a:prstGeom prst="rect">
            <a:avLst/>
          </a:prstGeom>
        </p:spPr>
      </p:pic>
      <p:sp>
        <p:nvSpPr>
          <p:cNvPr id="10" name="Object 9"/>
          <p:cNvSpPr/>
          <p:nvPr/>
        </p:nvSpPr>
        <p:spPr>
          <a:xfrm>
            <a:off x="4580380" y="2885532"/>
            <a:ext cx="1187153" cy="226757"/>
          </a:xfrm>
          <a:prstGeom prst="rect">
            <a:avLst/>
          </a:prstGeom>
          <a:noFill/>
        </p:spPr>
        <p:txBody>
          <a:bodyPr wrap="square" lIns="0" tIns="0" rIns="0" bIns="0" rtlCol="0" anchor="t"/>
          <a:lstStyle/>
          <a:p>
            <a:pPr marL="0" marR="0" lvl="0" indent="0" algn="ctr" defTabSz="914400" rtl="0" eaLnBrk="1" fontAlgn="auto" latinLnBrk="0" hangingPunct="1">
              <a:lnSpc>
                <a:spcPts val="1787"/>
              </a:lnSpc>
              <a:spcBef>
                <a:spcPts val="0"/>
              </a:spcBef>
              <a:spcAft>
                <a:spcPts val="0"/>
              </a:spcAft>
              <a:buClrTx/>
              <a:buSzTx/>
              <a:buFontTx/>
              <a:buNone/>
              <a:tabLst/>
              <a:defRPr/>
            </a:pPr>
            <a:r>
              <a:rPr kumimoji="0" lang="en-US" sz="1530" b="1" i="0" u="none" strike="noStrike" kern="0" cap="none" spc="-91" normalizeH="0" baseline="0" noProof="0" dirty="0">
                <a:ln>
                  <a:noFill/>
                </a:ln>
                <a:solidFill>
                  <a:srgbClr val="FFFFFF"/>
                </a:solidFill>
                <a:effectLst/>
                <a:uLnTx/>
                <a:uFillTx/>
                <a:latin typeface="Inter" pitchFamily="34" charset="0"/>
                <a:ea typeface="Inter" pitchFamily="34" charset="-122"/>
                <a:cs typeface="Inter" pitchFamily="34" charset="-120"/>
              </a:rPr>
              <a:t>Field</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11" name="Object 10"/>
          <p:cNvSpPr/>
          <p:nvPr/>
        </p:nvSpPr>
        <p:spPr>
          <a:xfrm>
            <a:off x="4443889" y="3722531"/>
            <a:ext cx="1501400" cy="1584921"/>
          </a:xfrm>
          <a:prstGeom prst="rect">
            <a:avLst/>
          </a:prstGeom>
          <a:noFill/>
        </p:spPr>
        <p:txBody>
          <a:bodyPr wrap="square" lIns="0" tIns="0" rIns="0" bIns="0" rtlCol="0" anchor="t"/>
          <a:lstStyle/>
          <a:p>
            <a:pPr marL="0" marR="0" lvl="0" indent="0" algn="l" defTabSz="914400" rtl="0" eaLnBrk="1" fontAlgn="auto" latinLnBrk="0" hangingPunct="1">
              <a:lnSpc>
                <a:spcPts val="2081"/>
              </a:lnSpc>
              <a:spcBef>
                <a:spcPts val="0"/>
              </a:spcBef>
              <a:spcAft>
                <a:spcPts val="0"/>
              </a:spcAft>
              <a:buClrTx/>
              <a:buSzTx/>
              <a:buFontTx/>
              <a:buNone/>
              <a:tabLst/>
              <a:defRPr/>
            </a:pPr>
            <a:r>
              <a:rPr kumimoji="0" lang="en-US" sz="1500" b="0" i="0" u="none" strike="noStrike" kern="0" cap="none" spc="-30" normalizeH="0" baseline="0" noProof="0" dirty="0">
                <a:ln>
                  <a:noFill/>
                </a:ln>
                <a:solidFill>
                  <a:srgbClr val="FFFFFF">
                    <a:alpha val="80000"/>
                  </a:srgbClr>
                </a:solidFill>
                <a:effectLst/>
                <a:uLnTx/>
                <a:uFillTx/>
                <a:latin typeface="Inter" pitchFamily="34" charset="0"/>
                <a:ea typeface="Inter" pitchFamily="34" charset="-122"/>
                <a:cs typeface="Inter" pitchFamily="34" charset="-120"/>
              </a:rPr>
              <a:t>AI-assisted qualitative coding, transcription, quantitative trends.</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pic>
        <p:nvPicPr>
          <p:cNvPr id="12" name="Object 11"/>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999252" y="2401288"/>
            <a:ext cx="2037840" cy="1190327"/>
          </a:xfrm>
          <a:prstGeom prst="rect">
            <a:avLst/>
          </a:prstGeom>
        </p:spPr>
      </p:pic>
      <p:sp>
        <p:nvSpPr>
          <p:cNvPr id="13" name="Object 12"/>
          <p:cNvSpPr/>
          <p:nvPr/>
        </p:nvSpPr>
        <p:spPr>
          <a:xfrm>
            <a:off x="6421419" y="2885532"/>
            <a:ext cx="1187153" cy="226757"/>
          </a:xfrm>
          <a:prstGeom prst="rect">
            <a:avLst/>
          </a:prstGeom>
          <a:noFill/>
        </p:spPr>
        <p:txBody>
          <a:bodyPr wrap="square" lIns="0" tIns="0" rIns="0" bIns="0" rtlCol="0" anchor="t"/>
          <a:lstStyle/>
          <a:p>
            <a:pPr marL="0" marR="0" lvl="0" indent="0" algn="ctr" defTabSz="914400" rtl="0" eaLnBrk="1" fontAlgn="auto" latinLnBrk="0" hangingPunct="1">
              <a:lnSpc>
                <a:spcPts val="1787"/>
              </a:lnSpc>
              <a:spcBef>
                <a:spcPts val="0"/>
              </a:spcBef>
              <a:spcAft>
                <a:spcPts val="0"/>
              </a:spcAft>
              <a:buClrTx/>
              <a:buSzTx/>
              <a:buFontTx/>
              <a:buNone/>
              <a:tabLst/>
              <a:defRPr/>
            </a:pPr>
            <a:r>
              <a:rPr kumimoji="0" lang="en-US" sz="1530" b="1" i="0" u="none" strike="noStrike" kern="0" cap="none" spc="-91" normalizeH="0" baseline="0" noProof="0" dirty="0">
                <a:ln>
                  <a:noFill/>
                </a:ln>
                <a:solidFill>
                  <a:srgbClr val="FFFFFF"/>
                </a:solidFill>
                <a:effectLst/>
                <a:uLnTx/>
                <a:uFillTx/>
                <a:latin typeface="Inter" pitchFamily="34" charset="0"/>
                <a:ea typeface="Inter" pitchFamily="34" charset="-122"/>
                <a:cs typeface="Inter" pitchFamily="34" charset="-120"/>
              </a:rPr>
              <a:t>Reporting</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14" name="Object 13"/>
          <p:cNvSpPr/>
          <p:nvPr/>
        </p:nvSpPr>
        <p:spPr>
          <a:xfrm>
            <a:off x="6284928" y="3722531"/>
            <a:ext cx="1501400" cy="1584921"/>
          </a:xfrm>
          <a:prstGeom prst="rect">
            <a:avLst/>
          </a:prstGeom>
          <a:noFill/>
        </p:spPr>
        <p:txBody>
          <a:bodyPr wrap="square" lIns="0" tIns="0" rIns="0" bIns="0" rtlCol="0" anchor="t"/>
          <a:lstStyle/>
          <a:p>
            <a:pPr marL="0" marR="0" lvl="0" indent="0" algn="l" defTabSz="914400" rtl="0" eaLnBrk="1" fontAlgn="auto" latinLnBrk="0" hangingPunct="1">
              <a:lnSpc>
                <a:spcPts val="2081"/>
              </a:lnSpc>
              <a:spcBef>
                <a:spcPts val="0"/>
              </a:spcBef>
              <a:spcAft>
                <a:spcPts val="0"/>
              </a:spcAft>
              <a:buClrTx/>
              <a:buSzTx/>
              <a:buFontTx/>
              <a:buNone/>
              <a:tabLst/>
              <a:defRPr/>
            </a:pPr>
            <a:r>
              <a:rPr kumimoji="0" lang="en-US" sz="1500" b="0" i="0" u="none" strike="noStrike" kern="0" cap="none" spc="-30" normalizeH="0" baseline="0" noProof="0" dirty="0">
                <a:ln>
                  <a:noFill/>
                </a:ln>
                <a:solidFill>
                  <a:srgbClr val="FFFFFF">
                    <a:alpha val="80000"/>
                  </a:srgbClr>
                </a:solidFill>
                <a:effectLst/>
                <a:uLnTx/>
                <a:uFillTx/>
                <a:latin typeface="Inter" pitchFamily="34" charset="0"/>
                <a:ea typeface="Inter" pitchFamily="34" charset="-122"/>
                <a:cs typeface="Inter" pitchFamily="34" charset="-120"/>
              </a:rPr>
              <a:t>Draft generation, readability enhancements, feedback management.</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pic>
        <p:nvPicPr>
          <p:cNvPr id="15" name="Object 14"/>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840292" y="2401288"/>
            <a:ext cx="2037840" cy="1190327"/>
          </a:xfrm>
          <a:prstGeom prst="rect">
            <a:avLst/>
          </a:prstGeom>
        </p:spPr>
      </p:pic>
      <p:sp>
        <p:nvSpPr>
          <p:cNvPr id="16" name="Object 15"/>
          <p:cNvSpPr/>
          <p:nvPr/>
        </p:nvSpPr>
        <p:spPr>
          <a:xfrm>
            <a:off x="8262459" y="2885532"/>
            <a:ext cx="1187153" cy="226757"/>
          </a:xfrm>
          <a:prstGeom prst="rect">
            <a:avLst/>
          </a:prstGeom>
          <a:noFill/>
        </p:spPr>
        <p:txBody>
          <a:bodyPr wrap="square" lIns="0" tIns="0" rIns="0" bIns="0" rtlCol="0" anchor="t"/>
          <a:lstStyle/>
          <a:p>
            <a:pPr marL="0" marR="0" lvl="0" indent="0" algn="ctr" defTabSz="914400" rtl="0" eaLnBrk="1" fontAlgn="auto" latinLnBrk="0" hangingPunct="1">
              <a:lnSpc>
                <a:spcPts val="1787"/>
              </a:lnSpc>
              <a:spcBef>
                <a:spcPts val="0"/>
              </a:spcBef>
              <a:spcAft>
                <a:spcPts val="0"/>
              </a:spcAft>
              <a:buClrTx/>
              <a:buSzTx/>
              <a:buFontTx/>
              <a:buNone/>
              <a:tabLst/>
              <a:defRPr/>
            </a:pPr>
            <a:r>
              <a:rPr kumimoji="0" lang="en-US" sz="1530" b="1" i="0" u="none" strike="noStrike" kern="0" cap="none" spc="-91" normalizeH="0" baseline="0" noProof="0" dirty="0">
                <a:ln>
                  <a:noFill/>
                </a:ln>
                <a:solidFill>
                  <a:srgbClr val="FFFFFF"/>
                </a:solidFill>
                <a:effectLst/>
                <a:uLnTx/>
                <a:uFillTx/>
                <a:latin typeface="Inter" pitchFamily="34" charset="0"/>
                <a:ea typeface="Inter" pitchFamily="34" charset="-122"/>
                <a:cs typeface="Inter" pitchFamily="34" charset="-120"/>
              </a:rPr>
              <a:t>Dissemination</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17" name="Object 16"/>
          <p:cNvSpPr/>
          <p:nvPr/>
        </p:nvSpPr>
        <p:spPr>
          <a:xfrm>
            <a:off x="8125968" y="3722531"/>
            <a:ext cx="1501400" cy="1320767"/>
          </a:xfrm>
          <a:prstGeom prst="rect">
            <a:avLst/>
          </a:prstGeom>
          <a:noFill/>
        </p:spPr>
        <p:txBody>
          <a:bodyPr wrap="square" lIns="0" tIns="0" rIns="0" bIns="0" rtlCol="0" anchor="t"/>
          <a:lstStyle/>
          <a:p>
            <a:pPr marL="0" marR="0" lvl="0" indent="0" algn="l" defTabSz="914400" rtl="0" eaLnBrk="1" fontAlgn="auto" latinLnBrk="0" hangingPunct="1">
              <a:lnSpc>
                <a:spcPts val="2081"/>
              </a:lnSpc>
              <a:spcBef>
                <a:spcPts val="0"/>
              </a:spcBef>
              <a:spcAft>
                <a:spcPts val="0"/>
              </a:spcAft>
              <a:buClrTx/>
              <a:buSzTx/>
              <a:buFontTx/>
              <a:buNone/>
              <a:tabLst/>
              <a:defRPr/>
            </a:pPr>
            <a:r>
              <a:rPr kumimoji="0" lang="en-US" sz="1500" b="0" i="0" u="none" strike="noStrike" kern="0" cap="none" spc="-30" normalizeH="0" baseline="0" noProof="0" dirty="0">
                <a:ln>
                  <a:noFill/>
                </a:ln>
                <a:solidFill>
                  <a:srgbClr val="FFFFFF">
                    <a:alpha val="80000"/>
                  </a:srgbClr>
                </a:solidFill>
                <a:effectLst/>
                <a:uLnTx/>
                <a:uFillTx/>
                <a:latin typeface="Inter" pitchFamily="34" charset="0"/>
                <a:ea typeface="Inter" pitchFamily="34" charset="-122"/>
                <a:cs typeface="Inter" pitchFamily="34" charset="-120"/>
              </a:rPr>
              <a:t>Inclusive translation, audience targeting, auto-slides.</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pic>
        <p:nvPicPr>
          <p:cNvPr id="18" name="Object 17"/>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9681333" y="2401288"/>
            <a:ext cx="2037840" cy="1190327"/>
          </a:xfrm>
          <a:prstGeom prst="rect">
            <a:avLst/>
          </a:prstGeom>
        </p:spPr>
      </p:pic>
      <p:sp>
        <p:nvSpPr>
          <p:cNvPr id="19" name="Object 18"/>
          <p:cNvSpPr/>
          <p:nvPr/>
        </p:nvSpPr>
        <p:spPr>
          <a:xfrm>
            <a:off x="10103498" y="2771261"/>
            <a:ext cx="1187153" cy="453515"/>
          </a:xfrm>
          <a:prstGeom prst="rect">
            <a:avLst/>
          </a:prstGeom>
          <a:noFill/>
        </p:spPr>
        <p:txBody>
          <a:bodyPr wrap="square" lIns="0" tIns="0" rIns="0" bIns="0" rtlCol="0" anchor="t"/>
          <a:lstStyle/>
          <a:p>
            <a:pPr marL="0" marR="0" lvl="0" indent="0" algn="ctr" defTabSz="914400" rtl="0" eaLnBrk="1" fontAlgn="auto" latinLnBrk="0" hangingPunct="1">
              <a:lnSpc>
                <a:spcPts val="1787"/>
              </a:lnSpc>
              <a:spcBef>
                <a:spcPts val="0"/>
              </a:spcBef>
              <a:spcAft>
                <a:spcPts val="0"/>
              </a:spcAft>
              <a:buClrTx/>
              <a:buSzTx/>
              <a:buFontTx/>
              <a:buNone/>
              <a:tabLst/>
              <a:defRPr/>
            </a:pPr>
            <a:r>
              <a:rPr kumimoji="0" lang="en-US" sz="1530" b="1" i="0" u="none" strike="noStrike" kern="0" cap="none" spc="-91" normalizeH="0" baseline="0" noProof="0" dirty="0">
                <a:ln>
                  <a:noFill/>
                </a:ln>
                <a:solidFill>
                  <a:srgbClr val="333333"/>
                </a:solidFill>
                <a:effectLst/>
                <a:uLnTx/>
                <a:uFillTx/>
                <a:latin typeface="Inter" pitchFamily="34" charset="0"/>
                <a:ea typeface="Inter" pitchFamily="34" charset="-122"/>
                <a:cs typeface="Inter" pitchFamily="34" charset="-120"/>
              </a:rPr>
              <a:t>Quality Assurance</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20" name="Object 19"/>
          <p:cNvSpPr/>
          <p:nvPr/>
        </p:nvSpPr>
        <p:spPr>
          <a:xfrm>
            <a:off x="9967008" y="3722531"/>
            <a:ext cx="1501400" cy="1056614"/>
          </a:xfrm>
          <a:prstGeom prst="rect">
            <a:avLst/>
          </a:prstGeom>
          <a:noFill/>
        </p:spPr>
        <p:txBody>
          <a:bodyPr wrap="square" lIns="0" tIns="0" rIns="0" bIns="0" rtlCol="0" anchor="t"/>
          <a:lstStyle/>
          <a:p>
            <a:pPr marL="0" marR="0" lvl="0" indent="0" algn="l" defTabSz="914400" rtl="0" eaLnBrk="1" fontAlgn="auto" latinLnBrk="0" hangingPunct="1">
              <a:lnSpc>
                <a:spcPts val="2081"/>
              </a:lnSpc>
              <a:spcBef>
                <a:spcPts val="0"/>
              </a:spcBef>
              <a:spcAft>
                <a:spcPts val="0"/>
              </a:spcAft>
              <a:buClrTx/>
              <a:buSzTx/>
              <a:buFontTx/>
              <a:buNone/>
              <a:tabLst/>
              <a:defRPr/>
            </a:pPr>
            <a:r>
              <a:rPr kumimoji="0" lang="en-US" sz="1500" b="0" i="0" u="none" strike="noStrike" kern="0" cap="none" spc="-30" normalizeH="0" baseline="0" noProof="0" dirty="0">
                <a:ln>
                  <a:noFill/>
                </a:ln>
                <a:solidFill>
                  <a:srgbClr val="FFFFFF">
                    <a:alpha val="80000"/>
                  </a:srgbClr>
                </a:solidFill>
                <a:effectLst/>
                <a:uLnTx/>
                <a:uFillTx/>
                <a:latin typeface="Inter" pitchFamily="34" charset="0"/>
                <a:ea typeface="Inter" pitchFamily="34" charset="-122"/>
                <a:cs typeface="Inter" pitchFamily="34" charset="-120"/>
              </a:rPr>
              <a:t>Streamlined QA workflows; enhanced triangulation.</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21" name="Object 20"/>
          <p:cNvSpPr/>
          <p:nvPr/>
        </p:nvSpPr>
        <p:spPr>
          <a:xfrm>
            <a:off x="11808047" y="6497898"/>
            <a:ext cx="190452" cy="237669"/>
          </a:xfrm>
          <a:prstGeom prst="rect">
            <a:avLst/>
          </a:prstGeom>
          <a:noFill/>
        </p:spPr>
      </p:sp>
      <p:sp>
        <p:nvSpPr>
          <p:cNvPr id="25" name="Slide Number Placeholder 24"/>
          <p:cNvSpPr>
            <a:spLocks noGrp="1"/>
          </p:cNvSpPr>
          <p:nvPr>
            <p:ph type="sldNum" sz="quarter" idx="4294967295"/>
          </p:nvPr>
        </p:nvSpPr>
        <p:spPr>
          <a:xfrm>
            <a:off x="11826240" y="6515100"/>
            <a:ext cx="800000" cy="300000"/>
          </a:xfrm>
          <a:prstGeom prst="rect">
            <a:avLst/>
          </a:prstGeom>
          <a:extLst>
            <a:ext uri="{C572A759-6A51-4108-AA02-DFA0A04FC94B}">
              <ma14:wrappingTextBoxFlag xmlns="" xmlns:ma14="http://schemas.microsoft.com/office/mac/drawingml/2011/main" val="0"/>
            </a:ext>
          </a:extLst>
        </p:spPr>
        <p:txBody>
          <a:bodyPr/>
          <a:lstStyle>
            <a:lvl1pPr>
              <a:defRPr sz="1100"/>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100" b="0" i="0" u="none" strike="noStrike" kern="1200" cap="none" spc="0" normalizeH="0" baseline="0" noProof="0" smtClean="0">
                <a:ln>
                  <a:noFill/>
                </a:ln>
                <a:solidFill>
                  <a:prstClr val="black"/>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22</a:t>
            </a:fld>
            <a:endParaRPr kumimoji="0" lang="en-US" sz="1100" b="0" i="0" u="none" strike="noStrike" kern="1200" cap="none" spc="0" normalizeH="0" baseline="0" noProof="0">
              <a:ln>
                <a:noFill/>
              </a:ln>
              <a:solidFill>
                <a:prstClr val="black"/>
              </a:solidFill>
              <a:effectLst/>
              <a:uLnTx/>
              <a:uFillTx/>
              <a:latin typeface="Arial"/>
              <a:ea typeface="+mn-ea"/>
              <a:cs typeface="+mn-cs"/>
            </a:endParaRPr>
          </a:p>
        </p:txBody>
      </p:sp>
    </p:spTree>
    <p:extLst>
      <p:ext uri="{BB962C8B-B14F-4D97-AF65-F5344CB8AC3E}">
        <p14:creationId xmlns:p14="http://schemas.microsoft.com/office/powerpoint/2010/main" val="21664215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Object 1"/>
          <p:cNvSpPr/>
          <p:nvPr/>
        </p:nvSpPr>
        <p:spPr>
          <a:xfrm>
            <a:off x="0" y="379020"/>
            <a:ext cx="12188952" cy="556081"/>
          </a:xfrm>
          <a:prstGeom prst="rect">
            <a:avLst/>
          </a:prstGeom>
          <a:noFill/>
        </p:spPr>
        <p:txBody>
          <a:bodyPr wrap="square" lIns="0" tIns="0" rIns="0" bIns="0" rtlCol="0" anchor="t"/>
          <a:lstStyle/>
          <a:p>
            <a:pPr marL="0" marR="0" lvl="0" indent="0" algn="ctr" defTabSz="914400" rtl="0" eaLnBrk="1" fontAlgn="auto" latinLnBrk="0" hangingPunct="1">
              <a:lnSpc>
                <a:spcPts val="4380"/>
              </a:lnSpc>
              <a:spcBef>
                <a:spcPts val="0"/>
              </a:spcBef>
              <a:spcAft>
                <a:spcPts val="0"/>
              </a:spcAft>
              <a:buClrTx/>
              <a:buSzTx/>
              <a:buFontTx/>
              <a:buNone/>
              <a:tabLst/>
              <a:defRPr/>
            </a:pPr>
            <a:r>
              <a:rPr kumimoji="0" lang="en-US" sz="3750" b="1" i="0" u="none" strike="noStrike" kern="0" cap="none" spc="-225" normalizeH="0" baseline="0" noProof="0" dirty="0">
                <a:ln>
                  <a:noFill/>
                </a:ln>
                <a:solidFill>
                  <a:srgbClr val="FFFFFF"/>
                </a:solidFill>
                <a:effectLst/>
                <a:uLnTx/>
                <a:uFillTx/>
                <a:latin typeface="Inter" pitchFamily="34" charset="0"/>
                <a:ea typeface="Inter" pitchFamily="34" charset="-122"/>
                <a:cs typeface="Inter" pitchFamily="34" charset="-120"/>
              </a:rPr>
              <a:t>Prioritized User Needs Across Evaluation Phases</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pic>
        <p:nvPicPr>
          <p:cNvPr id="3" name="Object 2"/>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2080693"/>
            <a:ext cx="12198475" cy="3904274"/>
          </a:xfrm>
          <a:prstGeom prst="rect">
            <a:avLst/>
          </a:prstGeom>
        </p:spPr>
      </p:pic>
      <p:sp>
        <p:nvSpPr>
          <p:cNvPr id="4" name="Object 3"/>
          <p:cNvSpPr/>
          <p:nvPr/>
        </p:nvSpPr>
        <p:spPr>
          <a:xfrm>
            <a:off x="371382" y="5363516"/>
            <a:ext cx="1256986" cy="177954"/>
          </a:xfrm>
          <a:prstGeom prst="rect">
            <a:avLst/>
          </a:prstGeom>
          <a:noFill/>
        </p:spPr>
        <p:txBody>
          <a:bodyPr wrap="square" lIns="0" tIns="0" rIns="0" bIns="0" rtlCol="0" anchor="ctr"/>
          <a:lstStyle/>
          <a:p>
            <a:pPr marL="0" marR="0" lvl="0" indent="0" algn="ctr" defTabSz="914400" rtl="0" eaLnBrk="1" fontAlgn="auto" latinLnBrk="0" hangingPunct="1">
              <a:lnSpc>
                <a:spcPts val="1402"/>
              </a:lnSpc>
              <a:spcBef>
                <a:spcPts val="0"/>
              </a:spcBef>
              <a:spcAft>
                <a:spcPts val="0"/>
              </a:spcAft>
              <a:buClrTx/>
              <a:buSzTx/>
              <a:buFontTx/>
              <a:buNone/>
              <a:tabLst/>
              <a:defRPr/>
            </a:pPr>
            <a:r>
              <a:rPr kumimoji="0" lang="en-US" sz="1200" b="1" i="0" u="none" strike="noStrike" kern="0" cap="none" spc="-72" normalizeH="0" baseline="0" noProof="0" dirty="0">
                <a:ln>
                  <a:noFill/>
                </a:ln>
                <a:solidFill>
                  <a:srgbClr val="FFFFFF"/>
                </a:solidFill>
                <a:effectLst/>
                <a:uLnTx/>
                <a:uFillTx/>
                <a:latin typeface="Inter" pitchFamily="34" charset="0"/>
                <a:ea typeface="Inter" pitchFamily="34" charset="-122"/>
                <a:cs typeface="Inter" pitchFamily="34" charset="-120"/>
              </a:rPr>
              <a:t>Preparatory</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5" name="Object 4"/>
          <p:cNvSpPr/>
          <p:nvPr/>
        </p:nvSpPr>
        <p:spPr>
          <a:xfrm>
            <a:off x="10617720" y="2573389"/>
            <a:ext cx="1256986" cy="177954"/>
          </a:xfrm>
          <a:prstGeom prst="rect">
            <a:avLst/>
          </a:prstGeom>
          <a:noFill/>
        </p:spPr>
        <p:txBody>
          <a:bodyPr wrap="square" lIns="0" tIns="0" rIns="0" bIns="0" rtlCol="0" anchor="t"/>
          <a:lstStyle/>
          <a:p>
            <a:pPr marL="0" marR="0" lvl="0" indent="0" algn="l" defTabSz="914400" rtl="0" eaLnBrk="1" fontAlgn="auto" latinLnBrk="0" hangingPunct="1">
              <a:lnSpc>
                <a:spcPts val="1402"/>
              </a:lnSpc>
              <a:spcBef>
                <a:spcPts val="0"/>
              </a:spcBef>
              <a:spcAft>
                <a:spcPts val="0"/>
              </a:spcAft>
              <a:buClrTx/>
              <a:buSzTx/>
              <a:buFontTx/>
              <a:buNone/>
              <a:tabLst/>
              <a:defRPr/>
            </a:pPr>
            <a:r>
              <a:rPr kumimoji="0" lang="en-US" sz="1200" b="1" i="0" u="none" strike="noStrike" kern="0" cap="none" spc="-72" normalizeH="0" baseline="0" noProof="0" dirty="0">
                <a:ln>
                  <a:noFill/>
                </a:ln>
                <a:solidFill>
                  <a:srgbClr val="FFFFFF"/>
                </a:solidFill>
                <a:effectLst/>
                <a:uLnTx/>
                <a:uFillTx/>
                <a:latin typeface="Inter" pitchFamily="34" charset="0"/>
                <a:ea typeface="Inter" pitchFamily="34" charset="-122"/>
                <a:cs typeface="Inter" pitchFamily="34" charset="-120"/>
              </a:rPr>
              <a:t>Dissemination</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pic>
        <p:nvPicPr>
          <p:cNvPr id="6" name="Object 5"/>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436790" y="2233054"/>
            <a:ext cx="380905" cy="495176"/>
          </a:xfrm>
          <a:prstGeom prst="rect">
            <a:avLst/>
          </a:prstGeom>
        </p:spPr>
      </p:pic>
      <p:sp>
        <p:nvSpPr>
          <p:cNvPr id="7" name="Object 6"/>
          <p:cNvSpPr/>
          <p:nvPr/>
        </p:nvSpPr>
        <p:spPr>
          <a:xfrm>
            <a:off x="3180555" y="4898693"/>
            <a:ext cx="1675981" cy="222393"/>
          </a:xfrm>
          <a:prstGeom prst="rect">
            <a:avLst/>
          </a:prstGeom>
          <a:noFill/>
        </p:spPr>
        <p:txBody>
          <a:bodyPr wrap="square" lIns="0" tIns="0" rIns="0" bIns="0" rtlCol="0" anchor="t"/>
          <a:lstStyle/>
          <a:p>
            <a:pPr marL="0" marR="0" lvl="0" indent="0" algn="l" defTabSz="914400" rtl="0" eaLnBrk="1" fontAlgn="auto" latinLnBrk="0" hangingPunct="1">
              <a:lnSpc>
                <a:spcPts val="1752"/>
              </a:lnSpc>
              <a:spcBef>
                <a:spcPts val="0"/>
              </a:spcBef>
              <a:spcAft>
                <a:spcPts val="0"/>
              </a:spcAft>
              <a:buClrTx/>
              <a:buSzTx/>
              <a:buFontTx/>
              <a:buNone/>
              <a:tabLst/>
              <a:defRPr/>
            </a:pPr>
            <a:r>
              <a:rPr kumimoji="0" lang="en-US" sz="1500" b="1" i="0" u="none" strike="noStrike" kern="0" cap="none" spc="-90" normalizeH="0" baseline="0" noProof="0" dirty="0">
                <a:ln>
                  <a:noFill/>
                </a:ln>
                <a:solidFill>
                  <a:srgbClr val="FFFFFF"/>
                </a:solidFill>
                <a:effectLst/>
                <a:uLnTx/>
                <a:uFillTx/>
                <a:latin typeface="Inter" pitchFamily="34" charset="0"/>
                <a:ea typeface="Inter" pitchFamily="34" charset="-122"/>
                <a:cs typeface="Inter" pitchFamily="34" charset="-120"/>
              </a:rPr>
              <a:t>ToR Drafting</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8" name="Object 7"/>
          <p:cNvSpPr/>
          <p:nvPr/>
        </p:nvSpPr>
        <p:spPr>
          <a:xfrm>
            <a:off x="3180555" y="5219189"/>
            <a:ext cx="1675981" cy="422566"/>
          </a:xfrm>
          <a:prstGeom prst="rect">
            <a:avLst/>
          </a:prstGeom>
          <a:noFill/>
        </p:spPr>
        <p:txBody>
          <a:bodyPr wrap="square" lIns="0" tIns="0" rIns="0" bIns="0" rtlCol="0" anchor="t"/>
          <a:lstStyle/>
          <a:p>
            <a:pPr marL="0" marR="0" lvl="0" indent="0" algn="l" defTabSz="914400" rtl="0" eaLnBrk="1" fontAlgn="auto" latinLnBrk="0" hangingPunct="1">
              <a:lnSpc>
                <a:spcPts val="1664"/>
              </a:lnSpc>
              <a:spcBef>
                <a:spcPts val="757"/>
              </a:spcBef>
              <a:spcAft>
                <a:spcPts val="0"/>
              </a:spcAft>
              <a:buClrTx/>
              <a:buSzTx/>
              <a:buFontTx/>
              <a:buNone/>
              <a:tabLst/>
              <a:defRPr/>
            </a:pPr>
            <a:r>
              <a:rPr kumimoji="0" lang="en-US" sz="1200" b="0" i="0" u="none" strike="noStrike" kern="0" cap="none" spc="-24" normalizeH="0" baseline="0" noProof="0" dirty="0">
                <a:ln>
                  <a:noFill/>
                </a:ln>
                <a:solidFill>
                  <a:srgbClr val="FFFFFF">
                    <a:alpha val="80000"/>
                  </a:srgbClr>
                </a:solidFill>
                <a:effectLst/>
                <a:uLnTx/>
                <a:uFillTx/>
                <a:latin typeface="Inter" pitchFamily="34" charset="0"/>
                <a:ea typeface="Inter" pitchFamily="34" charset="-122"/>
                <a:cs typeface="Inter" pitchFamily="34" charset="-120"/>
              </a:rPr>
              <a:t>Generating initial Terms of Reference</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pic>
        <p:nvPicPr>
          <p:cNvPr id="9" name="Object 8"/>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666333" y="4670845"/>
            <a:ext cx="295201" cy="399950"/>
          </a:xfrm>
          <a:prstGeom prst="rect">
            <a:avLst/>
          </a:prstGeom>
        </p:spPr>
      </p:pic>
      <p:sp>
        <p:nvSpPr>
          <p:cNvPr id="10" name="Object 9"/>
          <p:cNvSpPr/>
          <p:nvPr/>
        </p:nvSpPr>
        <p:spPr>
          <a:xfrm>
            <a:off x="3732867" y="3203667"/>
            <a:ext cx="1675981" cy="222393"/>
          </a:xfrm>
          <a:prstGeom prst="rect">
            <a:avLst/>
          </a:prstGeom>
          <a:noFill/>
        </p:spPr>
        <p:txBody>
          <a:bodyPr wrap="square" lIns="0" tIns="0" rIns="0" bIns="0" rtlCol="0" anchor="t"/>
          <a:lstStyle/>
          <a:p>
            <a:pPr marL="0" marR="0" lvl="0" indent="0" algn="l" defTabSz="914400" rtl="0" eaLnBrk="1" fontAlgn="auto" latinLnBrk="0" hangingPunct="1">
              <a:lnSpc>
                <a:spcPts val="1752"/>
              </a:lnSpc>
              <a:spcBef>
                <a:spcPts val="0"/>
              </a:spcBef>
              <a:spcAft>
                <a:spcPts val="0"/>
              </a:spcAft>
              <a:buClrTx/>
              <a:buSzTx/>
              <a:buFontTx/>
              <a:buNone/>
              <a:tabLst/>
              <a:defRPr/>
            </a:pPr>
            <a:r>
              <a:rPr kumimoji="0" lang="en-US" sz="1500" b="1" i="0" u="none" strike="noStrike" kern="0" cap="none" spc="-90" normalizeH="0" baseline="0" noProof="0" dirty="0">
                <a:ln>
                  <a:noFill/>
                </a:ln>
                <a:solidFill>
                  <a:srgbClr val="FFFFFF"/>
                </a:solidFill>
                <a:effectLst/>
                <a:uLnTx/>
                <a:uFillTx/>
                <a:latin typeface="Inter" pitchFamily="34" charset="0"/>
                <a:ea typeface="Inter" pitchFamily="34" charset="-122"/>
                <a:cs typeface="Inter" pitchFamily="34" charset="-120"/>
              </a:rPr>
              <a:t>Evidence Synthesis</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11" name="Object 10"/>
          <p:cNvSpPr/>
          <p:nvPr/>
        </p:nvSpPr>
        <p:spPr>
          <a:xfrm>
            <a:off x="3732867" y="3524162"/>
            <a:ext cx="1675981" cy="422566"/>
          </a:xfrm>
          <a:prstGeom prst="rect">
            <a:avLst/>
          </a:prstGeom>
          <a:noFill/>
        </p:spPr>
        <p:txBody>
          <a:bodyPr wrap="square" lIns="0" tIns="0" rIns="0" bIns="0" rtlCol="0" anchor="t"/>
          <a:lstStyle/>
          <a:p>
            <a:pPr marL="0" marR="0" lvl="0" indent="0" algn="l" defTabSz="914400" rtl="0" eaLnBrk="1" fontAlgn="auto" latinLnBrk="0" hangingPunct="1">
              <a:lnSpc>
                <a:spcPts val="1664"/>
              </a:lnSpc>
              <a:spcBef>
                <a:spcPts val="757"/>
              </a:spcBef>
              <a:spcAft>
                <a:spcPts val="0"/>
              </a:spcAft>
              <a:buClrTx/>
              <a:buSzTx/>
              <a:buFontTx/>
              <a:buNone/>
              <a:tabLst/>
              <a:defRPr/>
            </a:pPr>
            <a:r>
              <a:rPr kumimoji="0" lang="en-US" sz="1200" b="0" i="0" u="none" strike="noStrike" kern="0" cap="none" spc="-24" normalizeH="0" baseline="0" noProof="0" dirty="0">
                <a:ln>
                  <a:noFill/>
                </a:ln>
                <a:solidFill>
                  <a:srgbClr val="FFFFFF">
                    <a:alpha val="80000"/>
                  </a:srgbClr>
                </a:solidFill>
                <a:effectLst/>
                <a:uLnTx/>
                <a:uFillTx/>
                <a:latin typeface="Inter" pitchFamily="34" charset="0"/>
                <a:ea typeface="Inter" pitchFamily="34" charset="-122"/>
                <a:cs typeface="Inter" pitchFamily="34" charset="-120"/>
              </a:rPr>
              <a:t>Searching, retrieving, and summarizing data</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pic>
        <p:nvPicPr>
          <p:cNvPr id="12" name="Object 11"/>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447188" y="2718708"/>
            <a:ext cx="295201" cy="399950"/>
          </a:xfrm>
          <a:prstGeom prst="rect">
            <a:avLst/>
          </a:prstGeom>
        </p:spPr>
      </p:pic>
      <p:sp>
        <p:nvSpPr>
          <p:cNvPr id="13" name="Object 12"/>
          <p:cNvSpPr/>
          <p:nvPr/>
        </p:nvSpPr>
        <p:spPr>
          <a:xfrm>
            <a:off x="6075431" y="2208553"/>
            <a:ext cx="1675981" cy="222393"/>
          </a:xfrm>
          <a:prstGeom prst="rect">
            <a:avLst/>
          </a:prstGeom>
          <a:noFill/>
        </p:spPr>
        <p:txBody>
          <a:bodyPr wrap="square" lIns="0" tIns="0" rIns="0" bIns="0" rtlCol="0" anchor="t"/>
          <a:lstStyle/>
          <a:p>
            <a:pPr marL="0" marR="0" lvl="0" indent="0" algn="l" defTabSz="914400" rtl="0" eaLnBrk="1" fontAlgn="auto" latinLnBrk="0" hangingPunct="1">
              <a:lnSpc>
                <a:spcPts val="1752"/>
              </a:lnSpc>
              <a:spcBef>
                <a:spcPts val="0"/>
              </a:spcBef>
              <a:spcAft>
                <a:spcPts val="0"/>
              </a:spcAft>
              <a:buClrTx/>
              <a:buSzTx/>
              <a:buFontTx/>
              <a:buNone/>
              <a:tabLst/>
              <a:defRPr/>
            </a:pPr>
            <a:r>
              <a:rPr kumimoji="0" lang="en-US" sz="1500" b="1" i="0" u="none" strike="noStrike" kern="0" cap="none" spc="-90" normalizeH="0" baseline="0" noProof="0" dirty="0">
                <a:ln>
                  <a:noFill/>
                </a:ln>
                <a:solidFill>
                  <a:srgbClr val="FFFFFF"/>
                </a:solidFill>
                <a:effectLst/>
                <a:uLnTx/>
                <a:uFillTx/>
                <a:latin typeface="Inter" pitchFamily="34" charset="0"/>
                <a:ea typeface="Inter" pitchFamily="34" charset="-122"/>
                <a:cs typeface="Inter" pitchFamily="34" charset="-120"/>
              </a:rPr>
              <a:t>Data Analysis</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14" name="Object 13"/>
          <p:cNvSpPr/>
          <p:nvPr/>
        </p:nvSpPr>
        <p:spPr>
          <a:xfrm>
            <a:off x="6075431" y="2529049"/>
            <a:ext cx="1675981" cy="633849"/>
          </a:xfrm>
          <a:prstGeom prst="rect">
            <a:avLst/>
          </a:prstGeom>
          <a:noFill/>
        </p:spPr>
        <p:txBody>
          <a:bodyPr wrap="square" lIns="0" tIns="0" rIns="0" bIns="0" rtlCol="0" anchor="t"/>
          <a:lstStyle/>
          <a:p>
            <a:pPr marL="0" marR="0" lvl="0" indent="0" algn="l" defTabSz="914400" rtl="0" eaLnBrk="1" fontAlgn="auto" latinLnBrk="0" hangingPunct="1">
              <a:lnSpc>
                <a:spcPts val="1664"/>
              </a:lnSpc>
              <a:spcBef>
                <a:spcPts val="757"/>
              </a:spcBef>
              <a:spcAft>
                <a:spcPts val="0"/>
              </a:spcAft>
              <a:buClrTx/>
              <a:buSzTx/>
              <a:buFontTx/>
              <a:buNone/>
              <a:tabLst/>
              <a:defRPr/>
            </a:pPr>
            <a:r>
              <a:rPr kumimoji="0" lang="en-US" sz="1200" b="0" i="0" u="none" strike="noStrike" kern="0" cap="none" spc="-24" normalizeH="0" baseline="0" noProof="0" dirty="0">
                <a:ln>
                  <a:noFill/>
                </a:ln>
                <a:solidFill>
                  <a:srgbClr val="FFFFFF">
                    <a:alpha val="80000"/>
                  </a:srgbClr>
                </a:solidFill>
                <a:effectLst/>
                <a:uLnTx/>
                <a:uFillTx/>
                <a:latin typeface="Inter" pitchFamily="34" charset="0"/>
                <a:ea typeface="Inter" pitchFamily="34" charset="-122"/>
                <a:cs typeface="Inter" pitchFamily="34" charset="-120"/>
              </a:rPr>
              <a:t>Qualitative, quantitative, and transcription support</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pic>
        <p:nvPicPr>
          <p:cNvPr id="15" name="Object 14"/>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599301" y="2718708"/>
            <a:ext cx="285679" cy="399950"/>
          </a:xfrm>
          <a:prstGeom prst="rect">
            <a:avLst/>
          </a:prstGeom>
        </p:spPr>
      </p:pic>
      <p:sp>
        <p:nvSpPr>
          <p:cNvPr id="16" name="Object 15"/>
          <p:cNvSpPr/>
          <p:nvPr/>
        </p:nvSpPr>
        <p:spPr>
          <a:xfrm>
            <a:off x="6732491" y="3998806"/>
            <a:ext cx="1675981" cy="222393"/>
          </a:xfrm>
          <a:prstGeom prst="rect">
            <a:avLst/>
          </a:prstGeom>
          <a:noFill/>
        </p:spPr>
        <p:txBody>
          <a:bodyPr wrap="square" lIns="0" tIns="0" rIns="0" bIns="0" rtlCol="0" anchor="t"/>
          <a:lstStyle/>
          <a:p>
            <a:pPr marL="0" marR="0" lvl="0" indent="0" algn="l" defTabSz="914400" rtl="0" eaLnBrk="1" fontAlgn="auto" latinLnBrk="0" hangingPunct="1">
              <a:lnSpc>
                <a:spcPts val="1752"/>
              </a:lnSpc>
              <a:spcBef>
                <a:spcPts val="0"/>
              </a:spcBef>
              <a:spcAft>
                <a:spcPts val="0"/>
              </a:spcAft>
              <a:buClrTx/>
              <a:buSzTx/>
              <a:buFontTx/>
              <a:buNone/>
              <a:tabLst/>
              <a:defRPr/>
            </a:pPr>
            <a:r>
              <a:rPr kumimoji="0" lang="en-US" sz="1500" b="1" i="0" u="none" strike="noStrike" kern="0" cap="none" spc="-90" normalizeH="0" baseline="0" noProof="0" dirty="0">
                <a:ln>
                  <a:noFill/>
                </a:ln>
                <a:solidFill>
                  <a:srgbClr val="FFFFFF"/>
                </a:solidFill>
                <a:effectLst/>
                <a:uLnTx/>
                <a:uFillTx/>
                <a:latin typeface="Inter" pitchFamily="34" charset="0"/>
                <a:ea typeface="Inter" pitchFamily="34" charset="-122"/>
                <a:cs typeface="Inter" pitchFamily="34" charset="-120"/>
              </a:rPr>
              <a:t>Report Drafting</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17" name="Object 16"/>
          <p:cNvSpPr/>
          <p:nvPr/>
        </p:nvSpPr>
        <p:spPr>
          <a:xfrm>
            <a:off x="6732491" y="4319301"/>
            <a:ext cx="1675981" cy="422566"/>
          </a:xfrm>
          <a:prstGeom prst="rect">
            <a:avLst/>
          </a:prstGeom>
          <a:noFill/>
        </p:spPr>
        <p:txBody>
          <a:bodyPr wrap="square" lIns="0" tIns="0" rIns="0" bIns="0" rtlCol="0" anchor="t"/>
          <a:lstStyle/>
          <a:p>
            <a:pPr marL="0" marR="0" lvl="0" indent="0" algn="l" defTabSz="914400" rtl="0" eaLnBrk="1" fontAlgn="auto" latinLnBrk="0" hangingPunct="1">
              <a:lnSpc>
                <a:spcPts val="1664"/>
              </a:lnSpc>
              <a:spcBef>
                <a:spcPts val="757"/>
              </a:spcBef>
              <a:spcAft>
                <a:spcPts val="0"/>
              </a:spcAft>
              <a:buClrTx/>
              <a:buSzTx/>
              <a:buFontTx/>
              <a:buNone/>
              <a:tabLst/>
              <a:defRPr/>
            </a:pPr>
            <a:r>
              <a:rPr kumimoji="0" lang="en-US" sz="1200" b="0" i="0" u="none" strike="noStrike" kern="0" cap="none" spc="-24" normalizeH="0" baseline="0" noProof="0" dirty="0">
                <a:ln>
                  <a:noFill/>
                </a:ln>
                <a:solidFill>
                  <a:srgbClr val="FFFFFF">
                    <a:alpha val="80000"/>
                  </a:srgbClr>
                </a:solidFill>
                <a:effectLst/>
                <a:uLnTx/>
                <a:uFillTx/>
                <a:latin typeface="Inter" pitchFamily="34" charset="0"/>
                <a:ea typeface="Inter" pitchFamily="34" charset="-122"/>
                <a:cs typeface="Inter" pitchFamily="34" charset="-120"/>
              </a:rPr>
              <a:t>Assisting with report generation and editing</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pic>
        <p:nvPicPr>
          <p:cNvPr id="18" name="Object 17"/>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303974" y="4604187"/>
            <a:ext cx="285679" cy="399950"/>
          </a:xfrm>
          <a:prstGeom prst="rect">
            <a:avLst/>
          </a:prstGeom>
        </p:spPr>
      </p:pic>
      <p:sp>
        <p:nvSpPr>
          <p:cNvPr id="19" name="Object 18"/>
          <p:cNvSpPr/>
          <p:nvPr/>
        </p:nvSpPr>
        <p:spPr>
          <a:xfrm>
            <a:off x="8998875" y="4898693"/>
            <a:ext cx="1675981" cy="222393"/>
          </a:xfrm>
          <a:prstGeom prst="rect">
            <a:avLst/>
          </a:prstGeom>
          <a:noFill/>
        </p:spPr>
        <p:txBody>
          <a:bodyPr wrap="square" lIns="0" tIns="0" rIns="0" bIns="0" rtlCol="0" anchor="t"/>
          <a:lstStyle/>
          <a:p>
            <a:pPr marL="0" marR="0" lvl="0" indent="0" algn="l" defTabSz="914400" rtl="0" eaLnBrk="1" fontAlgn="auto" latinLnBrk="0" hangingPunct="1">
              <a:lnSpc>
                <a:spcPts val="1752"/>
              </a:lnSpc>
              <a:spcBef>
                <a:spcPts val="0"/>
              </a:spcBef>
              <a:spcAft>
                <a:spcPts val="0"/>
              </a:spcAft>
              <a:buClrTx/>
              <a:buSzTx/>
              <a:buFontTx/>
              <a:buNone/>
              <a:tabLst/>
              <a:defRPr/>
            </a:pPr>
            <a:r>
              <a:rPr kumimoji="0" lang="en-US" sz="1500" b="1" i="0" u="none" strike="noStrike" kern="0" cap="none" spc="-90" normalizeH="0" baseline="0" noProof="0" dirty="0">
                <a:ln>
                  <a:noFill/>
                </a:ln>
                <a:solidFill>
                  <a:srgbClr val="FFFFFF"/>
                </a:solidFill>
                <a:effectLst/>
                <a:uLnTx/>
                <a:uFillTx/>
                <a:latin typeface="Inter" pitchFamily="34" charset="0"/>
                <a:ea typeface="Inter" pitchFamily="34" charset="-122"/>
                <a:cs typeface="Inter" pitchFamily="34" charset="-120"/>
              </a:rPr>
              <a:t>Translation</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20" name="Object 19"/>
          <p:cNvSpPr/>
          <p:nvPr/>
        </p:nvSpPr>
        <p:spPr>
          <a:xfrm>
            <a:off x="8998875" y="5219189"/>
            <a:ext cx="1675981" cy="633849"/>
          </a:xfrm>
          <a:prstGeom prst="rect">
            <a:avLst/>
          </a:prstGeom>
          <a:noFill/>
        </p:spPr>
        <p:txBody>
          <a:bodyPr wrap="square" lIns="0" tIns="0" rIns="0" bIns="0" rtlCol="0" anchor="t"/>
          <a:lstStyle/>
          <a:p>
            <a:pPr marL="0" marR="0" lvl="0" indent="0" algn="l" defTabSz="914400" rtl="0" eaLnBrk="1" fontAlgn="auto" latinLnBrk="0" hangingPunct="1">
              <a:lnSpc>
                <a:spcPts val="1664"/>
              </a:lnSpc>
              <a:spcBef>
                <a:spcPts val="757"/>
              </a:spcBef>
              <a:spcAft>
                <a:spcPts val="0"/>
              </a:spcAft>
              <a:buClrTx/>
              <a:buSzTx/>
              <a:buFontTx/>
              <a:buNone/>
              <a:tabLst/>
              <a:defRPr/>
            </a:pPr>
            <a:r>
              <a:rPr kumimoji="0" lang="en-US" sz="1200" b="0" i="0" u="none" strike="noStrike" kern="0" cap="none" spc="-24" normalizeH="0" baseline="0" noProof="0" dirty="0">
                <a:ln>
                  <a:noFill/>
                </a:ln>
                <a:solidFill>
                  <a:srgbClr val="FFFFFF">
                    <a:alpha val="80000"/>
                  </a:srgbClr>
                </a:solidFill>
                <a:effectLst/>
                <a:uLnTx/>
                <a:uFillTx/>
                <a:latin typeface="Inter" pitchFamily="34" charset="0"/>
                <a:ea typeface="Inter" pitchFamily="34" charset="-122"/>
                <a:cs typeface="Inter" pitchFamily="34" charset="-120"/>
              </a:rPr>
              <a:t>Converting reports to diverse languages and formats</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pic>
        <p:nvPicPr>
          <p:cNvPr id="21" name="Object 20"/>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456086" y="4604187"/>
            <a:ext cx="285679" cy="399950"/>
          </a:xfrm>
          <a:prstGeom prst="rect">
            <a:avLst/>
          </a:prstGeom>
        </p:spPr>
      </p:pic>
      <p:sp>
        <p:nvSpPr>
          <p:cNvPr id="22" name="Object 21"/>
          <p:cNvSpPr/>
          <p:nvPr/>
        </p:nvSpPr>
        <p:spPr>
          <a:xfrm>
            <a:off x="9408347" y="3260803"/>
            <a:ext cx="1675981" cy="222393"/>
          </a:xfrm>
          <a:prstGeom prst="rect">
            <a:avLst/>
          </a:prstGeom>
          <a:noFill/>
        </p:spPr>
        <p:txBody>
          <a:bodyPr wrap="square" lIns="0" tIns="0" rIns="0" bIns="0" rtlCol="0" anchor="t"/>
          <a:lstStyle/>
          <a:p>
            <a:pPr marL="0" marR="0" lvl="0" indent="0" algn="l" defTabSz="914400" rtl="0" eaLnBrk="1" fontAlgn="auto" latinLnBrk="0" hangingPunct="1">
              <a:lnSpc>
                <a:spcPts val="1752"/>
              </a:lnSpc>
              <a:spcBef>
                <a:spcPts val="0"/>
              </a:spcBef>
              <a:spcAft>
                <a:spcPts val="0"/>
              </a:spcAft>
              <a:buClrTx/>
              <a:buSzTx/>
              <a:buFontTx/>
              <a:buNone/>
              <a:tabLst/>
              <a:defRPr/>
            </a:pPr>
            <a:r>
              <a:rPr kumimoji="0" lang="en-US" sz="1500" b="1" i="0" u="none" strike="noStrike" kern="0" cap="none" spc="-90" normalizeH="0" baseline="0" noProof="0" dirty="0">
                <a:ln>
                  <a:noFill/>
                </a:ln>
                <a:solidFill>
                  <a:srgbClr val="FFFFFF"/>
                </a:solidFill>
                <a:effectLst/>
                <a:uLnTx/>
                <a:uFillTx/>
                <a:latin typeface="Inter" pitchFamily="34" charset="0"/>
                <a:ea typeface="Inter" pitchFamily="34" charset="-122"/>
                <a:cs typeface="Inter" pitchFamily="34" charset="-120"/>
              </a:rPr>
              <a:t>Accessibility</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23" name="Object 22"/>
          <p:cNvSpPr/>
          <p:nvPr/>
        </p:nvSpPr>
        <p:spPr>
          <a:xfrm>
            <a:off x="9408347" y="3581298"/>
            <a:ext cx="1675981" cy="633849"/>
          </a:xfrm>
          <a:prstGeom prst="rect">
            <a:avLst/>
          </a:prstGeom>
          <a:noFill/>
        </p:spPr>
        <p:txBody>
          <a:bodyPr wrap="square" lIns="0" tIns="0" rIns="0" bIns="0" rtlCol="0" anchor="t"/>
          <a:lstStyle/>
          <a:p>
            <a:pPr marL="0" marR="0" lvl="0" indent="0" algn="l" defTabSz="914400" rtl="0" eaLnBrk="1" fontAlgn="auto" latinLnBrk="0" hangingPunct="1">
              <a:lnSpc>
                <a:spcPts val="1664"/>
              </a:lnSpc>
              <a:spcBef>
                <a:spcPts val="757"/>
              </a:spcBef>
              <a:spcAft>
                <a:spcPts val="0"/>
              </a:spcAft>
              <a:buClrTx/>
              <a:buSzTx/>
              <a:buFontTx/>
              <a:buNone/>
              <a:tabLst/>
              <a:defRPr/>
            </a:pPr>
            <a:r>
              <a:rPr kumimoji="0" lang="en-US" sz="1200" b="0" i="0" u="none" strike="noStrike" kern="0" cap="none" spc="-24" normalizeH="0" baseline="0" noProof="0" dirty="0">
                <a:ln>
                  <a:noFill/>
                </a:ln>
                <a:solidFill>
                  <a:srgbClr val="FFFFFF">
                    <a:alpha val="80000"/>
                  </a:srgbClr>
                </a:solidFill>
                <a:effectLst/>
                <a:uLnTx/>
                <a:uFillTx/>
                <a:latin typeface="Inter" pitchFamily="34" charset="0"/>
                <a:ea typeface="Inter" pitchFamily="34" charset="-122"/>
                <a:cs typeface="Inter" pitchFamily="34" charset="-120"/>
              </a:rPr>
              <a:t>Enhancing report readability and usability</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pic>
        <p:nvPicPr>
          <p:cNvPr id="24" name="Object 23"/>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217896" y="2652049"/>
            <a:ext cx="295201" cy="399950"/>
          </a:xfrm>
          <a:prstGeom prst="rect">
            <a:avLst/>
          </a:prstGeom>
        </p:spPr>
      </p:pic>
      <p:sp>
        <p:nvSpPr>
          <p:cNvPr id="25" name="Object 24"/>
          <p:cNvSpPr/>
          <p:nvPr/>
        </p:nvSpPr>
        <p:spPr>
          <a:xfrm>
            <a:off x="11798525" y="6497898"/>
            <a:ext cx="199975" cy="237669"/>
          </a:xfrm>
          <a:prstGeom prst="rect">
            <a:avLst/>
          </a:prstGeom>
          <a:noFill/>
        </p:spPr>
      </p:sp>
      <p:sp>
        <p:nvSpPr>
          <p:cNvPr id="26" name="Slide Number Placeholder 24"/>
          <p:cNvSpPr>
            <a:spLocks noGrp="1"/>
          </p:cNvSpPr>
          <p:nvPr>
            <p:ph type="sldNum" sz="quarter" idx="4294967295"/>
          </p:nvPr>
        </p:nvSpPr>
        <p:spPr>
          <a:xfrm>
            <a:off x="11826240" y="6515100"/>
            <a:ext cx="800000" cy="300000"/>
          </a:xfrm>
          <a:prstGeom prst="rect">
            <a:avLst/>
          </a:prstGeom>
          <a:extLst>
            <a:ext uri="{C572A759-6A51-4108-AA02-DFA0A04FC94B}">
              <ma14:wrappingTextBoxFlag xmlns="" xmlns:ma14="http://schemas.microsoft.com/office/mac/drawingml/2011/main" val="0"/>
            </a:ext>
          </a:extLst>
        </p:spPr>
        <p:txBody>
          <a:bodyPr/>
          <a:lstStyle>
            <a:lvl1pPr>
              <a:defRPr sz="1100"/>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100" b="0" i="0" u="none" strike="noStrike" kern="1200" cap="none" spc="0" normalizeH="0" baseline="0" noProof="0" smtClean="0">
                <a:ln>
                  <a:noFill/>
                </a:ln>
                <a:solidFill>
                  <a:prstClr val="black"/>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23</a:t>
            </a:fld>
            <a:endParaRPr kumimoji="0" lang="en-US" sz="1100" b="0" i="0" u="none" strike="noStrike" kern="1200" cap="none" spc="0" normalizeH="0" baseline="0" noProof="0">
              <a:ln>
                <a:noFill/>
              </a:ln>
              <a:solidFill>
                <a:prstClr val="black"/>
              </a:solidFill>
              <a:effectLst/>
              <a:uLnTx/>
              <a:uFillTx/>
              <a:latin typeface="Arial"/>
              <a:ea typeface="+mn-ea"/>
              <a:cs typeface="+mn-cs"/>
            </a:endParaRPr>
          </a:p>
        </p:txBody>
      </p:sp>
    </p:spTree>
    <p:extLst>
      <p:ext uri="{BB962C8B-B14F-4D97-AF65-F5344CB8AC3E}">
        <p14:creationId xmlns:p14="http://schemas.microsoft.com/office/powerpoint/2010/main" val="25966756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0" y="379020"/>
            <a:ext cx="12188952" cy="556081"/>
          </a:xfrm>
          <a:prstGeom prst="rect">
            <a:avLst/>
          </a:prstGeom>
          <a:noFill/>
        </p:spPr>
        <p:txBody>
          <a:bodyPr wrap="square" lIns="0" tIns="0" rIns="0" bIns="0" rtlCol="0" anchor="t"/>
          <a:lstStyle/>
          <a:p>
            <a:pPr marL="0" marR="0" lvl="0" indent="0" algn="ctr" defTabSz="914400" rtl="0" eaLnBrk="1" fontAlgn="auto" latinLnBrk="0" hangingPunct="1">
              <a:lnSpc>
                <a:spcPts val="4380"/>
              </a:lnSpc>
              <a:spcBef>
                <a:spcPts val="0"/>
              </a:spcBef>
              <a:spcAft>
                <a:spcPts val="0"/>
              </a:spcAft>
              <a:buClrTx/>
              <a:buSzTx/>
              <a:buFontTx/>
              <a:buNone/>
              <a:tabLst/>
              <a:defRPr/>
            </a:pPr>
            <a:r>
              <a:rPr kumimoji="0" lang="en-US" sz="3750" b="1" i="0" u="none" strike="noStrike" kern="0" cap="none" spc="-225" normalizeH="0" baseline="0" noProof="0" dirty="0">
                <a:ln>
                  <a:noFill/>
                </a:ln>
                <a:solidFill>
                  <a:srgbClr val="333333"/>
                </a:solidFill>
                <a:effectLst/>
                <a:uLnTx/>
                <a:uFillTx/>
                <a:latin typeface="Inter" pitchFamily="34" charset="0"/>
                <a:ea typeface="Inter" pitchFamily="34" charset="-122"/>
                <a:cs typeface="Inter" pitchFamily="34" charset="-120"/>
              </a:rPr>
              <a:t>Restrictions on GenAI Use</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3" name="Object 2"/>
          <p:cNvSpPr/>
          <p:nvPr/>
        </p:nvSpPr>
        <p:spPr>
          <a:xfrm>
            <a:off x="1476006" y="1595039"/>
            <a:ext cx="1428393" cy="1428393"/>
          </a:xfrm>
          <a:prstGeom prst="ellipse">
            <a:avLst/>
          </a:prstGeom>
          <a:solidFill>
            <a:srgbClr val="22AAEE"/>
          </a:solidFill>
        </p:spPr>
      </p:sp>
      <p:pic>
        <p:nvPicPr>
          <p:cNvPr id="4" name="Object 3"/>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813574" y="2083258"/>
            <a:ext cx="752287" cy="466608"/>
          </a:xfrm>
          <a:prstGeom prst="rect">
            <a:avLst/>
          </a:prstGeom>
        </p:spPr>
      </p:pic>
      <p:sp>
        <p:nvSpPr>
          <p:cNvPr id="5" name="Object 4"/>
          <p:cNvSpPr/>
          <p:nvPr/>
        </p:nvSpPr>
        <p:spPr>
          <a:xfrm>
            <a:off x="398998" y="3119650"/>
            <a:ext cx="3582409" cy="533862"/>
          </a:xfrm>
          <a:prstGeom prst="rect">
            <a:avLst/>
          </a:prstGeom>
          <a:noFill/>
        </p:spPr>
        <p:txBody>
          <a:bodyPr wrap="square" lIns="0" tIns="0" rIns="0" bIns="0" rtlCol="0" anchor="t"/>
          <a:lstStyle/>
          <a:p>
            <a:pPr marL="0" marR="0" lvl="0" indent="0" algn="ctr" defTabSz="914400" rtl="0" eaLnBrk="1" fontAlgn="auto" latinLnBrk="0" hangingPunct="1">
              <a:lnSpc>
                <a:spcPts val="2102"/>
              </a:lnSpc>
              <a:spcBef>
                <a:spcPts val="0"/>
              </a:spcBef>
              <a:spcAft>
                <a:spcPts val="0"/>
              </a:spcAft>
              <a:buClrTx/>
              <a:buSzTx/>
              <a:buFontTx/>
              <a:buNone/>
              <a:tabLst/>
              <a:defRPr/>
            </a:pPr>
            <a:r>
              <a:rPr kumimoji="0" lang="en-US" sz="1800" b="1" i="0" u="none" strike="noStrike" kern="0" cap="none" spc="-108" normalizeH="0" baseline="0" noProof="0" dirty="0">
                <a:ln>
                  <a:noFill/>
                </a:ln>
                <a:solidFill>
                  <a:srgbClr val="333333"/>
                </a:solidFill>
                <a:effectLst/>
                <a:uLnTx/>
                <a:uFillTx/>
                <a:latin typeface="Inter" pitchFamily="34" charset="0"/>
                <a:ea typeface="Inter" pitchFamily="34" charset="-122"/>
                <a:cs typeface="Inter" pitchFamily="34" charset="-120"/>
              </a:rPr>
              <a:t>No AI-driven evaluation findings without human validation</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6" name="Object 5"/>
          <p:cNvSpPr/>
          <p:nvPr/>
        </p:nvSpPr>
        <p:spPr>
          <a:xfrm>
            <a:off x="398998" y="3730684"/>
            <a:ext cx="3582409" cy="1056614"/>
          </a:xfrm>
          <a:prstGeom prst="rect">
            <a:avLst/>
          </a:prstGeom>
          <a:noFill/>
        </p:spPr>
        <p:txBody>
          <a:bodyPr wrap="square" lIns="0" tIns="0" rIns="0" bIns="0" rtlCol="0" anchor="t"/>
          <a:lstStyle/>
          <a:p>
            <a:pPr marL="0" marR="0" lvl="0" indent="0" algn="ctr" defTabSz="914400" rtl="0" eaLnBrk="1" fontAlgn="auto" latinLnBrk="0" hangingPunct="1">
              <a:lnSpc>
                <a:spcPts val="2081"/>
              </a:lnSpc>
              <a:spcBef>
                <a:spcPts val="596"/>
              </a:spcBef>
              <a:spcAft>
                <a:spcPts val="0"/>
              </a:spcAft>
              <a:buClrTx/>
              <a:buSzTx/>
              <a:buFontTx/>
              <a:buNone/>
              <a:tabLst/>
              <a:defRPr/>
            </a:pPr>
            <a:r>
              <a:rPr kumimoji="0" lang="en-US" sz="1500" b="0" i="0" u="none" strike="noStrike" kern="0" cap="none" spc="-30" normalizeH="0" baseline="0" noProof="0" dirty="0">
                <a:ln>
                  <a:noFill/>
                </a:ln>
                <a:solidFill>
                  <a:srgbClr val="000000">
                    <a:alpha val="56000"/>
                  </a:srgbClr>
                </a:solidFill>
                <a:effectLst/>
                <a:uLnTx/>
                <a:uFillTx/>
                <a:latin typeface="Inter" pitchFamily="34" charset="0"/>
                <a:ea typeface="Inter" pitchFamily="34" charset="-122"/>
                <a:cs typeface="Inter" pitchFamily="34" charset="-120"/>
              </a:rPr>
              <a:t>All AI-generated outputs must be reviewed and validated by human evaluators before being included in final evaluation reports.</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7" name="Object 6"/>
          <p:cNvSpPr/>
          <p:nvPr/>
        </p:nvSpPr>
        <p:spPr>
          <a:xfrm>
            <a:off x="5380280" y="1595039"/>
            <a:ext cx="1428393" cy="1428393"/>
          </a:xfrm>
          <a:prstGeom prst="ellipse">
            <a:avLst/>
          </a:prstGeom>
          <a:solidFill>
            <a:srgbClr val="FFD9AD"/>
          </a:solidFill>
        </p:spPr>
      </p:sp>
      <p:pic>
        <p:nvPicPr>
          <p:cNvPr id="8" name="Object 7"/>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809921" y="2024671"/>
            <a:ext cx="580880" cy="561835"/>
          </a:xfrm>
          <a:prstGeom prst="rect">
            <a:avLst/>
          </a:prstGeom>
        </p:spPr>
      </p:pic>
      <p:sp>
        <p:nvSpPr>
          <p:cNvPr id="9" name="Object 8"/>
          <p:cNvSpPr/>
          <p:nvPr/>
        </p:nvSpPr>
        <p:spPr>
          <a:xfrm>
            <a:off x="4277084" y="3119650"/>
            <a:ext cx="3634784" cy="533862"/>
          </a:xfrm>
          <a:prstGeom prst="rect">
            <a:avLst/>
          </a:prstGeom>
          <a:noFill/>
        </p:spPr>
        <p:txBody>
          <a:bodyPr wrap="square" lIns="0" tIns="0" rIns="0" bIns="0" rtlCol="0" anchor="t"/>
          <a:lstStyle/>
          <a:p>
            <a:pPr marL="0" marR="0" lvl="0" indent="0" algn="ctr" defTabSz="914400" rtl="0" eaLnBrk="1" fontAlgn="auto" latinLnBrk="0" hangingPunct="1">
              <a:lnSpc>
                <a:spcPts val="2102"/>
              </a:lnSpc>
              <a:spcBef>
                <a:spcPts val="0"/>
              </a:spcBef>
              <a:spcAft>
                <a:spcPts val="0"/>
              </a:spcAft>
              <a:buClrTx/>
              <a:buSzTx/>
              <a:buFontTx/>
              <a:buNone/>
              <a:tabLst/>
              <a:defRPr/>
            </a:pPr>
            <a:r>
              <a:rPr kumimoji="0" lang="en-US" sz="1800" b="1" i="0" u="none" strike="noStrike" kern="0" cap="none" spc="-108" normalizeH="0" baseline="0" noProof="0" dirty="0">
                <a:ln>
                  <a:noFill/>
                </a:ln>
                <a:solidFill>
                  <a:srgbClr val="333333"/>
                </a:solidFill>
                <a:effectLst/>
                <a:uLnTx/>
                <a:uFillTx/>
                <a:latin typeface="Inter" pitchFamily="34" charset="0"/>
                <a:ea typeface="Inter" pitchFamily="34" charset="-122"/>
                <a:cs typeface="Inter" pitchFamily="34" charset="-120"/>
              </a:rPr>
              <a:t>No AI use for sensitive topics like GBV conclusions</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10" name="Object 9"/>
          <p:cNvSpPr/>
          <p:nvPr/>
        </p:nvSpPr>
        <p:spPr>
          <a:xfrm>
            <a:off x="4277084" y="3730684"/>
            <a:ext cx="3634784" cy="1056614"/>
          </a:xfrm>
          <a:prstGeom prst="rect">
            <a:avLst/>
          </a:prstGeom>
          <a:noFill/>
        </p:spPr>
        <p:txBody>
          <a:bodyPr wrap="square" lIns="0" tIns="0" rIns="0" bIns="0" rtlCol="0" anchor="t"/>
          <a:lstStyle/>
          <a:p>
            <a:pPr marL="0" marR="0" lvl="0" indent="0" algn="ctr" defTabSz="914400" rtl="0" eaLnBrk="1" fontAlgn="auto" latinLnBrk="0" hangingPunct="1">
              <a:lnSpc>
                <a:spcPts val="2081"/>
              </a:lnSpc>
              <a:spcBef>
                <a:spcPts val="596"/>
              </a:spcBef>
              <a:spcAft>
                <a:spcPts val="0"/>
              </a:spcAft>
              <a:buClrTx/>
              <a:buSzTx/>
              <a:buFontTx/>
              <a:buNone/>
              <a:tabLst/>
              <a:defRPr/>
            </a:pPr>
            <a:r>
              <a:rPr kumimoji="0" lang="en-US" sz="1500" b="0" i="0" u="none" strike="noStrike" kern="0" cap="none" spc="-30" normalizeH="0" baseline="0" noProof="0" dirty="0">
                <a:ln>
                  <a:noFill/>
                </a:ln>
                <a:solidFill>
                  <a:srgbClr val="000000">
                    <a:alpha val="56000"/>
                  </a:srgbClr>
                </a:solidFill>
                <a:effectLst/>
                <a:uLnTx/>
                <a:uFillTx/>
                <a:latin typeface="Inter" pitchFamily="34" charset="0"/>
                <a:ea typeface="Inter" pitchFamily="34" charset="-122"/>
                <a:cs typeface="Inter" pitchFamily="34" charset="-120"/>
              </a:rPr>
              <a:t>Due to the sensitive and personal nature of gender-based violence data, AI tools will not be used to analyze or draw conclusions related to GBV findings.</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11" name="Object 10"/>
          <p:cNvSpPr/>
          <p:nvPr/>
        </p:nvSpPr>
        <p:spPr>
          <a:xfrm>
            <a:off x="9284553" y="1595039"/>
            <a:ext cx="1428393" cy="1428393"/>
          </a:xfrm>
          <a:prstGeom prst="ellipse">
            <a:avLst/>
          </a:prstGeom>
          <a:solidFill>
            <a:srgbClr val="FEC088"/>
          </a:solidFill>
        </p:spPr>
      </p:sp>
      <p:pic>
        <p:nvPicPr>
          <p:cNvPr id="12" name="Object 11"/>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689083" y="1957714"/>
            <a:ext cx="618970" cy="704674"/>
          </a:xfrm>
          <a:prstGeom prst="rect">
            <a:avLst/>
          </a:prstGeom>
        </p:spPr>
      </p:pic>
      <p:sp>
        <p:nvSpPr>
          <p:cNvPr id="13" name="Object 12"/>
          <p:cNvSpPr/>
          <p:nvPr/>
        </p:nvSpPr>
        <p:spPr>
          <a:xfrm>
            <a:off x="8155171" y="3119650"/>
            <a:ext cx="3687158" cy="533862"/>
          </a:xfrm>
          <a:prstGeom prst="rect">
            <a:avLst/>
          </a:prstGeom>
          <a:noFill/>
        </p:spPr>
        <p:txBody>
          <a:bodyPr wrap="square" lIns="0" tIns="0" rIns="0" bIns="0" rtlCol="0" anchor="t"/>
          <a:lstStyle/>
          <a:p>
            <a:pPr marL="0" marR="0" lvl="0" indent="0" algn="ctr" defTabSz="914400" rtl="0" eaLnBrk="1" fontAlgn="auto" latinLnBrk="0" hangingPunct="1">
              <a:lnSpc>
                <a:spcPts val="2102"/>
              </a:lnSpc>
              <a:spcBef>
                <a:spcPts val="0"/>
              </a:spcBef>
              <a:spcAft>
                <a:spcPts val="0"/>
              </a:spcAft>
              <a:buClrTx/>
              <a:buSzTx/>
              <a:buFontTx/>
              <a:buNone/>
              <a:tabLst/>
              <a:defRPr/>
            </a:pPr>
            <a:r>
              <a:rPr kumimoji="0" lang="en-US" sz="1800" b="1" i="0" u="none" strike="noStrike" kern="0" cap="none" spc="-108" normalizeH="0" baseline="0" noProof="0" dirty="0">
                <a:ln>
                  <a:noFill/>
                </a:ln>
                <a:solidFill>
                  <a:srgbClr val="333333"/>
                </a:solidFill>
                <a:effectLst/>
                <a:uLnTx/>
                <a:uFillTx/>
                <a:latin typeface="Inter" pitchFamily="34" charset="0"/>
                <a:ea typeface="Inter" pitchFamily="34" charset="-122"/>
                <a:cs typeface="Inter" pitchFamily="34" charset="-120"/>
              </a:rPr>
              <a:t>No uploading of confidential UNFPA data into public AI models</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14" name="Object 13"/>
          <p:cNvSpPr/>
          <p:nvPr/>
        </p:nvSpPr>
        <p:spPr>
          <a:xfrm>
            <a:off x="8155171" y="3730684"/>
            <a:ext cx="3687158" cy="1056614"/>
          </a:xfrm>
          <a:prstGeom prst="rect">
            <a:avLst/>
          </a:prstGeom>
          <a:noFill/>
        </p:spPr>
        <p:txBody>
          <a:bodyPr wrap="square" lIns="0" tIns="0" rIns="0" bIns="0" rtlCol="0" anchor="t"/>
          <a:lstStyle/>
          <a:p>
            <a:pPr marL="0" marR="0" lvl="0" indent="0" algn="ctr" defTabSz="914400" rtl="0" eaLnBrk="1" fontAlgn="auto" latinLnBrk="0" hangingPunct="1">
              <a:lnSpc>
                <a:spcPts val="2081"/>
              </a:lnSpc>
              <a:spcBef>
                <a:spcPts val="596"/>
              </a:spcBef>
              <a:spcAft>
                <a:spcPts val="0"/>
              </a:spcAft>
              <a:buClrTx/>
              <a:buSzTx/>
              <a:buFontTx/>
              <a:buNone/>
              <a:tabLst/>
              <a:defRPr/>
            </a:pPr>
            <a:r>
              <a:rPr kumimoji="0" lang="en-US" sz="1500" b="0" i="0" u="none" strike="noStrike" kern="0" cap="none" spc="-30" normalizeH="0" baseline="0" noProof="0" dirty="0">
                <a:ln>
                  <a:noFill/>
                </a:ln>
                <a:solidFill>
                  <a:srgbClr val="000000">
                    <a:alpha val="56000"/>
                  </a:srgbClr>
                </a:solidFill>
                <a:effectLst/>
                <a:uLnTx/>
                <a:uFillTx/>
                <a:latin typeface="Inter" pitchFamily="34" charset="0"/>
                <a:ea typeface="Inter" pitchFamily="34" charset="-122"/>
                <a:cs typeface="Inter" pitchFamily="34" charset="-120"/>
              </a:rPr>
              <a:t>To protect the privacy and confidentiality of UNFPA data, no internal or evaluation-related information will be uploaded to publicly available AI language models.</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15" name="Object 14"/>
          <p:cNvSpPr/>
          <p:nvPr/>
        </p:nvSpPr>
        <p:spPr>
          <a:xfrm>
            <a:off x="0" y="5208872"/>
            <a:ext cx="12188952" cy="1647413"/>
          </a:xfrm>
          <a:prstGeom prst="rect">
            <a:avLst/>
          </a:prstGeom>
          <a:solidFill>
            <a:srgbClr val="22AAEE"/>
          </a:solidFill>
        </p:spPr>
      </p:sp>
      <p:sp>
        <p:nvSpPr>
          <p:cNvPr id="16" name="Object 15"/>
          <p:cNvSpPr/>
          <p:nvPr/>
        </p:nvSpPr>
        <p:spPr>
          <a:xfrm>
            <a:off x="1448866" y="5531550"/>
            <a:ext cx="9291219" cy="1000768"/>
          </a:xfrm>
          <a:prstGeom prst="rect">
            <a:avLst/>
          </a:prstGeom>
          <a:noFill/>
        </p:spPr>
        <p:txBody>
          <a:bodyPr wrap="square" lIns="0" tIns="0" rIns="0" bIns="0" rtlCol="0" anchor="ctr"/>
          <a:lstStyle/>
          <a:p>
            <a:pPr marL="0" marR="0" lvl="0" indent="0" algn="ctr" defTabSz="914400" rtl="0" eaLnBrk="1" fontAlgn="auto" latinLnBrk="0" hangingPunct="1">
              <a:lnSpc>
                <a:spcPts val="2628"/>
              </a:lnSpc>
              <a:spcBef>
                <a:spcPts val="0"/>
              </a:spcBef>
              <a:spcAft>
                <a:spcPts val="0"/>
              </a:spcAft>
              <a:buClrTx/>
              <a:buSzTx/>
              <a:buFontTx/>
              <a:buNone/>
              <a:tabLst/>
              <a:defRPr/>
            </a:pPr>
            <a:r>
              <a:rPr kumimoji="0" lang="en-US" sz="2250" b="1" i="0" u="none" strike="noStrike" kern="0" cap="none" spc="-135" normalizeH="0" baseline="0" noProof="0" dirty="0">
                <a:ln>
                  <a:noFill/>
                </a:ln>
                <a:solidFill>
                  <a:srgbClr val="333333"/>
                </a:solidFill>
                <a:effectLst/>
                <a:uLnTx/>
                <a:uFillTx/>
                <a:latin typeface="Inter" pitchFamily="34" charset="0"/>
                <a:ea typeface="Inter" pitchFamily="34" charset="-122"/>
                <a:cs typeface="Inter" pitchFamily="34" charset="-120"/>
              </a:rPr>
              <a:t>These restrictions on GenAI use demonstrate UNFPA's commitment to responsible, human-led integration of emerging technologies, prioritizing ethical principles, data privacy, and the credibility of its evaluation function.</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Tree>
    <p:extLst>
      <p:ext uri="{BB962C8B-B14F-4D97-AF65-F5344CB8AC3E}">
        <p14:creationId xmlns:p14="http://schemas.microsoft.com/office/powerpoint/2010/main" val="23807188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bject 1"/>
          <p:cNvSpPr/>
          <p:nvPr/>
        </p:nvSpPr>
        <p:spPr>
          <a:xfrm>
            <a:off x="0" y="379020"/>
            <a:ext cx="12188952" cy="556081"/>
          </a:xfrm>
          <a:prstGeom prst="rect">
            <a:avLst/>
          </a:prstGeom>
          <a:noFill/>
        </p:spPr>
        <p:txBody>
          <a:bodyPr wrap="square" lIns="0" tIns="0" rIns="0" bIns="0" rtlCol="0" anchor="t"/>
          <a:lstStyle/>
          <a:p>
            <a:pPr marL="0" marR="0" lvl="0" indent="0" algn="ctr" defTabSz="914400" rtl="0" eaLnBrk="1" fontAlgn="auto" latinLnBrk="0" hangingPunct="1">
              <a:lnSpc>
                <a:spcPts val="4380"/>
              </a:lnSpc>
              <a:spcBef>
                <a:spcPts val="0"/>
              </a:spcBef>
              <a:spcAft>
                <a:spcPts val="0"/>
              </a:spcAft>
              <a:buClrTx/>
              <a:buSzTx/>
              <a:buFontTx/>
              <a:buNone/>
              <a:tabLst/>
              <a:defRPr/>
            </a:pPr>
            <a:r>
              <a:rPr kumimoji="0" lang="en-US" sz="3750" b="1" i="0" u="none" strike="noStrike" kern="0" cap="none" spc="-225" normalizeH="0" baseline="0" noProof="0" dirty="0">
                <a:ln>
                  <a:noFill/>
                </a:ln>
                <a:effectLst/>
                <a:uLnTx/>
                <a:uFillTx/>
                <a:latin typeface="Inter" pitchFamily="34" charset="0"/>
                <a:ea typeface="Inter" pitchFamily="34" charset="-122"/>
                <a:cs typeface="Inter" pitchFamily="34" charset="-120"/>
              </a:rPr>
              <a:t>Evaluation Types for Initial Pilots</a:t>
            </a:r>
            <a:endParaRPr kumimoji="0" lang="en-US" sz="1800" b="0" i="0" u="none" strike="noStrike" kern="1200" cap="none" spc="0" normalizeH="0" baseline="0" noProof="0" dirty="0">
              <a:ln>
                <a:noFill/>
              </a:ln>
              <a:effectLst/>
              <a:uLnTx/>
              <a:uFillTx/>
              <a:latin typeface="Arial"/>
              <a:ea typeface="+mn-ea"/>
              <a:cs typeface="+mn-cs"/>
            </a:endParaRPr>
          </a:p>
        </p:txBody>
      </p:sp>
      <p:sp>
        <p:nvSpPr>
          <p:cNvPr id="3" name="Object 2"/>
          <p:cNvSpPr/>
          <p:nvPr/>
        </p:nvSpPr>
        <p:spPr>
          <a:xfrm>
            <a:off x="1095101" y="1728355"/>
            <a:ext cx="714196" cy="714196"/>
          </a:xfrm>
          <a:prstGeom prst="ellipse">
            <a:avLst/>
          </a:prstGeom>
          <a:solidFill>
            <a:srgbClr val="22AAEE"/>
          </a:solidFill>
        </p:spPr>
      </p:sp>
      <p:pic>
        <p:nvPicPr>
          <p:cNvPr id="4" name="Object 3"/>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09920" y="1964095"/>
            <a:ext cx="285679" cy="238065"/>
          </a:xfrm>
          <a:prstGeom prst="rect">
            <a:avLst/>
          </a:prstGeom>
        </p:spPr>
      </p:pic>
      <p:sp>
        <p:nvSpPr>
          <p:cNvPr id="5" name="Object 4"/>
          <p:cNvSpPr/>
          <p:nvPr/>
        </p:nvSpPr>
        <p:spPr>
          <a:xfrm>
            <a:off x="1999750" y="1681734"/>
            <a:ext cx="4242327" cy="266931"/>
          </a:xfrm>
          <a:prstGeom prst="rect">
            <a:avLst/>
          </a:prstGeom>
          <a:noFill/>
        </p:spPr>
        <p:txBody>
          <a:bodyPr wrap="square" lIns="0" tIns="0" rIns="0" bIns="0" rtlCol="0" anchor="t"/>
          <a:lstStyle/>
          <a:p>
            <a:pPr marL="0" marR="0" lvl="0" indent="0" algn="l" defTabSz="914400" rtl="0" eaLnBrk="1" fontAlgn="auto" latinLnBrk="0" hangingPunct="1">
              <a:lnSpc>
                <a:spcPts val="2102"/>
              </a:lnSpc>
              <a:spcBef>
                <a:spcPts val="0"/>
              </a:spcBef>
              <a:spcAft>
                <a:spcPts val="0"/>
              </a:spcAft>
              <a:buClrTx/>
              <a:buSzTx/>
              <a:buFontTx/>
              <a:buNone/>
              <a:tabLst/>
              <a:defRPr/>
            </a:pPr>
            <a:r>
              <a:rPr kumimoji="0" lang="en-US" sz="1800" b="1" i="0" u="none" strike="noStrike" kern="0" cap="none" spc="-108" normalizeH="0" baseline="0" noProof="0" dirty="0">
                <a:ln>
                  <a:noFill/>
                </a:ln>
                <a:effectLst/>
                <a:uLnTx/>
                <a:uFillTx/>
                <a:latin typeface="Inter" pitchFamily="34" charset="0"/>
                <a:ea typeface="Inter" pitchFamily="34" charset="-122"/>
                <a:cs typeface="Inter" pitchFamily="34" charset="-120"/>
              </a:rPr>
              <a:t>Centralized evaluations</a:t>
            </a:r>
            <a:endParaRPr kumimoji="0" lang="en-US" sz="1800" b="0" i="0" u="none" strike="noStrike" kern="1200" cap="none" spc="0" normalizeH="0" baseline="0" noProof="0" dirty="0">
              <a:ln>
                <a:noFill/>
              </a:ln>
              <a:effectLst/>
              <a:uLnTx/>
              <a:uFillTx/>
              <a:latin typeface="Arial"/>
              <a:ea typeface="+mn-ea"/>
              <a:cs typeface="+mn-cs"/>
            </a:endParaRPr>
          </a:p>
        </p:txBody>
      </p:sp>
      <p:sp>
        <p:nvSpPr>
          <p:cNvPr id="6" name="Object 5"/>
          <p:cNvSpPr/>
          <p:nvPr/>
        </p:nvSpPr>
        <p:spPr>
          <a:xfrm>
            <a:off x="1999750" y="2025838"/>
            <a:ext cx="4242327" cy="792460"/>
          </a:xfrm>
          <a:prstGeom prst="rect">
            <a:avLst/>
          </a:prstGeom>
          <a:noFill/>
        </p:spPr>
        <p:txBody>
          <a:bodyPr wrap="square" lIns="0" tIns="0" rIns="0" bIns="0" rtlCol="0" anchor="t"/>
          <a:lstStyle/>
          <a:p>
            <a:pPr marL="0" marR="0" lvl="0" indent="0" algn="l" defTabSz="914400" rtl="0" eaLnBrk="1" fontAlgn="auto" latinLnBrk="0" hangingPunct="1">
              <a:lnSpc>
                <a:spcPts val="2081"/>
              </a:lnSpc>
              <a:spcBef>
                <a:spcPts val="596"/>
              </a:spcBef>
              <a:spcAft>
                <a:spcPts val="0"/>
              </a:spcAft>
              <a:buClrTx/>
              <a:buSzTx/>
              <a:buFontTx/>
              <a:buNone/>
              <a:tabLst/>
              <a:defRPr/>
            </a:pPr>
            <a:r>
              <a:rPr kumimoji="0" lang="en-US" sz="1500" b="0" i="0" u="none" strike="noStrike" kern="0" cap="none" spc="-30" normalizeH="0" baseline="0" noProof="0" dirty="0">
                <a:ln>
                  <a:noFill/>
                </a:ln>
                <a:effectLst/>
                <a:uLnTx/>
                <a:uFillTx/>
                <a:latin typeface="Inter" pitchFamily="34" charset="0"/>
                <a:ea typeface="Inter" pitchFamily="34" charset="-122"/>
                <a:cs typeface="Inter" pitchFamily="34" charset="-120"/>
              </a:rPr>
              <a:t>High-profile, corporate-level evaluations managed directly by the UNFPA Independent Evaluation Office (IEO)</a:t>
            </a:r>
            <a:endParaRPr kumimoji="0" lang="en-US" sz="1800" b="0" i="0" u="none" strike="noStrike" kern="1200" cap="none" spc="0" normalizeH="0" baseline="0" noProof="0" dirty="0">
              <a:ln>
                <a:noFill/>
              </a:ln>
              <a:effectLst/>
              <a:uLnTx/>
              <a:uFillTx/>
              <a:latin typeface="Arial"/>
              <a:ea typeface="+mn-ea"/>
              <a:cs typeface="+mn-cs"/>
            </a:endParaRPr>
          </a:p>
        </p:txBody>
      </p:sp>
      <p:sp>
        <p:nvSpPr>
          <p:cNvPr id="7" name="Object 6"/>
          <p:cNvSpPr/>
          <p:nvPr/>
        </p:nvSpPr>
        <p:spPr>
          <a:xfrm>
            <a:off x="1095101" y="3232929"/>
            <a:ext cx="714196" cy="714196"/>
          </a:xfrm>
          <a:prstGeom prst="ellipse">
            <a:avLst/>
          </a:prstGeom>
          <a:solidFill>
            <a:srgbClr val="FFD9AD"/>
          </a:solidFill>
        </p:spPr>
      </p:sp>
      <p:pic>
        <p:nvPicPr>
          <p:cNvPr id="8" name="Object 7"/>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272253" y="3418454"/>
            <a:ext cx="361860" cy="342814"/>
          </a:xfrm>
          <a:prstGeom prst="rect">
            <a:avLst/>
          </a:prstGeom>
        </p:spPr>
      </p:pic>
      <p:sp>
        <p:nvSpPr>
          <p:cNvPr id="9" name="Object 8"/>
          <p:cNvSpPr/>
          <p:nvPr/>
        </p:nvSpPr>
        <p:spPr>
          <a:xfrm>
            <a:off x="1999750" y="3186308"/>
            <a:ext cx="4242327" cy="266931"/>
          </a:xfrm>
          <a:prstGeom prst="rect">
            <a:avLst/>
          </a:prstGeom>
          <a:noFill/>
        </p:spPr>
        <p:txBody>
          <a:bodyPr wrap="square" lIns="0" tIns="0" rIns="0" bIns="0" rtlCol="0" anchor="t"/>
          <a:lstStyle/>
          <a:p>
            <a:pPr marL="0" marR="0" lvl="0" indent="0" algn="l" defTabSz="914400" rtl="0" eaLnBrk="1" fontAlgn="auto" latinLnBrk="0" hangingPunct="1">
              <a:lnSpc>
                <a:spcPts val="2102"/>
              </a:lnSpc>
              <a:spcBef>
                <a:spcPts val="0"/>
              </a:spcBef>
              <a:spcAft>
                <a:spcPts val="0"/>
              </a:spcAft>
              <a:buClrTx/>
              <a:buSzTx/>
              <a:buFontTx/>
              <a:buNone/>
              <a:tabLst/>
              <a:defRPr/>
            </a:pPr>
            <a:r>
              <a:rPr kumimoji="0" lang="en-US" sz="1800" b="1" i="0" u="none" strike="noStrike" kern="0" cap="none" spc="-108" normalizeH="0" baseline="0" noProof="0" dirty="0">
                <a:ln>
                  <a:noFill/>
                </a:ln>
                <a:effectLst/>
                <a:uLnTx/>
                <a:uFillTx/>
                <a:latin typeface="Inter" pitchFamily="34" charset="0"/>
                <a:ea typeface="Inter" pitchFamily="34" charset="-122"/>
                <a:cs typeface="Inter" pitchFamily="34" charset="-120"/>
              </a:rPr>
              <a:t>Mid-term reviews</a:t>
            </a:r>
            <a:endParaRPr kumimoji="0" lang="en-US" sz="1800" b="0" i="0" u="none" strike="noStrike" kern="1200" cap="none" spc="0" normalizeH="0" baseline="0" noProof="0" dirty="0">
              <a:ln>
                <a:noFill/>
              </a:ln>
              <a:effectLst/>
              <a:uLnTx/>
              <a:uFillTx/>
              <a:latin typeface="Arial"/>
              <a:ea typeface="+mn-ea"/>
              <a:cs typeface="+mn-cs"/>
            </a:endParaRPr>
          </a:p>
        </p:txBody>
      </p:sp>
      <p:sp>
        <p:nvSpPr>
          <p:cNvPr id="10" name="Object 9"/>
          <p:cNvSpPr/>
          <p:nvPr/>
        </p:nvSpPr>
        <p:spPr>
          <a:xfrm>
            <a:off x="1999750" y="3530412"/>
            <a:ext cx="4242327" cy="792460"/>
          </a:xfrm>
          <a:prstGeom prst="rect">
            <a:avLst/>
          </a:prstGeom>
          <a:noFill/>
        </p:spPr>
        <p:txBody>
          <a:bodyPr wrap="square" lIns="0" tIns="0" rIns="0" bIns="0" rtlCol="0" anchor="t"/>
          <a:lstStyle/>
          <a:p>
            <a:pPr marL="0" marR="0" lvl="0" indent="0" algn="l" defTabSz="914400" rtl="0" eaLnBrk="1" fontAlgn="auto" latinLnBrk="0" hangingPunct="1">
              <a:lnSpc>
                <a:spcPts val="2081"/>
              </a:lnSpc>
              <a:spcBef>
                <a:spcPts val="596"/>
              </a:spcBef>
              <a:spcAft>
                <a:spcPts val="0"/>
              </a:spcAft>
              <a:buClrTx/>
              <a:buSzTx/>
              <a:buFontTx/>
              <a:buNone/>
              <a:tabLst/>
              <a:defRPr/>
            </a:pPr>
            <a:r>
              <a:rPr kumimoji="0" lang="en-US" sz="1500" b="0" i="0" u="none" strike="noStrike" kern="0" cap="none" spc="-30" normalizeH="0" baseline="0" noProof="0" dirty="0">
                <a:ln>
                  <a:noFill/>
                </a:ln>
                <a:effectLst/>
                <a:uLnTx/>
                <a:uFillTx/>
                <a:latin typeface="Inter" pitchFamily="34" charset="0"/>
                <a:ea typeface="Inter" pitchFamily="34" charset="-122"/>
                <a:cs typeface="Inter" pitchFamily="34" charset="-120"/>
              </a:rPr>
              <a:t>Evaluations conducted at the midpoint of a program cycle to assess progress and course-correct</a:t>
            </a:r>
            <a:endParaRPr kumimoji="0" lang="en-US" sz="1800" b="0" i="0" u="none" strike="noStrike" kern="1200" cap="none" spc="0" normalizeH="0" baseline="0" noProof="0" dirty="0">
              <a:ln>
                <a:noFill/>
              </a:ln>
              <a:effectLst/>
              <a:uLnTx/>
              <a:uFillTx/>
              <a:latin typeface="Arial"/>
              <a:ea typeface="+mn-ea"/>
              <a:cs typeface="+mn-cs"/>
            </a:endParaRPr>
          </a:p>
        </p:txBody>
      </p:sp>
      <p:sp>
        <p:nvSpPr>
          <p:cNvPr id="11" name="Object 10"/>
          <p:cNvSpPr/>
          <p:nvPr/>
        </p:nvSpPr>
        <p:spPr>
          <a:xfrm>
            <a:off x="6332541" y="1728355"/>
            <a:ext cx="714196" cy="714196"/>
          </a:xfrm>
          <a:prstGeom prst="ellipse">
            <a:avLst/>
          </a:prstGeom>
          <a:solidFill>
            <a:srgbClr val="FEC088"/>
          </a:solidFill>
        </p:spPr>
      </p:sp>
      <p:pic>
        <p:nvPicPr>
          <p:cNvPr id="12" name="Object 11"/>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522251" y="1918065"/>
            <a:ext cx="333292" cy="333292"/>
          </a:xfrm>
          <a:prstGeom prst="rect">
            <a:avLst/>
          </a:prstGeom>
        </p:spPr>
      </p:pic>
      <p:sp>
        <p:nvSpPr>
          <p:cNvPr id="13" name="Object 12"/>
          <p:cNvSpPr/>
          <p:nvPr/>
        </p:nvSpPr>
        <p:spPr>
          <a:xfrm>
            <a:off x="7237190" y="1681734"/>
            <a:ext cx="4242327" cy="266931"/>
          </a:xfrm>
          <a:prstGeom prst="rect">
            <a:avLst/>
          </a:prstGeom>
          <a:noFill/>
        </p:spPr>
        <p:txBody>
          <a:bodyPr wrap="square" lIns="0" tIns="0" rIns="0" bIns="0" rtlCol="0" anchor="t"/>
          <a:lstStyle/>
          <a:p>
            <a:pPr marL="0" marR="0" lvl="0" indent="0" algn="l" defTabSz="914400" rtl="0" eaLnBrk="1" fontAlgn="auto" latinLnBrk="0" hangingPunct="1">
              <a:lnSpc>
                <a:spcPts val="2102"/>
              </a:lnSpc>
              <a:spcBef>
                <a:spcPts val="0"/>
              </a:spcBef>
              <a:spcAft>
                <a:spcPts val="0"/>
              </a:spcAft>
              <a:buClrTx/>
              <a:buSzTx/>
              <a:buFontTx/>
              <a:buNone/>
              <a:tabLst/>
              <a:defRPr/>
            </a:pPr>
            <a:r>
              <a:rPr kumimoji="0" lang="en-US" sz="1800" b="1" i="0" u="none" strike="noStrike" kern="0" cap="none" spc="-108" normalizeH="0" baseline="0" noProof="0" dirty="0">
                <a:ln>
                  <a:noFill/>
                </a:ln>
                <a:effectLst/>
                <a:uLnTx/>
                <a:uFillTx/>
                <a:latin typeface="Inter" pitchFamily="34" charset="0"/>
                <a:ea typeface="Inter" pitchFamily="34" charset="-122"/>
                <a:cs typeface="Inter" pitchFamily="34" charset="-120"/>
              </a:rPr>
              <a:t>Thematic evaluations</a:t>
            </a:r>
            <a:endParaRPr kumimoji="0" lang="en-US" sz="1800" b="0" i="0" u="none" strike="noStrike" kern="1200" cap="none" spc="0" normalizeH="0" baseline="0" noProof="0" dirty="0">
              <a:ln>
                <a:noFill/>
              </a:ln>
              <a:effectLst/>
              <a:uLnTx/>
              <a:uFillTx/>
              <a:latin typeface="Arial"/>
              <a:ea typeface="+mn-ea"/>
              <a:cs typeface="+mn-cs"/>
            </a:endParaRPr>
          </a:p>
        </p:txBody>
      </p:sp>
      <p:sp>
        <p:nvSpPr>
          <p:cNvPr id="14" name="Object 13"/>
          <p:cNvSpPr/>
          <p:nvPr/>
        </p:nvSpPr>
        <p:spPr>
          <a:xfrm>
            <a:off x="7237190" y="2025838"/>
            <a:ext cx="4242327" cy="528307"/>
          </a:xfrm>
          <a:prstGeom prst="rect">
            <a:avLst/>
          </a:prstGeom>
          <a:noFill/>
        </p:spPr>
        <p:txBody>
          <a:bodyPr wrap="square" lIns="0" tIns="0" rIns="0" bIns="0" rtlCol="0" anchor="t"/>
          <a:lstStyle/>
          <a:p>
            <a:pPr marL="0" marR="0" lvl="0" indent="0" algn="l" defTabSz="914400" rtl="0" eaLnBrk="1" fontAlgn="auto" latinLnBrk="0" hangingPunct="1">
              <a:lnSpc>
                <a:spcPts val="2081"/>
              </a:lnSpc>
              <a:spcBef>
                <a:spcPts val="596"/>
              </a:spcBef>
              <a:spcAft>
                <a:spcPts val="0"/>
              </a:spcAft>
              <a:buClrTx/>
              <a:buSzTx/>
              <a:buFontTx/>
              <a:buNone/>
              <a:tabLst/>
              <a:defRPr/>
            </a:pPr>
            <a:r>
              <a:rPr kumimoji="0" lang="en-US" sz="1500" b="0" i="0" u="none" strike="noStrike" kern="0" cap="none" spc="-30" normalizeH="0" baseline="0" noProof="0" dirty="0">
                <a:ln>
                  <a:noFill/>
                </a:ln>
                <a:effectLst/>
                <a:uLnTx/>
                <a:uFillTx/>
                <a:latin typeface="Inter" pitchFamily="34" charset="0"/>
                <a:ea typeface="Inter" pitchFamily="34" charset="-122"/>
                <a:cs typeface="Inter" pitchFamily="34" charset="-120"/>
              </a:rPr>
              <a:t>In-depth evaluations of a specific UNFPA thematic area or cross-cutting issue</a:t>
            </a:r>
            <a:endParaRPr kumimoji="0" lang="en-US" sz="1800" b="0" i="0" u="none" strike="noStrike" kern="1200" cap="none" spc="0" normalizeH="0" baseline="0" noProof="0" dirty="0">
              <a:ln>
                <a:noFill/>
              </a:ln>
              <a:effectLst/>
              <a:uLnTx/>
              <a:uFillTx/>
              <a:latin typeface="Arial"/>
              <a:ea typeface="+mn-ea"/>
              <a:cs typeface="+mn-cs"/>
            </a:endParaRPr>
          </a:p>
        </p:txBody>
      </p:sp>
      <p:sp>
        <p:nvSpPr>
          <p:cNvPr id="15" name="Object 14"/>
          <p:cNvSpPr/>
          <p:nvPr/>
        </p:nvSpPr>
        <p:spPr>
          <a:xfrm>
            <a:off x="6332541" y="2966296"/>
            <a:ext cx="714196" cy="714196"/>
          </a:xfrm>
          <a:prstGeom prst="ellipse">
            <a:avLst/>
          </a:prstGeom>
          <a:solidFill>
            <a:srgbClr val="FD864D"/>
          </a:solidFill>
        </p:spPr>
      </p:sp>
      <p:pic>
        <p:nvPicPr>
          <p:cNvPr id="16" name="Object 15"/>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534802" y="3197854"/>
            <a:ext cx="314246" cy="247588"/>
          </a:xfrm>
          <a:prstGeom prst="rect">
            <a:avLst/>
          </a:prstGeom>
        </p:spPr>
      </p:pic>
      <p:sp>
        <p:nvSpPr>
          <p:cNvPr id="17" name="Object 16"/>
          <p:cNvSpPr/>
          <p:nvPr/>
        </p:nvSpPr>
        <p:spPr>
          <a:xfrm>
            <a:off x="7237190" y="2919675"/>
            <a:ext cx="4242327" cy="266931"/>
          </a:xfrm>
          <a:prstGeom prst="rect">
            <a:avLst/>
          </a:prstGeom>
          <a:noFill/>
        </p:spPr>
        <p:txBody>
          <a:bodyPr wrap="square" lIns="0" tIns="0" rIns="0" bIns="0" rtlCol="0" anchor="t"/>
          <a:lstStyle/>
          <a:p>
            <a:pPr marL="0" marR="0" lvl="0" indent="0" algn="l" defTabSz="914400" rtl="0" eaLnBrk="1" fontAlgn="auto" latinLnBrk="0" hangingPunct="1">
              <a:lnSpc>
                <a:spcPts val="2102"/>
              </a:lnSpc>
              <a:spcBef>
                <a:spcPts val="0"/>
              </a:spcBef>
              <a:spcAft>
                <a:spcPts val="0"/>
              </a:spcAft>
              <a:buClrTx/>
              <a:buSzTx/>
              <a:buFontTx/>
              <a:buNone/>
              <a:tabLst/>
              <a:defRPr/>
            </a:pPr>
            <a:r>
              <a:rPr kumimoji="0" lang="en-US" sz="1800" b="1" i="0" u="none" strike="noStrike" kern="0" cap="none" spc="-108" normalizeH="0" baseline="0" noProof="0" dirty="0">
                <a:ln>
                  <a:noFill/>
                </a:ln>
                <a:effectLst/>
                <a:uLnTx/>
                <a:uFillTx/>
                <a:latin typeface="Inter" pitchFamily="34" charset="0"/>
                <a:ea typeface="Inter" pitchFamily="34" charset="-122"/>
                <a:cs typeface="Inter" pitchFamily="34" charset="-120"/>
              </a:rPr>
              <a:t>Corporate evaluations</a:t>
            </a:r>
            <a:endParaRPr kumimoji="0" lang="en-US" sz="1800" b="0" i="0" u="none" strike="noStrike" kern="1200" cap="none" spc="0" normalizeH="0" baseline="0" noProof="0" dirty="0">
              <a:ln>
                <a:noFill/>
              </a:ln>
              <a:effectLst/>
              <a:uLnTx/>
              <a:uFillTx/>
              <a:latin typeface="Arial"/>
              <a:ea typeface="+mn-ea"/>
              <a:cs typeface="+mn-cs"/>
            </a:endParaRPr>
          </a:p>
        </p:txBody>
      </p:sp>
      <p:sp>
        <p:nvSpPr>
          <p:cNvPr id="18" name="Object 17"/>
          <p:cNvSpPr/>
          <p:nvPr/>
        </p:nvSpPr>
        <p:spPr>
          <a:xfrm>
            <a:off x="7237190" y="3263778"/>
            <a:ext cx="4242327" cy="792460"/>
          </a:xfrm>
          <a:prstGeom prst="rect">
            <a:avLst/>
          </a:prstGeom>
          <a:noFill/>
        </p:spPr>
        <p:txBody>
          <a:bodyPr wrap="square" lIns="0" tIns="0" rIns="0" bIns="0" rtlCol="0" anchor="t"/>
          <a:lstStyle/>
          <a:p>
            <a:pPr marL="0" marR="0" lvl="0" indent="0" algn="l" defTabSz="914400" rtl="0" eaLnBrk="1" fontAlgn="auto" latinLnBrk="0" hangingPunct="1">
              <a:lnSpc>
                <a:spcPts val="2081"/>
              </a:lnSpc>
              <a:spcBef>
                <a:spcPts val="596"/>
              </a:spcBef>
              <a:spcAft>
                <a:spcPts val="0"/>
              </a:spcAft>
              <a:buClrTx/>
              <a:buSzTx/>
              <a:buFontTx/>
              <a:buNone/>
              <a:tabLst/>
              <a:defRPr/>
            </a:pPr>
            <a:r>
              <a:rPr kumimoji="0" lang="en-US" sz="1500" b="0" i="0" u="none" strike="noStrike" kern="0" cap="none" spc="-30" normalizeH="0" baseline="0" noProof="0" dirty="0">
                <a:ln>
                  <a:noFill/>
                </a:ln>
                <a:effectLst/>
                <a:uLnTx/>
                <a:uFillTx/>
                <a:latin typeface="Inter" pitchFamily="34" charset="0"/>
                <a:ea typeface="Inter" pitchFamily="34" charset="-122"/>
                <a:cs typeface="Inter" pitchFamily="34" charset="-120"/>
              </a:rPr>
              <a:t>Organization-wide evaluations of UNFPA's strategic plans, policies, and institutional effectiveness</a:t>
            </a:r>
            <a:endParaRPr kumimoji="0" lang="en-US" sz="1800" b="0" i="0" u="none" strike="noStrike" kern="1200" cap="none" spc="0" normalizeH="0" baseline="0" noProof="0" dirty="0">
              <a:ln>
                <a:noFill/>
              </a:ln>
              <a:effectLst/>
              <a:uLnTx/>
              <a:uFillTx/>
              <a:latin typeface="Arial"/>
              <a:ea typeface="+mn-ea"/>
              <a:cs typeface="+mn-cs"/>
            </a:endParaRPr>
          </a:p>
        </p:txBody>
      </p:sp>
      <p:sp>
        <p:nvSpPr>
          <p:cNvPr id="19" name="Object 18"/>
          <p:cNvSpPr/>
          <p:nvPr/>
        </p:nvSpPr>
        <p:spPr>
          <a:xfrm>
            <a:off x="0" y="4875581"/>
            <a:ext cx="12188952" cy="1980705"/>
          </a:xfrm>
          <a:prstGeom prst="rect">
            <a:avLst/>
          </a:prstGeom>
          <a:solidFill>
            <a:srgbClr val="FD864D"/>
          </a:solidFill>
        </p:spPr>
      </p:sp>
      <p:sp>
        <p:nvSpPr>
          <p:cNvPr id="20" name="Object 19"/>
          <p:cNvSpPr/>
          <p:nvPr/>
        </p:nvSpPr>
        <p:spPr>
          <a:xfrm>
            <a:off x="1118908" y="5198259"/>
            <a:ext cx="9951137" cy="1334357"/>
          </a:xfrm>
          <a:prstGeom prst="rect">
            <a:avLst/>
          </a:prstGeom>
          <a:noFill/>
        </p:spPr>
        <p:txBody>
          <a:bodyPr wrap="square" lIns="0" tIns="0" rIns="0" bIns="0" rtlCol="0" anchor="ctr"/>
          <a:lstStyle/>
          <a:p>
            <a:pPr marL="0" marR="0" lvl="0" indent="0" algn="ctr" defTabSz="914400" rtl="0" eaLnBrk="1" fontAlgn="auto" latinLnBrk="0" hangingPunct="1">
              <a:lnSpc>
                <a:spcPts val="2628"/>
              </a:lnSpc>
              <a:spcBef>
                <a:spcPts val="0"/>
              </a:spcBef>
              <a:spcAft>
                <a:spcPts val="0"/>
              </a:spcAft>
              <a:buClrTx/>
              <a:buSzTx/>
              <a:buFontTx/>
              <a:buNone/>
              <a:tabLst/>
              <a:defRPr/>
            </a:pPr>
            <a:r>
              <a:rPr kumimoji="0" lang="en-US" sz="2250" b="1" i="0" u="none" strike="noStrike" kern="0" cap="none" spc="-135" normalizeH="0" baseline="0" noProof="0" dirty="0">
                <a:ln>
                  <a:noFill/>
                </a:ln>
                <a:effectLst/>
                <a:uLnTx/>
                <a:uFillTx/>
                <a:latin typeface="Inter" pitchFamily="34" charset="0"/>
                <a:ea typeface="Inter" pitchFamily="34" charset="-122"/>
                <a:cs typeface="Inter" pitchFamily="34" charset="-120"/>
              </a:rPr>
              <a:t>These four evaluation types have been identified as initial pilots for incorporating GenAI tools and methods, leveraging their scope and potential for high-impact to drive responsible innovation within the UNFPA evaluation ecosystem.</a:t>
            </a:r>
            <a:endParaRPr kumimoji="0" lang="en-US" sz="1800" b="0" i="0" u="none" strike="noStrike" kern="1200" cap="none" spc="0" normalizeH="0" baseline="0" noProof="0" dirty="0">
              <a:ln>
                <a:noFill/>
              </a:ln>
              <a:effectLst/>
              <a:uLnTx/>
              <a:uFillTx/>
              <a:latin typeface="Arial"/>
              <a:ea typeface="+mn-ea"/>
              <a:cs typeface="+mn-cs"/>
            </a:endParaRPr>
          </a:p>
        </p:txBody>
      </p:sp>
    </p:spTree>
    <p:extLst>
      <p:ext uri="{BB962C8B-B14F-4D97-AF65-F5344CB8AC3E}">
        <p14:creationId xmlns:p14="http://schemas.microsoft.com/office/powerpoint/2010/main" val="14022927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name="Slide 17">
    <p:spTree>
      <p:nvGrpSpPr>
        <p:cNvPr id="1" name=""/>
        <p:cNvGrpSpPr/>
        <p:nvPr/>
      </p:nvGrpSpPr>
      <p:grpSpPr>
        <a:xfrm>
          <a:off x="0" y="0"/>
          <a:ext cx="0" cy="0"/>
          <a:chOff x="0" y="0"/>
          <a:chExt cx="0" cy="0"/>
        </a:xfrm>
      </p:grpSpPr>
      <p:sp>
        <p:nvSpPr>
          <p:cNvPr id="2" name="Object 1"/>
          <p:cNvSpPr/>
          <p:nvPr/>
        </p:nvSpPr>
        <p:spPr>
          <a:xfrm>
            <a:off x="0" y="379020"/>
            <a:ext cx="12188952" cy="556081"/>
          </a:xfrm>
          <a:prstGeom prst="rect">
            <a:avLst/>
          </a:prstGeom>
          <a:noFill/>
        </p:spPr>
        <p:txBody>
          <a:bodyPr wrap="square" lIns="0" tIns="0" rIns="0" bIns="0" rtlCol="0" anchor="t"/>
          <a:lstStyle/>
          <a:p>
            <a:pPr algn="ctr">
              <a:lnSpc>
                <a:spcPts val="4380"/>
              </a:lnSpc>
              <a:buNone/>
            </a:pPr>
            <a:r>
              <a:rPr lang="en-US" sz="3750" b="1" kern="0" spc="-225" dirty="0">
                <a:latin typeface="Inter" pitchFamily="34" charset="0"/>
                <a:ea typeface="Inter" pitchFamily="34" charset="-122"/>
                <a:cs typeface="Inter" pitchFamily="34" charset="-120"/>
              </a:rPr>
              <a:t>Monitoring &amp; Evaluation</a:t>
            </a:r>
            <a:endParaRPr lang="en-US" dirty="0"/>
          </a:p>
        </p:txBody>
      </p:sp>
      <p:sp>
        <p:nvSpPr>
          <p:cNvPr id="3" name="Object 2"/>
          <p:cNvSpPr/>
          <p:nvPr/>
        </p:nvSpPr>
        <p:spPr>
          <a:xfrm>
            <a:off x="476131" y="1590277"/>
            <a:ext cx="714196" cy="714196"/>
          </a:xfrm>
          <a:prstGeom prst="ellipse">
            <a:avLst/>
          </a:prstGeom>
          <a:solidFill>
            <a:srgbClr val="22AAEE"/>
          </a:solidFill>
        </p:spPr>
      </p:sp>
      <p:pic>
        <p:nvPicPr>
          <p:cNvPr id="4" name="Object 3"/>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53287" y="1767433"/>
            <a:ext cx="361860" cy="361860"/>
          </a:xfrm>
          <a:prstGeom prst="rect">
            <a:avLst/>
          </a:prstGeom>
        </p:spPr>
      </p:pic>
      <p:sp>
        <p:nvSpPr>
          <p:cNvPr id="5" name="Object 4"/>
          <p:cNvSpPr/>
          <p:nvPr/>
        </p:nvSpPr>
        <p:spPr>
          <a:xfrm>
            <a:off x="1380780" y="1543656"/>
            <a:ext cx="2775843" cy="266931"/>
          </a:xfrm>
          <a:prstGeom prst="rect">
            <a:avLst/>
          </a:prstGeom>
          <a:noFill/>
        </p:spPr>
        <p:txBody>
          <a:bodyPr wrap="square" lIns="0" tIns="0" rIns="0" bIns="0" rtlCol="0" anchor="t"/>
          <a:lstStyle/>
          <a:p>
            <a:pPr algn="l">
              <a:lnSpc>
                <a:spcPts val="2102"/>
              </a:lnSpc>
              <a:buNone/>
            </a:pPr>
            <a:r>
              <a:rPr lang="en-US" sz="1800" b="1" kern="0" spc="-108" dirty="0">
                <a:latin typeface="Inter" pitchFamily="34" charset="0"/>
                <a:ea typeface="Inter" pitchFamily="34" charset="-122"/>
                <a:cs typeface="Inter" pitchFamily="34" charset="-120"/>
              </a:rPr>
              <a:t>Centralized Evaluations</a:t>
            </a:r>
            <a:endParaRPr lang="en-US" dirty="0"/>
          </a:p>
        </p:txBody>
      </p:sp>
      <p:sp>
        <p:nvSpPr>
          <p:cNvPr id="6" name="Object 5"/>
          <p:cNvSpPr/>
          <p:nvPr/>
        </p:nvSpPr>
        <p:spPr>
          <a:xfrm>
            <a:off x="1380780" y="1887760"/>
            <a:ext cx="2775843" cy="2113228"/>
          </a:xfrm>
          <a:prstGeom prst="rect">
            <a:avLst/>
          </a:prstGeom>
          <a:noFill/>
        </p:spPr>
        <p:txBody>
          <a:bodyPr wrap="square" lIns="0" tIns="0" rIns="0" bIns="0" rtlCol="0" anchor="t"/>
          <a:lstStyle/>
          <a:p>
            <a:pPr algn="l">
              <a:lnSpc>
                <a:spcPts val="2081"/>
              </a:lnSpc>
              <a:spcBef>
                <a:spcPts val="596"/>
              </a:spcBef>
              <a:buNone/>
            </a:pPr>
            <a:r>
              <a:rPr lang="en-US" sz="1500" kern="0" spc="-30" dirty="0">
                <a:latin typeface="Inter" pitchFamily="34" charset="0"/>
                <a:ea typeface="Inter" pitchFamily="34" charset="-122"/>
                <a:cs typeface="Inter" pitchFamily="34" charset="-120"/>
              </a:rPr>
              <a:t>50% of centralized evaluations responsibly and ethically integrate GenAI solutions (output indicator), 40% demonstrate optimized processes (efficiency) and products (quality) (outcome indicator)</a:t>
            </a:r>
            <a:endParaRPr lang="en-US" dirty="0"/>
          </a:p>
        </p:txBody>
      </p:sp>
      <p:sp>
        <p:nvSpPr>
          <p:cNvPr id="7" name="Object 6"/>
          <p:cNvSpPr/>
          <p:nvPr/>
        </p:nvSpPr>
        <p:spPr>
          <a:xfrm>
            <a:off x="6137492" y="1543656"/>
            <a:ext cx="714196" cy="714196"/>
          </a:xfrm>
          <a:prstGeom prst="ellipse">
            <a:avLst/>
          </a:prstGeom>
          <a:solidFill>
            <a:srgbClr val="FFD9AD"/>
          </a:solidFill>
        </p:spPr>
      </p:sp>
      <p:pic>
        <p:nvPicPr>
          <p:cNvPr id="8" name="Object 7"/>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313660" y="1724585"/>
            <a:ext cx="361860" cy="352337"/>
          </a:xfrm>
          <a:prstGeom prst="rect">
            <a:avLst/>
          </a:prstGeom>
        </p:spPr>
      </p:pic>
      <p:sp>
        <p:nvSpPr>
          <p:cNvPr id="9" name="Object 8"/>
          <p:cNvSpPr/>
          <p:nvPr/>
        </p:nvSpPr>
        <p:spPr>
          <a:xfrm>
            <a:off x="7346701" y="1507984"/>
            <a:ext cx="2775843" cy="266931"/>
          </a:xfrm>
          <a:prstGeom prst="rect">
            <a:avLst/>
          </a:prstGeom>
          <a:noFill/>
        </p:spPr>
        <p:txBody>
          <a:bodyPr wrap="square" lIns="0" tIns="0" rIns="0" bIns="0" rtlCol="0" anchor="t"/>
          <a:lstStyle/>
          <a:p>
            <a:pPr algn="l">
              <a:lnSpc>
                <a:spcPts val="2102"/>
              </a:lnSpc>
              <a:buNone/>
            </a:pPr>
            <a:r>
              <a:rPr lang="en-US" sz="1800" b="1" kern="0" spc="-108" dirty="0">
                <a:latin typeface="Inter" pitchFamily="34" charset="0"/>
                <a:ea typeface="Inter" pitchFamily="34" charset="-122"/>
                <a:cs typeface="Inter" pitchFamily="34" charset="-120"/>
              </a:rPr>
              <a:t>Decentralized Evaluations</a:t>
            </a:r>
            <a:endParaRPr lang="en-US" dirty="0"/>
          </a:p>
        </p:txBody>
      </p:sp>
      <p:sp>
        <p:nvSpPr>
          <p:cNvPr id="10" name="Object 9"/>
          <p:cNvSpPr/>
          <p:nvPr/>
        </p:nvSpPr>
        <p:spPr>
          <a:xfrm>
            <a:off x="7346701" y="1887760"/>
            <a:ext cx="2775843" cy="1849074"/>
          </a:xfrm>
          <a:prstGeom prst="rect">
            <a:avLst/>
          </a:prstGeom>
          <a:noFill/>
        </p:spPr>
        <p:txBody>
          <a:bodyPr wrap="square" lIns="0" tIns="0" rIns="0" bIns="0" rtlCol="0" anchor="t"/>
          <a:lstStyle/>
          <a:p>
            <a:pPr algn="l">
              <a:lnSpc>
                <a:spcPts val="2081"/>
              </a:lnSpc>
              <a:spcBef>
                <a:spcPts val="596"/>
              </a:spcBef>
              <a:buNone/>
            </a:pPr>
            <a:r>
              <a:rPr lang="en-US" sz="1500" kern="0" spc="-30" dirty="0">
                <a:latin typeface="Inter" pitchFamily="34" charset="0"/>
                <a:ea typeface="Inter" pitchFamily="34" charset="-122"/>
                <a:cs typeface="Inter" pitchFamily="34" charset="-120"/>
              </a:rPr>
              <a:t>25% of decentralized evaluations responsibly and ethically integrate GenAI solutions (output indicator), 20% demonstrate optimized processes and products (outcome indicator)</a:t>
            </a:r>
            <a:endParaRPr lang="en-US" dirty="0"/>
          </a:p>
        </p:txBody>
      </p:sp>
      <p:sp>
        <p:nvSpPr>
          <p:cNvPr id="11" name="Object 10"/>
          <p:cNvSpPr/>
          <p:nvPr/>
        </p:nvSpPr>
        <p:spPr>
          <a:xfrm>
            <a:off x="6212038" y="4514862"/>
            <a:ext cx="714196" cy="714196"/>
          </a:xfrm>
          <a:prstGeom prst="ellipse">
            <a:avLst/>
          </a:prstGeom>
          <a:solidFill>
            <a:srgbClr val="FEC088"/>
          </a:solidFill>
        </p:spPr>
      </p:sp>
      <p:pic>
        <p:nvPicPr>
          <p:cNvPr id="12" name="Object 11"/>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378683" y="4648876"/>
            <a:ext cx="380905" cy="323769"/>
          </a:xfrm>
          <a:prstGeom prst="rect">
            <a:avLst/>
          </a:prstGeom>
        </p:spPr>
      </p:pic>
      <p:sp>
        <p:nvSpPr>
          <p:cNvPr id="13" name="Object 12"/>
          <p:cNvSpPr/>
          <p:nvPr/>
        </p:nvSpPr>
        <p:spPr>
          <a:xfrm>
            <a:off x="7247315" y="4443183"/>
            <a:ext cx="3284169" cy="533862"/>
          </a:xfrm>
          <a:prstGeom prst="rect">
            <a:avLst/>
          </a:prstGeom>
          <a:noFill/>
        </p:spPr>
        <p:txBody>
          <a:bodyPr wrap="square" lIns="0" tIns="0" rIns="0" bIns="0" rtlCol="0" anchor="t"/>
          <a:lstStyle/>
          <a:p>
            <a:pPr algn="l">
              <a:lnSpc>
                <a:spcPts val="2102"/>
              </a:lnSpc>
              <a:buNone/>
            </a:pPr>
            <a:r>
              <a:rPr lang="en-US" sz="1800" b="1" kern="0" spc="-108" dirty="0">
                <a:latin typeface="Inter" pitchFamily="34" charset="0"/>
                <a:ea typeface="Inter" pitchFamily="34" charset="-122"/>
                <a:cs typeface="Inter" pitchFamily="34" charset="-120"/>
              </a:rPr>
              <a:t>Joint and System-wide Evaluations</a:t>
            </a:r>
            <a:endParaRPr lang="en-US" dirty="0"/>
          </a:p>
        </p:txBody>
      </p:sp>
      <p:sp>
        <p:nvSpPr>
          <p:cNvPr id="14" name="Object 13"/>
          <p:cNvSpPr/>
          <p:nvPr/>
        </p:nvSpPr>
        <p:spPr>
          <a:xfrm>
            <a:off x="7247315" y="4866925"/>
            <a:ext cx="2775843" cy="1849074"/>
          </a:xfrm>
          <a:prstGeom prst="rect">
            <a:avLst/>
          </a:prstGeom>
          <a:noFill/>
        </p:spPr>
        <p:txBody>
          <a:bodyPr wrap="square" lIns="0" tIns="0" rIns="0" bIns="0" rtlCol="0" anchor="t"/>
          <a:lstStyle/>
          <a:p>
            <a:pPr algn="l">
              <a:lnSpc>
                <a:spcPts val="2081"/>
              </a:lnSpc>
              <a:spcBef>
                <a:spcPts val="596"/>
              </a:spcBef>
              <a:buNone/>
            </a:pPr>
            <a:r>
              <a:rPr lang="en-US" sz="1500" kern="0" spc="-30" dirty="0">
                <a:latin typeface="Inter" pitchFamily="34" charset="0"/>
                <a:ea typeface="Inter" pitchFamily="34" charset="-122"/>
                <a:cs typeface="Inter" pitchFamily="34" charset="-120"/>
              </a:rPr>
              <a:t>10% of joint and system-wide evaluations responsibly and ethically integrate GenAI solutions (output indicator), 5% demonstrate optimized processes and products (outcome indicator)</a:t>
            </a:r>
            <a:endParaRPr lang="en-US" dirty="0"/>
          </a:p>
        </p:txBody>
      </p:sp>
      <p:sp>
        <p:nvSpPr>
          <p:cNvPr id="15" name="Object 14"/>
          <p:cNvSpPr/>
          <p:nvPr/>
        </p:nvSpPr>
        <p:spPr>
          <a:xfrm>
            <a:off x="438574" y="4514862"/>
            <a:ext cx="714196" cy="714196"/>
          </a:xfrm>
          <a:prstGeom prst="ellipse">
            <a:avLst/>
          </a:prstGeom>
          <a:solidFill>
            <a:srgbClr val="FD864D"/>
          </a:solidFill>
        </p:spPr>
      </p:sp>
      <p:pic>
        <p:nvPicPr>
          <p:cNvPr id="16" name="Object 15"/>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90923" y="4825045"/>
            <a:ext cx="209498" cy="295201"/>
          </a:xfrm>
          <a:prstGeom prst="rect">
            <a:avLst/>
          </a:prstGeom>
        </p:spPr>
      </p:pic>
      <p:sp>
        <p:nvSpPr>
          <p:cNvPr id="17" name="Object 16"/>
          <p:cNvSpPr/>
          <p:nvPr/>
        </p:nvSpPr>
        <p:spPr>
          <a:xfrm>
            <a:off x="1380780" y="4415739"/>
            <a:ext cx="2775843" cy="266931"/>
          </a:xfrm>
          <a:prstGeom prst="rect">
            <a:avLst/>
          </a:prstGeom>
          <a:noFill/>
        </p:spPr>
        <p:txBody>
          <a:bodyPr wrap="square" lIns="0" tIns="0" rIns="0" bIns="0" rtlCol="0" anchor="t"/>
          <a:lstStyle/>
          <a:p>
            <a:pPr algn="l">
              <a:lnSpc>
                <a:spcPts val="2102"/>
              </a:lnSpc>
              <a:buNone/>
            </a:pPr>
            <a:r>
              <a:rPr lang="en-US" sz="1800" b="1" kern="0" spc="-108" dirty="0">
                <a:latin typeface="Inter" pitchFamily="34" charset="0"/>
                <a:ea typeface="Inter" pitchFamily="34" charset="-122"/>
                <a:cs typeface="Inter" pitchFamily="34" charset="-120"/>
              </a:rPr>
              <a:t>National Capacity Building</a:t>
            </a:r>
            <a:endParaRPr lang="en-US" dirty="0"/>
          </a:p>
        </p:txBody>
      </p:sp>
      <p:sp>
        <p:nvSpPr>
          <p:cNvPr id="18" name="Object 17"/>
          <p:cNvSpPr/>
          <p:nvPr/>
        </p:nvSpPr>
        <p:spPr>
          <a:xfrm>
            <a:off x="1380779" y="4783508"/>
            <a:ext cx="2775843" cy="1584921"/>
          </a:xfrm>
          <a:prstGeom prst="rect">
            <a:avLst/>
          </a:prstGeom>
          <a:noFill/>
        </p:spPr>
        <p:txBody>
          <a:bodyPr wrap="square" lIns="0" tIns="0" rIns="0" bIns="0" rtlCol="0" anchor="t"/>
          <a:lstStyle/>
          <a:p>
            <a:pPr algn="l">
              <a:lnSpc>
                <a:spcPts val="2081"/>
              </a:lnSpc>
              <a:spcBef>
                <a:spcPts val="596"/>
              </a:spcBef>
              <a:buNone/>
            </a:pPr>
            <a:r>
              <a:rPr lang="en-US" sz="1500" kern="0" spc="-30" dirty="0">
                <a:latin typeface="Inter" pitchFamily="34" charset="0"/>
                <a:ea typeface="Inter" pitchFamily="34" charset="-122"/>
                <a:cs typeface="Inter" pitchFamily="34" charset="-120"/>
              </a:rPr>
              <a:t>Lead at least 2 GenAI evaluation capacity building events, achieve at least 1 strategic multi-stakeholder partnership focusing on the Global South</a:t>
            </a:r>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0" y="379020"/>
            <a:ext cx="12188952" cy="556081"/>
          </a:xfrm>
          <a:prstGeom prst="rect">
            <a:avLst/>
          </a:prstGeom>
          <a:noFill/>
        </p:spPr>
        <p:txBody>
          <a:bodyPr wrap="square" lIns="0" tIns="0" rIns="0" bIns="0" rtlCol="0" anchor="t"/>
          <a:lstStyle/>
          <a:p>
            <a:pPr marL="0" marR="0" lvl="0" indent="0" algn="ctr" defTabSz="914400" rtl="0" eaLnBrk="1" fontAlgn="auto" latinLnBrk="0" hangingPunct="1">
              <a:lnSpc>
                <a:spcPts val="4380"/>
              </a:lnSpc>
              <a:spcBef>
                <a:spcPts val="0"/>
              </a:spcBef>
              <a:spcAft>
                <a:spcPts val="0"/>
              </a:spcAft>
              <a:buClrTx/>
              <a:buSzTx/>
              <a:buFontTx/>
              <a:buNone/>
              <a:tabLst/>
              <a:defRPr/>
            </a:pPr>
            <a:r>
              <a:rPr kumimoji="0" lang="en-US" sz="3750" b="1" i="0" u="none" strike="noStrike" kern="0" cap="none" spc="-225" normalizeH="0" baseline="0" noProof="0" dirty="0">
                <a:ln>
                  <a:noFill/>
                </a:ln>
                <a:effectLst/>
                <a:uLnTx/>
                <a:uFillTx/>
                <a:latin typeface="Inter" pitchFamily="34" charset="0"/>
                <a:ea typeface="Inter" pitchFamily="34" charset="-122"/>
                <a:cs typeface="Inter" pitchFamily="34" charset="-120"/>
              </a:rPr>
              <a:t>Organizational Roles and Responsibilities</a:t>
            </a:r>
            <a:endParaRPr kumimoji="0" lang="en-US" sz="1800" b="0" i="0" u="none" strike="noStrike" kern="1200" cap="none" spc="0" normalizeH="0" baseline="0" noProof="0" dirty="0">
              <a:ln>
                <a:noFill/>
              </a:ln>
              <a:effectLst/>
              <a:uLnTx/>
              <a:uFillTx/>
              <a:latin typeface="Arial"/>
              <a:ea typeface="+mn-ea"/>
              <a:cs typeface="+mn-cs"/>
            </a:endParaRPr>
          </a:p>
        </p:txBody>
      </p:sp>
      <p:sp>
        <p:nvSpPr>
          <p:cNvPr id="3" name="Object 2"/>
          <p:cNvSpPr/>
          <p:nvPr/>
        </p:nvSpPr>
        <p:spPr>
          <a:xfrm>
            <a:off x="476131" y="1590277"/>
            <a:ext cx="5523119" cy="2109260"/>
          </a:xfrm>
          <a:prstGeom prst="rect">
            <a:avLst/>
          </a:prstGeom>
          <a:solidFill>
            <a:srgbClr val="22AAEE"/>
          </a:solidFill>
        </p:spPr>
      </p:sp>
      <p:sp>
        <p:nvSpPr>
          <p:cNvPr id="4" name="Object 3"/>
          <p:cNvSpPr/>
          <p:nvPr/>
        </p:nvSpPr>
        <p:spPr>
          <a:xfrm>
            <a:off x="761810" y="1809992"/>
            <a:ext cx="5551687" cy="378127"/>
          </a:xfrm>
          <a:prstGeom prst="rect">
            <a:avLst/>
          </a:prstGeom>
          <a:noFill/>
        </p:spPr>
        <p:txBody>
          <a:bodyPr wrap="square" lIns="0" tIns="0" rIns="0" bIns="0" rtlCol="0" anchor="t"/>
          <a:lstStyle/>
          <a:p>
            <a:pPr marL="0" marR="0" lvl="0" indent="0" algn="l" defTabSz="914400" rtl="0" eaLnBrk="1" fontAlgn="auto" latinLnBrk="0" hangingPunct="1">
              <a:lnSpc>
                <a:spcPts val="2978"/>
              </a:lnSpc>
              <a:spcBef>
                <a:spcPts val="0"/>
              </a:spcBef>
              <a:spcAft>
                <a:spcPts val="0"/>
              </a:spcAft>
              <a:buClrTx/>
              <a:buSzTx/>
              <a:buFontTx/>
              <a:buNone/>
              <a:tabLst/>
              <a:defRPr/>
            </a:pPr>
            <a:r>
              <a:rPr kumimoji="0" lang="en-US" sz="2550" b="1" i="0" u="none" strike="noStrike" kern="0" cap="none" spc="-153" normalizeH="0" baseline="0" noProof="0" dirty="0">
                <a:ln>
                  <a:noFill/>
                </a:ln>
                <a:solidFill>
                  <a:srgbClr val="333333"/>
                </a:solidFill>
                <a:effectLst/>
                <a:uLnTx/>
                <a:uFillTx/>
                <a:latin typeface="Inter" pitchFamily="34" charset="0"/>
                <a:ea typeface="Inter" pitchFamily="34" charset="-122"/>
                <a:cs typeface="Inter" pitchFamily="34" charset="-120"/>
              </a:rPr>
              <a:t>Evaluators</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5" name="Object 4"/>
          <p:cNvSpPr/>
          <p:nvPr/>
        </p:nvSpPr>
        <p:spPr>
          <a:xfrm>
            <a:off x="761810" y="2323321"/>
            <a:ext cx="5551687" cy="660235"/>
          </a:xfrm>
          <a:prstGeom prst="rect">
            <a:avLst/>
          </a:prstGeom>
          <a:noFill/>
        </p:spPr>
        <p:txBody>
          <a:bodyPr wrap="square" lIns="0" tIns="0" rIns="0" bIns="0" rtlCol="0" anchor="t"/>
          <a:lstStyle/>
          <a:p>
            <a:pPr marL="0" marR="0" lvl="0" indent="0" algn="l" defTabSz="914400" rtl="0" eaLnBrk="1" fontAlgn="auto" latinLnBrk="0" hangingPunct="1">
              <a:lnSpc>
                <a:spcPts val="2600"/>
              </a:lnSpc>
              <a:spcBef>
                <a:spcPts val="1044"/>
              </a:spcBef>
              <a:spcAft>
                <a:spcPts val="0"/>
              </a:spcAft>
              <a:buClrTx/>
              <a:buSzTx/>
              <a:buFontTx/>
              <a:buNone/>
              <a:tabLst/>
              <a:defRPr/>
            </a:pPr>
            <a:r>
              <a:rPr kumimoji="0" lang="en-US" sz="1875" b="0" i="0" u="none" strike="noStrike" kern="0" cap="none" spc="-37" normalizeH="0" baseline="0" noProof="0" dirty="0">
                <a:ln>
                  <a:noFill/>
                </a:ln>
                <a:solidFill>
                  <a:srgbClr val="000000">
                    <a:alpha val="56000"/>
                  </a:srgbClr>
                </a:solidFill>
                <a:effectLst/>
                <a:uLnTx/>
                <a:uFillTx/>
                <a:latin typeface="Inter" pitchFamily="34" charset="0"/>
                <a:ea typeface="Inter" pitchFamily="34" charset="-122"/>
                <a:cs typeface="Inter" pitchFamily="34" charset="-120"/>
              </a:rPr>
              <a:t>Cross-check, validate, and supervise GenAI outputs.</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6" name="Object 5"/>
          <p:cNvSpPr/>
          <p:nvPr/>
        </p:nvSpPr>
        <p:spPr>
          <a:xfrm>
            <a:off x="6189702" y="1590277"/>
            <a:ext cx="5523119" cy="2109260"/>
          </a:xfrm>
          <a:prstGeom prst="rect">
            <a:avLst/>
          </a:prstGeom>
          <a:solidFill>
            <a:srgbClr val="FFD9AD"/>
          </a:solidFill>
        </p:spPr>
      </p:sp>
      <p:sp>
        <p:nvSpPr>
          <p:cNvPr id="7" name="Object 6"/>
          <p:cNvSpPr/>
          <p:nvPr/>
        </p:nvSpPr>
        <p:spPr>
          <a:xfrm>
            <a:off x="6475381" y="1809992"/>
            <a:ext cx="5551687" cy="378127"/>
          </a:xfrm>
          <a:prstGeom prst="rect">
            <a:avLst/>
          </a:prstGeom>
          <a:noFill/>
        </p:spPr>
        <p:txBody>
          <a:bodyPr wrap="square" lIns="0" tIns="0" rIns="0" bIns="0" rtlCol="0" anchor="t"/>
          <a:lstStyle/>
          <a:p>
            <a:pPr marL="0" marR="0" lvl="0" indent="0" algn="l" defTabSz="914400" rtl="0" eaLnBrk="1" fontAlgn="auto" latinLnBrk="0" hangingPunct="1">
              <a:lnSpc>
                <a:spcPts val="2978"/>
              </a:lnSpc>
              <a:spcBef>
                <a:spcPts val="0"/>
              </a:spcBef>
              <a:spcAft>
                <a:spcPts val="0"/>
              </a:spcAft>
              <a:buClrTx/>
              <a:buSzTx/>
              <a:buFontTx/>
              <a:buNone/>
              <a:tabLst/>
              <a:defRPr/>
            </a:pPr>
            <a:r>
              <a:rPr kumimoji="0" lang="en-US" sz="2550" b="1" i="0" u="none" strike="noStrike" kern="0" cap="none" spc="-153" normalizeH="0" baseline="0" noProof="0" dirty="0">
                <a:ln>
                  <a:noFill/>
                </a:ln>
                <a:solidFill>
                  <a:srgbClr val="333333"/>
                </a:solidFill>
                <a:effectLst/>
                <a:uLnTx/>
                <a:uFillTx/>
                <a:latin typeface="Inter" pitchFamily="34" charset="0"/>
                <a:ea typeface="Inter" pitchFamily="34" charset="-122"/>
                <a:cs typeface="Inter" pitchFamily="34" charset="-120"/>
              </a:rPr>
              <a:t>Managers</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8" name="Object 7"/>
          <p:cNvSpPr/>
          <p:nvPr/>
        </p:nvSpPr>
        <p:spPr>
          <a:xfrm>
            <a:off x="6475381" y="2323321"/>
            <a:ext cx="5551687" cy="330117"/>
          </a:xfrm>
          <a:prstGeom prst="rect">
            <a:avLst/>
          </a:prstGeom>
          <a:noFill/>
        </p:spPr>
        <p:txBody>
          <a:bodyPr wrap="square" lIns="0" tIns="0" rIns="0" bIns="0" rtlCol="0" anchor="t"/>
          <a:lstStyle/>
          <a:p>
            <a:pPr marL="0" marR="0" lvl="0" indent="0" algn="l" defTabSz="914400" rtl="0" eaLnBrk="1" fontAlgn="auto" latinLnBrk="0" hangingPunct="1">
              <a:lnSpc>
                <a:spcPts val="2600"/>
              </a:lnSpc>
              <a:spcBef>
                <a:spcPts val="1044"/>
              </a:spcBef>
              <a:spcAft>
                <a:spcPts val="0"/>
              </a:spcAft>
              <a:buClrTx/>
              <a:buSzTx/>
              <a:buFontTx/>
              <a:buNone/>
              <a:tabLst/>
              <a:defRPr/>
            </a:pPr>
            <a:r>
              <a:rPr kumimoji="0" lang="en-US" sz="1875" b="0" i="0" u="none" strike="noStrike" kern="0" cap="none" spc="-37" normalizeH="0" baseline="0" noProof="0" dirty="0">
                <a:ln>
                  <a:noFill/>
                </a:ln>
                <a:solidFill>
                  <a:srgbClr val="000000">
                    <a:alpha val="56000"/>
                  </a:srgbClr>
                </a:solidFill>
                <a:effectLst/>
                <a:uLnTx/>
                <a:uFillTx/>
                <a:latin typeface="Inter" pitchFamily="34" charset="0"/>
                <a:ea typeface="Inter" pitchFamily="34" charset="-122"/>
                <a:cs typeface="Inter" pitchFamily="34" charset="-120"/>
              </a:rPr>
              <a:t>Enforce ethical compliance across evaluations.</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9" name="Object 8"/>
          <p:cNvSpPr/>
          <p:nvPr/>
        </p:nvSpPr>
        <p:spPr>
          <a:xfrm>
            <a:off x="476131" y="3889990"/>
            <a:ext cx="5523119" cy="2109260"/>
          </a:xfrm>
          <a:prstGeom prst="rect">
            <a:avLst/>
          </a:prstGeom>
          <a:solidFill>
            <a:srgbClr val="FEC088"/>
          </a:solidFill>
        </p:spPr>
      </p:sp>
      <p:sp>
        <p:nvSpPr>
          <p:cNvPr id="10" name="Object 9"/>
          <p:cNvSpPr/>
          <p:nvPr/>
        </p:nvSpPr>
        <p:spPr>
          <a:xfrm>
            <a:off x="761810" y="4109704"/>
            <a:ext cx="5551687" cy="378127"/>
          </a:xfrm>
          <a:prstGeom prst="rect">
            <a:avLst/>
          </a:prstGeom>
          <a:noFill/>
        </p:spPr>
        <p:txBody>
          <a:bodyPr wrap="square" lIns="0" tIns="0" rIns="0" bIns="0" rtlCol="0" anchor="t"/>
          <a:lstStyle/>
          <a:p>
            <a:pPr marL="0" marR="0" lvl="0" indent="0" algn="l" defTabSz="914400" rtl="0" eaLnBrk="1" fontAlgn="auto" latinLnBrk="0" hangingPunct="1">
              <a:lnSpc>
                <a:spcPts val="2978"/>
              </a:lnSpc>
              <a:spcBef>
                <a:spcPts val="0"/>
              </a:spcBef>
              <a:spcAft>
                <a:spcPts val="0"/>
              </a:spcAft>
              <a:buClrTx/>
              <a:buSzTx/>
              <a:buFontTx/>
              <a:buNone/>
              <a:tabLst/>
              <a:defRPr/>
            </a:pPr>
            <a:r>
              <a:rPr kumimoji="0" lang="en-US" sz="2550" b="1" i="0" u="none" strike="noStrike" kern="0" cap="none" spc="-153" normalizeH="0" baseline="0" noProof="0" dirty="0">
                <a:ln>
                  <a:noFill/>
                </a:ln>
                <a:solidFill>
                  <a:srgbClr val="333333"/>
                </a:solidFill>
                <a:effectLst/>
                <a:uLnTx/>
                <a:uFillTx/>
                <a:latin typeface="Inter" pitchFamily="34" charset="0"/>
                <a:ea typeface="Inter" pitchFamily="34" charset="-122"/>
                <a:cs typeface="Inter" pitchFamily="34" charset="-120"/>
              </a:rPr>
              <a:t>IT Support</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11" name="Object 10"/>
          <p:cNvSpPr/>
          <p:nvPr/>
        </p:nvSpPr>
        <p:spPr>
          <a:xfrm>
            <a:off x="761810" y="4623033"/>
            <a:ext cx="5551687" cy="330117"/>
          </a:xfrm>
          <a:prstGeom prst="rect">
            <a:avLst/>
          </a:prstGeom>
          <a:noFill/>
        </p:spPr>
        <p:txBody>
          <a:bodyPr wrap="square" lIns="0" tIns="0" rIns="0" bIns="0" rtlCol="0" anchor="t"/>
          <a:lstStyle/>
          <a:p>
            <a:pPr marL="0" marR="0" lvl="0" indent="0" algn="l" defTabSz="914400" rtl="0" eaLnBrk="1" fontAlgn="auto" latinLnBrk="0" hangingPunct="1">
              <a:lnSpc>
                <a:spcPts val="2600"/>
              </a:lnSpc>
              <a:spcBef>
                <a:spcPts val="1044"/>
              </a:spcBef>
              <a:spcAft>
                <a:spcPts val="0"/>
              </a:spcAft>
              <a:buClrTx/>
              <a:buSzTx/>
              <a:buFontTx/>
              <a:buNone/>
              <a:tabLst/>
              <a:defRPr/>
            </a:pPr>
            <a:r>
              <a:rPr kumimoji="0" lang="en-US" sz="1875" b="0" i="0" u="none" strike="noStrike" kern="0" cap="none" spc="-37" normalizeH="0" baseline="0" noProof="0" dirty="0">
                <a:ln>
                  <a:noFill/>
                </a:ln>
                <a:solidFill>
                  <a:srgbClr val="000000">
                    <a:alpha val="56000"/>
                  </a:srgbClr>
                </a:solidFill>
                <a:effectLst/>
                <a:uLnTx/>
                <a:uFillTx/>
                <a:latin typeface="Inter" pitchFamily="34" charset="0"/>
                <a:ea typeface="Inter" pitchFamily="34" charset="-122"/>
                <a:cs typeface="Inter" pitchFamily="34" charset="-120"/>
              </a:rPr>
              <a:t>Maintain secure GenAI infrastructure.</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12" name="Object 11"/>
          <p:cNvSpPr/>
          <p:nvPr/>
        </p:nvSpPr>
        <p:spPr>
          <a:xfrm>
            <a:off x="6189702" y="3889990"/>
            <a:ext cx="5523119" cy="2109260"/>
          </a:xfrm>
          <a:prstGeom prst="rect">
            <a:avLst/>
          </a:prstGeom>
          <a:solidFill>
            <a:srgbClr val="FD864D"/>
          </a:solidFill>
        </p:spPr>
      </p:sp>
      <p:sp>
        <p:nvSpPr>
          <p:cNvPr id="13" name="Object 12"/>
          <p:cNvSpPr/>
          <p:nvPr/>
        </p:nvSpPr>
        <p:spPr>
          <a:xfrm>
            <a:off x="6475381" y="4109704"/>
            <a:ext cx="5551687" cy="378127"/>
          </a:xfrm>
          <a:prstGeom prst="rect">
            <a:avLst/>
          </a:prstGeom>
          <a:noFill/>
        </p:spPr>
        <p:txBody>
          <a:bodyPr wrap="square" lIns="0" tIns="0" rIns="0" bIns="0" rtlCol="0" anchor="t"/>
          <a:lstStyle/>
          <a:p>
            <a:pPr marL="0" marR="0" lvl="0" indent="0" algn="l" defTabSz="914400" rtl="0" eaLnBrk="1" fontAlgn="auto" latinLnBrk="0" hangingPunct="1">
              <a:lnSpc>
                <a:spcPts val="2978"/>
              </a:lnSpc>
              <a:spcBef>
                <a:spcPts val="0"/>
              </a:spcBef>
              <a:spcAft>
                <a:spcPts val="0"/>
              </a:spcAft>
              <a:buClrTx/>
              <a:buSzTx/>
              <a:buFontTx/>
              <a:buNone/>
              <a:tabLst/>
              <a:defRPr/>
            </a:pPr>
            <a:r>
              <a:rPr kumimoji="0" lang="en-US" sz="2550" b="1" i="0" u="none" strike="noStrike" kern="0" cap="none" spc="-153" normalizeH="0" baseline="0" noProof="0" dirty="0">
                <a:ln>
                  <a:noFill/>
                </a:ln>
                <a:solidFill>
                  <a:srgbClr val="333333"/>
                </a:solidFill>
                <a:effectLst/>
                <a:uLnTx/>
                <a:uFillTx/>
                <a:latin typeface="Inter" pitchFamily="34" charset="0"/>
                <a:ea typeface="Inter" pitchFamily="34" charset="-122"/>
                <a:cs typeface="Inter" pitchFamily="34" charset="-120"/>
              </a:rPr>
              <a:t>IEO Leadership</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14" name="Object 13"/>
          <p:cNvSpPr/>
          <p:nvPr/>
        </p:nvSpPr>
        <p:spPr>
          <a:xfrm>
            <a:off x="6475381" y="4623033"/>
            <a:ext cx="5551687" cy="660235"/>
          </a:xfrm>
          <a:prstGeom prst="rect">
            <a:avLst/>
          </a:prstGeom>
          <a:noFill/>
        </p:spPr>
        <p:txBody>
          <a:bodyPr wrap="square" lIns="0" tIns="0" rIns="0" bIns="0" rtlCol="0" anchor="t"/>
          <a:lstStyle/>
          <a:p>
            <a:pPr marL="0" marR="0" lvl="0" indent="0" algn="l" defTabSz="914400" rtl="0" eaLnBrk="1" fontAlgn="auto" latinLnBrk="0" hangingPunct="1">
              <a:lnSpc>
                <a:spcPts val="2600"/>
              </a:lnSpc>
              <a:spcBef>
                <a:spcPts val="1044"/>
              </a:spcBef>
              <a:spcAft>
                <a:spcPts val="0"/>
              </a:spcAft>
              <a:buClrTx/>
              <a:buSzTx/>
              <a:buFontTx/>
              <a:buNone/>
              <a:tabLst/>
              <a:defRPr/>
            </a:pPr>
            <a:r>
              <a:rPr kumimoji="0" lang="en-US" sz="1875" b="0" i="0" u="none" strike="noStrike" kern="0" cap="none" spc="-37" normalizeH="0" baseline="0" noProof="0" dirty="0">
                <a:ln>
                  <a:noFill/>
                </a:ln>
                <a:solidFill>
                  <a:srgbClr val="000000">
                    <a:alpha val="56000"/>
                  </a:srgbClr>
                </a:solidFill>
                <a:effectLst/>
                <a:uLnTx/>
                <a:uFillTx/>
                <a:latin typeface="Inter" pitchFamily="34" charset="0"/>
                <a:ea typeface="Inter" pitchFamily="34" charset="-122"/>
                <a:cs typeface="Inter" pitchFamily="34" charset="-120"/>
              </a:rPr>
              <a:t>Provide training, update policies, and position UNFPA globally on responsible GenAI use.</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15" name="Object 14"/>
          <p:cNvSpPr/>
          <p:nvPr/>
        </p:nvSpPr>
        <p:spPr>
          <a:xfrm>
            <a:off x="11798525" y="6497898"/>
            <a:ext cx="199975" cy="237669"/>
          </a:xfrm>
          <a:prstGeom prst="rect">
            <a:avLst/>
          </a:prstGeom>
          <a:noFill/>
        </p:spPr>
      </p:sp>
      <p:sp>
        <p:nvSpPr>
          <p:cNvPr id="25" name="Slide Number Placeholder 24"/>
          <p:cNvSpPr>
            <a:spLocks noGrp="1"/>
          </p:cNvSpPr>
          <p:nvPr>
            <p:ph type="sldNum" sz="quarter" idx="4294967295"/>
          </p:nvPr>
        </p:nvSpPr>
        <p:spPr>
          <a:xfrm>
            <a:off x="11826240" y="6515100"/>
            <a:ext cx="800000" cy="300000"/>
          </a:xfrm>
          <a:prstGeom prst="rect">
            <a:avLst/>
          </a:prstGeom>
          <a:extLst>
            <a:ext uri="{C572A759-6A51-4108-AA02-DFA0A04FC94B}">
              <ma14:wrappingTextBoxFlag xmlns="" xmlns:ma14="http://schemas.microsoft.com/office/mac/drawingml/2011/main" val="0"/>
            </a:ext>
          </a:extLst>
        </p:spPr>
        <p:txBody>
          <a:bodyPr/>
          <a:lstStyle>
            <a:lvl1pPr>
              <a:defRPr sz="1100"/>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100" b="0" i="0" u="none" strike="noStrike" kern="1200" cap="none" spc="0" normalizeH="0" baseline="0" noProof="0" smtClean="0">
                <a:ln>
                  <a:noFill/>
                </a:ln>
                <a:solidFill>
                  <a:prstClr val="black"/>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27</a:t>
            </a:fld>
            <a:endParaRPr kumimoji="0" lang="en-US" sz="1100" b="0" i="0" u="none" strike="noStrike" kern="1200" cap="none" spc="0" normalizeH="0" baseline="0" noProof="0">
              <a:ln>
                <a:noFill/>
              </a:ln>
              <a:solidFill>
                <a:prstClr val="black"/>
              </a:solidFill>
              <a:effectLst/>
              <a:uLnTx/>
              <a:uFillTx/>
              <a:latin typeface="Arial"/>
              <a:ea typeface="+mn-ea"/>
              <a:cs typeface="+mn-cs"/>
            </a:endParaRPr>
          </a:p>
        </p:txBody>
      </p:sp>
    </p:spTree>
    <p:extLst>
      <p:ext uri="{BB962C8B-B14F-4D97-AF65-F5344CB8AC3E}">
        <p14:creationId xmlns:p14="http://schemas.microsoft.com/office/powerpoint/2010/main" val="335437742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0" y="379020"/>
            <a:ext cx="12188952" cy="556081"/>
          </a:xfrm>
          <a:prstGeom prst="rect">
            <a:avLst/>
          </a:prstGeom>
          <a:noFill/>
        </p:spPr>
        <p:txBody>
          <a:bodyPr wrap="square" lIns="0" tIns="0" rIns="0" bIns="0" rtlCol="0" anchor="t"/>
          <a:lstStyle/>
          <a:p>
            <a:pPr marL="0" marR="0" lvl="0" indent="0" algn="ctr" defTabSz="914400" rtl="0" eaLnBrk="1" fontAlgn="auto" latinLnBrk="0" hangingPunct="1">
              <a:lnSpc>
                <a:spcPts val="4380"/>
              </a:lnSpc>
              <a:spcBef>
                <a:spcPts val="0"/>
              </a:spcBef>
              <a:spcAft>
                <a:spcPts val="0"/>
              </a:spcAft>
              <a:buClrTx/>
              <a:buSzTx/>
              <a:buFontTx/>
              <a:buNone/>
              <a:tabLst/>
              <a:defRPr/>
            </a:pPr>
            <a:r>
              <a:rPr kumimoji="0" lang="en-US" sz="3750" b="1" i="0" u="none" strike="noStrike" kern="0" cap="none" spc="-225" normalizeH="0" baseline="0" noProof="0" dirty="0">
                <a:ln>
                  <a:noFill/>
                </a:ln>
                <a:solidFill>
                  <a:srgbClr val="333333"/>
                </a:solidFill>
                <a:effectLst/>
                <a:uLnTx/>
                <a:uFillTx/>
                <a:latin typeface="Inter" pitchFamily="34" charset="0"/>
                <a:ea typeface="Inter" pitchFamily="34" charset="-122"/>
                <a:cs typeface="Inter" pitchFamily="34" charset="-120"/>
              </a:rPr>
              <a:t>Monitoring and Evaluation Framework (Annex 1)</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3" name="Object 2"/>
          <p:cNvSpPr/>
          <p:nvPr/>
        </p:nvSpPr>
        <p:spPr>
          <a:xfrm>
            <a:off x="476131" y="1590277"/>
            <a:ext cx="11236690" cy="4389927"/>
          </a:xfrm>
          <a:prstGeom prst="rect">
            <a:avLst/>
          </a:prstGeom>
          <a:solidFill>
            <a:srgbClr val="000000">
              <a:alpha val="0"/>
            </a:srgbClr>
          </a:solidFill>
        </p:spPr>
      </p:sp>
      <p:pic>
        <p:nvPicPr>
          <p:cNvPr id="4" name="Object 3"/>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76131" y="1590278"/>
            <a:ext cx="11255735" cy="4408972"/>
          </a:xfrm>
          <a:prstGeom prst="rect">
            <a:avLst/>
          </a:prstGeom>
        </p:spPr>
      </p:pic>
      <p:pic>
        <p:nvPicPr>
          <p:cNvPr id="5" name="Object 4"/>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76131" y="1590278"/>
            <a:ext cx="11246213" cy="4389927"/>
          </a:xfrm>
          <a:prstGeom prst="rect">
            <a:avLst/>
          </a:prstGeom>
        </p:spPr>
      </p:pic>
      <p:sp>
        <p:nvSpPr>
          <p:cNvPr id="6" name="Object 5"/>
          <p:cNvSpPr/>
          <p:nvPr/>
        </p:nvSpPr>
        <p:spPr>
          <a:xfrm>
            <a:off x="476131" y="1590277"/>
            <a:ext cx="5618345" cy="693146"/>
          </a:xfrm>
          <a:prstGeom prst="rect">
            <a:avLst/>
          </a:prstGeom>
          <a:noFill/>
        </p:spPr>
        <p:txBody>
          <a:bodyPr wrap="square"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333333"/>
                </a:solidFill>
                <a:effectLst/>
                <a:uLnTx/>
                <a:uFillTx/>
                <a:latin typeface="Inter Medium" pitchFamily="34" charset="0"/>
                <a:ea typeface="Inter Medium" pitchFamily="34" charset="-122"/>
                <a:cs typeface="Inter Medium" pitchFamily="34" charset="-120"/>
              </a:rPr>
              <a:t>Indicator</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7" name="Object 6"/>
          <p:cNvSpPr/>
          <p:nvPr/>
        </p:nvSpPr>
        <p:spPr>
          <a:xfrm>
            <a:off x="6094476" y="1590277"/>
            <a:ext cx="5618345" cy="693146"/>
          </a:xfrm>
          <a:prstGeom prst="rect">
            <a:avLst/>
          </a:prstGeom>
          <a:noFill/>
        </p:spPr>
        <p:txBody>
          <a:bodyPr wrap="square"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333333"/>
                </a:solidFill>
                <a:effectLst/>
                <a:uLnTx/>
                <a:uFillTx/>
                <a:latin typeface="Inter Medium" pitchFamily="34" charset="0"/>
                <a:ea typeface="Inter Medium" pitchFamily="34" charset="-122"/>
                <a:cs typeface="Inter Medium" pitchFamily="34" charset="-120"/>
              </a:rPr>
              <a:t>Target (Year)</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8" name="Object 7"/>
          <p:cNvSpPr/>
          <p:nvPr/>
        </p:nvSpPr>
        <p:spPr>
          <a:xfrm>
            <a:off x="476131" y="2283424"/>
            <a:ext cx="5618345" cy="924195"/>
          </a:xfrm>
          <a:prstGeom prst="rect">
            <a:avLst/>
          </a:prstGeom>
          <a:noFill/>
        </p:spPr>
        <p:txBody>
          <a:bodyPr wrap="square"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333333"/>
                </a:solidFill>
                <a:effectLst/>
                <a:uLnTx/>
                <a:uFillTx/>
                <a:latin typeface="Inter Medium" pitchFamily="34" charset="0"/>
                <a:ea typeface="Inter Medium" pitchFamily="34" charset="-122"/>
                <a:cs typeface="Inter Medium" pitchFamily="34" charset="-120"/>
              </a:rPr>
              <a:t>% of centralized evaluations supported by GenAI</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9" name="Object 8"/>
          <p:cNvSpPr/>
          <p:nvPr/>
        </p:nvSpPr>
        <p:spPr>
          <a:xfrm>
            <a:off x="6094476" y="2283424"/>
            <a:ext cx="5618345" cy="924195"/>
          </a:xfrm>
          <a:prstGeom prst="rect">
            <a:avLst/>
          </a:prstGeom>
          <a:noFill/>
        </p:spPr>
        <p:txBody>
          <a:bodyPr wrap="square"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333333"/>
                </a:solidFill>
                <a:effectLst/>
                <a:uLnTx/>
                <a:uFillTx/>
                <a:latin typeface="Inter Medium" pitchFamily="34" charset="0"/>
                <a:ea typeface="Inter Medium" pitchFamily="34" charset="-122"/>
                <a:cs typeface="Inter Medium" pitchFamily="34" charset="-120"/>
              </a:rPr>
              <a:t>50% (2025)</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10" name="Object 9"/>
          <p:cNvSpPr/>
          <p:nvPr/>
        </p:nvSpPr>
        <p:spPr>
          <a:xfrm>
            <a:off x="476131" y="3207619"/>
            <a:ext cx="5618345" cy="924195"/>
          </a:xfrm>
          <a:prstGeom prst="rect">
            <a:avLst/>
          </a:prstGeom>
          <a:noFill/>
        </p:spPr>
        <p:txBody>
          <a:bodyPr wrap="square"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333333"/>
                </a:solidFill>
                <a:effectLst/>
                <a:uLnTx/>
                <a:uFillTx/>
                <a:latin typeface="Inter Medium" pitchFamily="34" charset="0"/>
                <a:ea typeface="Inter Medium" pitchFamily="34" charset="-122"/>
                <a:cs typeface="Inter Medium" pitchFamily="34" charset="-120"/>
              </a:rPr>
              <a:t>% of decentralized evaluations using GenAI methods</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11" name="Object 10"/>
          <p:cNvSpPr/>
          <p:nvPr/>
        </p:nvSpPr>
        <p:spPr>
          <a:xfrm>
            <a:off x="6094476" y="3207619"/>
            <a:ext cx="5618345" cy="924195"/>
          </a:xfrm>
          <a:prstGeom prst="rect">
            <a:avLst/>
          </a:prstGeom>
          <a:noFill/>
        </p:spPr>
        <p:txBody>
          <a:bodyPr wrap="square"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333333"/>
                </a:solidFill>
                <a:effectLst/>
                <a:uLnTx/>
                <a:uFillTx/>
                <a:latin typeface="Inter Medium" pitchFamily="34" charset="0"/>
                <a:ea typeface="Inter Medium" pitchFamily="34" charset="-122"/>
                <a:cs typeface="Inter Medium" pitchFamily="34" charset="-120"/>
              </a:rPr>
              <a:t>25% (2026)</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12" name="Object 11"/>
          <p:cNvSpPr/>
          <p:nvPr/>
        </p:nvSpPr>
        <p:spPr>
          <a:xfrm>
            <a:off x="476131" y="4131814"/>
            <a:ext cx="5618345" cy="924195"/>
          </a:xfrm>
          <a:prstGeom prst="rect">
            <a:avLst/>
          </a:prstGeom>
          <a:noFill/>
        </p:spPr>
        <p:txBody>
          <a:bodyPr wrap="square"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333333"/>
                </a:solidFill>
                <a:effectLst/>
                <a:uLnTx/>
                <a:uFillTx/>
                <a:latin typeface="Inter Medium" pitchFamily="34" charset="0"/>
                <a:ea typeface="Inter Medium" pitchFamily="34" charset="-122"/>
                <a:cs typeface="Inter Medium" pitchFamily="34" charset="-120"/>
              </a:rPr>
              <a:t>% of UN evaluations incorporating GenAI elements</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13" name="Object 12"/>
          <p:cNvSpPr/>
          <p:nvPr/>
        </p:nvSpPr>
        <p:spPr>
          <a:xfrm>
            <a:off x="6094476" y="4131814"/>
            <a:ext cx="5618345" cy="924195"/>
          </a:xfrm>
          <a:prstGeom prst="rect">
            <a:avLst/>
          </a:prstGeom>
          <a:noFill/>
        </p:spPr>
        <p:txBody>
          <a:bodyPr wrap="square"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333333"/>
                </a:solidFill>
                <a:effectLst/>
                <a:uLnTx/>
                <a:uFillTx/>
                <a:latin typeface="Inter Medium" pitchFamily="34" charset="0"/>
                <a:ea typeface="Inter Medium" pitchFamily="34" charset="-122"/>
                <a:cs typeface="Inter Medium" pitchFamily="34" charset="-120"/>
              </a:rPr>
              <a:t>10% (2026+)</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14" name="Object 13"/>
          <p:cNvSpPr/>
          <p:nvPr/>
        </p:nvSpPr>
        <p:spPr>
          <a:xfrm>
            <a:off x="476131" y="5056009"/>
            <a:ext cx="5618345" cy="924195"/>
          </a:xfrm>
          <a:prstGeom prst="rect">
            <a:avLst/>
          </a:prstGeom>
          <a:noFill/>
        </p:spPr>
        <p:txBody>
          <a:bodyPr wrap="square"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333333"/>
                </a:solidFill>
                <a:effectLst/>
                <a:uLnTx/>
                <a:uFillTx/>
                <a:latin typeface="Inter Medium" pitchFamily="34" charset="0"/>
                <a:ea typeface="Inter Medium" pitchFamily="34" charset="-122"/>
                <a:cs typeface="Inter Medium" pitchFamily="34" charset="-120"/>
              </a:rPr>
              <a:t>Number of strategic partnerships with Global South on GenAI</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15" name="Object 14"/>
          <p:cNvSpPr/>
          <p:nvPr/>
        </p:nvSpPr>
        <p:spPr>
          <a:xfrm>
            <a:off x="6094476" y="5056009"/>
            <a:ext cx="5618345" cy="924195"/>
          </a:xfrm>
          <a:prstGeom prst="rect">
            <a:avLst/>
          </a:prstGeom>
          <a:noFill/>
        </p:spPr>
        <p:txBody>
          <a:bodyPr wrap="square"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333333"/>
                </a:solidFill>
                <a:effectLst/>
                <a:uLnTx/>
                <a:uFillTx/>
                <a:latin typeface="Inter Medium" pitchFamily="34" charset="0"/>
                <a:ea typeface="Inter Medium" pitchFamily="34" charset="-122"/>
                <a:cs typeface="Inter Medium" pitchFamily="34" charset="-120"/>
              </a:rPr>
              <a:t>2 (2026+)</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16" name="Object 15"/>
          <p:cNvSpPr/>
          <p:nvPr/>
        </p:nvSpPr>
        <p:spPr>
          <a:xfrm>
            <a:off x="11798525" y="6497898"/>
            <a:ext cx="199975" cy="237669"/>
          </a:xfrm>
          <a:prstGeom prst="rect">
            <a:avLst/>
          </a:prstGeom>
          <a:noFill/>
        </p:spPr>
      </p:sp>
      <p:sp>
        <p:nvSpPr>
          <p:cNvPr id="17" name="Object 16"/>
          <p:cNvSpPr/>
          <p:nvPr/>
        </p:nvSpPr>
        <p:spPr>
          <a:xfrm>
            <a:off x="-476131" y="6122945"/>
            <a:ext cx="12188952" cy="211283"/>
          </a:xfrm>
          <a:prstGeom prst="rect">
            <a:avLst/>
          </a:prstGeom>
          <a:noFill/>
        </p:spPr>
        <p:txBody>
          <a:bodyPr wrap="square" lIns="0" tIns="0" rIns="0" bIns="0" rtlCol="0" anchor="t"/>
          <a:lstStyle/>
          <a:p>
            <a:pPr marL="0" marR="0" lvl="0" indent="0" algn="r" defTabSz="914400" rtl="0" eaLnBrk="1" fontAlgn="auto" latinLnBrk="0" hangingPunct="1">
              <a:lnSpc>
                <a:spcPts val="1664"/>
              </a:lnSpc>
              <a:spcBef>
                <a:spcPts val="0"/>
              </a:spcBef>
              <a:spcAft>
                <a:spcPts val="0"/>
              </a:spcAft>
              <a:buClrTx/>
              <a:buSzTx/>
              <a:buFontTx/>
              <a:buNone/>
              <a:tabLst/>
              <a:defRPr/>
            </a:pPr>
            <a:r>
              <a:rPr kumimoji="0" lang="en-US" sz="1200" b="0" i="0" u="none" strike="noStrike" kern="0" cap="none" spc="-24" normalizeH="0" baseline="0" noProof="0" dirty="0">
                <a:ln>
                  <a:noFill/>
                </a:ln>
                <a:solidFill>
                  <a:srgbClr val="000000">
                    <a:alpha val="56000"/>
                  </a:srgbClr>
                </a:solidFill>
                <a:effectLst/>
                <a:uLnTx/>
                <a:uFillTx/>
                <a:latin typeface="Inter" pitchFamily="34" charset="0"/>
                <a:ea typeface="Inter" pitchFamily="34" charset="-122"/>
                <a:cs typeface="Inter" pitchFamily="34" charset="-120"/>
              </a:rPr>
              <a:t>*UNFPA GenAI-Powered Evaluation Strategy</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25" name="Slide Number Placeholder 24"/>
          <p:cNvSpPr>
            <a:spLocks noGrp="1"/>
          </p:cNvSpPr>
          <p:nvPr>
            <p:ph type="sldNum" sz="quarter" idx="4294967295"/>
          </p:nvPr>
        </p:nvSpPr>
        <p:spPr>
          <a:xfrm>
            <a:off x="11826240" y="6515100"/>
            <a:ext cx="800000" cy="300000"/>
          </a:xfrm>
          <a:prstGeom prst="rect">
            <a:avLst/>
          </a:prstGeom>
          <a:extLst>
            <a:ext uri="{C572A759-6A51-4108-AA02-DFA0A04FC94B}">
              <ma14:wrappingTextBoxFlag xmlns="" xmlns:ma14="http://schemas.microsoft.com/office/mac/drawingml/2011/main" val="0"/>
            </a:ext>
          </a:extLst>
        </p:spPr>
        <p:txBody>
          <a:bodyPr/>
          <a:lstStyle>
            <a:lvl1pPr>
              <a:defRPr sz="1100"/>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100" b="0" i="0" u="none" strike="noStrike" kern="1200" cap="none" spc="0" normalizeH="0" baseline="0" noProof="0" smtClean="0">
                <a:ln>
                  <a:noFill/>
                </a:ln>
                <a:solidFill>
                  <a:prstClr val="black"/>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a:t>
            </a:fld>
            <a:endParaRPr kumimoji="0" lang="en-US" sz="1100" b="0" i="0" u="none" strike="noStrike" kern="1200" cap="none" spc="0" normalizeH="0" baseline="0" noProof="0">
              <a:ln>
                <a:noFill/>
              </a:ln>
              <a:solidFill>
                <a:prstClr val="black"/>
              </a:solidFill>
              <a:effectLst/>
              <a:uLnTx/>
              <a:uFillTx/>
              <a:latin typeface="Arial"/>
              <a:ea typeface="+mn-ea"/>
              <a:cs typeface="+mn-cs"/>
            </a:endParaRPr>
          </a:p>
        </p:txBody>
      </p:sp>
    </p:spTree>
    <p:extLst>
      <p:ext uri="{BB962C8B-B14F-4D97-AF65-F5344CB8AC3E}">
        <p14:creationId xmlns:p14="http://schemas.microsoft.com/office/powerpoint/2010/main" val="47673975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0" y="379020"/>
            <a:ext cx="12188952" cy="556081"/>
          </a:xfrm>
          <a:prstGeom prst="rect">
            <a:avLst/>
          </a:prstGeom>
          <a:noFill/>
        </p:spPr>
        <p:txBody>
          <a:bodyPr wrap="square" lIns="0" tIns="0" rIns="0" bIns="0" rtlCol="0" anchor="t"/>
          <a:lstStyle/>
          <a:p>
            <a:pPr marL="0" marR="0" lvl="0" indent="0" algn="ctr" defTabSz="914400" rtl="0" eaLnBrk="1" fontAlgn="auto" latinLnBrk="0" hangingPunct="1">
              <a:lnSpc>
                <a:spcPts val="4380"/>
              </a:lnSpc>
              <a:spcBef>
                <a:spcPts val="0"/>
              </a:spcBef>
              <a:spcAft>
                <a:spcPts val="0"/>
              </a:spcAft>
              <a:buClrTx/>
              <a:buSzTx/>
              <a:buFontTx/>
              <a:buNone/>
              <a:tabLst/>
              <a:defRPr/>
            </a:pPr>
            <a:r>
              <a:rPr kumimoji="0" lang="en-US" sz="3750" b="1" i="0" u="none" strike="noStrike" kern="0" cap="none" spc="-225" normalizeH="0" baseline="0" noProof="0" dirty="0">
                <a:ln>
                  <a:noFill/>
                </a:ln>
                <a:effectLst/>
                <a:uLnTx/>
                <a:uFillTx/>
                <a:latin typeface="Inter" pitchFamily="34" charset="0"/>
                <a:ea typeface="Inter" pitchFamily="34" charset="-122"/>
                <a:cs typeface="Inter" pitchFamily="34" charset="-120"/>
              </a:rPr>
              <a:t>Prioritized User Needs Across Evaluation Phases </a:t>
            </a:r>
            <a:endParaRPr kumimoji="0" lang="en-US" sz="1800" b="0" i="0" u="none" strike="noStrike" kern="1200" cap="none" spc="0" normalizeH="0" baseline="0" noProof="0" dirty="0">
              <a:ln>
                <a:noFill/>
              </a:ln>
              <a:effectLst/>
              <a:uLnTx/>
              <a:uFillTx/>
              <a:latin typeface="Arial"/>
              <a:ea typeface="+mn-ea"/>
              <a:cs typeface="+mn-cs"/>
            </a:endParaRPr>
          </a:p>
        </p:txBody>
      </p:sp>
      <p:sp>
        <p:nvSpPr>
          <p:cNvPr id="3" name="Object 2"/>
          <p:cNvSpPr/>
          <p:nvPr/>
        </p:nvSpPr>
        <p:spPr>
          <a:xfrm>
            <a:off x="476131" y="1590277"/>
            <a:ext cx="3618595" cy="2109260"/>
          </a:xfrm>
          <a:prstGeom prst="rect">
            <a:avLst/>
          </a:prstGeom>
          <a:solidFill>
            <a:srgbClr val="22AAEE"/>
          </a:solidFill>
        </p:spPr>
      </p:sp>
      <p:sp>
        <p:nvSpPr>
          <p:cNvPr id="4" name="Object 3"/>
          <p:cNvSpPr/>
          <p:nvPr/>
        </p:nvSpPr>
        <p:spPr>
          <a:xfrm>
            <a:off x="761810" y="1816539"/>
            <a:ext cx="3456711" cy="340334"/>
          </a:xfrm>
          <a:prstGeom prst="rect">
            <a:avLst/>
          </a:prstGeom>
          <a:noFill/>
        </p:spPr>
        <p:txBody>
          <a:bodyPr wrap="square" lIns="0" tIns="0" rIns="0" bIns="0" rtlCol="0" anchor="t"/>
          <a:lstStyle/>
          <a:p>
            <a:pPr marL="0" marR="0" lvl="0" indent="0" algn="l" defTabSz="914400" rtl="0" eaLnBrk="1" fontAlgn="auto" latinLnBrk="0" hangingPunct="1">
              <a:lnSpc>
                <a:spcPts val="2681"/>
              </a:lnSpc>
              <a:spcBef>
                <a:spcPts val="0"/>
              </a:spcBef>
              <a:spcAft>
                <a:spcPts val="0"/>
              </a:spcAft>
              <a:buClrTx/>
              <a:buSzTx/>
              <a:buFontTx/>
              <a:buNone/>
              <a:tabLst/>
              <a:defRPr/>
            </a:pPr>
            <a:r>
              <a:rPr kumimoji="0" lang="en-US" sz="2295" b="1" i="0" u="none" strike="noStrike" kern="0" cap="none" spc="-138" normalizeH="0" baseline="0" noProof="0" dirty="0">
                <a:ln>
                  <a:noFill/>
                </a:ln>
                <a:solidFill>
                  <a:srgbClr val="333333"/>
                </a:solidFill>
                <a:effectLst/>
                <a:uLnTx/>
                <a:uFillTx/>
                <a:latin typeface="Inter" pitchFamily="34" charset="0"/>
                <a:ea typeface="Inter" pitchFamily="34" charset="-122"/>
                <a:cs typeface="Inter" pitchFamily="34" charset="-120"/>
              </a:rPr>
              <a:t>Preparatory Phase</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5" name="Object 4"/>
          <p:cNvSpPr/>
          <p:nvPr/>
        </p:nvSpPr>
        <p:spPr>
          <a:xfrm>
            <a:off x="761810" y="2278584"/>
            <a:ext cx="3122213" cy="1188344"/>
          </a:xfrm>
          <a:prstGeom prst="rect">
            <a:avLst/>
          </a:prstGeom>
          <a:noFill/>
        </p:spPr>
        <p:txBody>
          <a:bodyPr wrap="square" lIns="0" tIns="0" rIns="0" bIns="0" rtlCol="0" anchor="t"/>
          <a:lstStyle/>
          <a:p>
            <a:pPr marL="0" marR="0" lvl="0" indent="0" algn="l" defTabSz="914400" rtl="0" eaLnBrk="1" fontAlgn="auto" latinLnBrk="0" hangingPunct="1">
              <a:lnSpc>
                <a:spcPts val="2341"/>
              </a:lnSpc>
              <a:spcBef>
                <a:spcPts val="940"/>
              </a:spcBef>
              <a:spcAft>
                <a:spcPts val="0"/>
              </a:spcAft>
              <a:buClrTx/>
              <a:buSzTx/>
              <a:buFontTx/>
              <a:buNone/>
              <a:tabLst/>
              <a:defRPr/>
            </a:pPr>
            <a:r>
              <a:rPr kumimoji="0" lang="en-US" sz="1688" b="0" i="0" u="none" strike="noStrike" kern="0" cap="none" spc="-34" normalizeH="0" baseline="0" noProof="0" dirty="0">
                <a:ln>
                  <a:noFill/>
                </a:ln>
                <a:solidFill>
                  <a:srgbClr val="000000">
                    <a:alpha val="56000"/>
                  </a:srgbClr>
                </a:solidFill>
                <a:effectLst/>
                <a:uLnTx/>
                <a:uFillTx/>
                <a:latin typeface="Inter" pitchFamily="34" charset="0"/>
                <a:ea typeface="Inter" pitchFamily="34" charset="-122"/>
                <a:cs typeface="Inter" pitchFamily="34" charset="-120"/>
              </a:rPr>
              <a:t>Use GenAI to draft ToRs by summarizing national SRHR strategies, key policies, and past evaluation findings</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6" name="Object 5"/>
          <p:cNvSpPr/>
          <p:nvPr/>
        </p:nvSpPr>
        <p:spPr>
          <a:xfrm>
            <a:off x="4285178" y="1590277"/>
            <a:ext cx="3618595" cy="2109260"/>
          </a:xfrm>
          <a:prstGeom prst="rect">
            <a:avLst/>
          </a:prstGeom>
          <a:solidFill>
            <a:srgbClr val="FFD9AD"/>
          </a:solidFill>
        </p:spPr>
      </p:sp>
      <p:sp>
        <p:nvSpPr>
          <p:cNvPr id="7" name="Object 6"/>
          <p:cNvSpPr/>
          <p:nvPr/>
        </p:nvSpPr>
        <p:spPr>
          <a:xfrm>
            <a:off x="4570857" y="1816539"/>
            <a:ext cx="3456711" cy="340334"/>
          </a:xfrm>
          <a:prstGeom prst="rect">
            <a:avLst/>
          </a:prstGeom>
          <a:noFill/>
        </p:spPr>
        <p:txBody>
          <a:bodyPr wrap="square" lIns="0" tIns="0" rIns="0" bIns="0" rtlCol="0" anchor="t"/>
          <a:lstStyle/>
          <a:p>
            <a:pPr marL="0" marR="0" lvl="0" indent="0" algn="l" defTabSz="914400" rtl="0" eaLnBrk="1" fontAlgn="auto" latinLnBrk="0" hangingPunct="1">
              <a:lnSpc>
                <a:spcPts val="2681"/>
              </a:lnSpc>
              <a:spcBef>
                <a:spcPts val="0"/>
              </a:spcBef>
              <a:spcAft>
                <a:spcPts val="0"/>
              </a:spcAft>
              <a:buClrTx/>
              <a:buSzTx/>
              <a:buFontTx/>
              <a:buNone/>
              <a:tabLst/>
              <a:defRPr/>
            </a:pPr>
            <a:r>
              <a:rPr kumimoji="0" lang="en-US" sz="2295" b="1" i="0" u="none" strike="noStrike" kern="0" cap="none" spc="-138" normalizeH="0" baseline="0" noProof="0" dirty="0">
                <a:ln>
                  <a:noFill/>
                </a:ln>
                <a:solidFill>
                  <a:srgbClr val="333333"/>
                </a:solidFill>
                <a:effectLst/>
                <a:uLnTx/>
                <a:uFillTx/>
                <a:latin typeface="Inter" pitchFamily="34" charset="0"/>
                <a:ea typeface="Inter" pitchFamily="34" charset="-122"/>
                <a:cs typeface="Inter" pitchFamily="34" charset="-120"/>
              </a:rPr>
              <a:t>Design Phase</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8" name="Object 7"/>
          <p:cNvSpPr/>
          <p:nvPr/>
        </p:nvSpPr>
        <p:spPr>
          <a:xfrm>
            <a:off x="4570857" y="2278584"/>
            <a:ext cx="2779177" cy="1188344"/>
          </a:xfrm>
          <a:prstGeom prst="rect">
            <a:avLst/>
          </a:prstGeom>
          <a:noFill/>
        </p:spPr>
        <p:txBody>
          <a:bodyPr wrap="square" lIns="0" tIns="0" rIns="0" bIns="0" rtlCol="0" anchor="t"/>
          <a:lstStyle/>
          <a:p>
            <a:pPr marL="0" marR="0" lvl="0" indent="0" algn="l" defTabSz="914400" rtl="0" eaLnBrk="1" fontAlgn="auto" latinLnBrk="0" hangingPunct="1">
              <a:lnSpc>
                <a:spcPts val="2341"/>
              </a:lnSpc>
              <a:spcBef>
                <a:spcPts val="940"/>
              </a:spcBef>
              <a:spcAft>
                <a:spcPts val="0"/>
              </a:spcAft>
              <a:buClrTx/>
              <a:buSzTx/>
              <a:buFontTx/>
              <a:buNone/>
              <a:tabLst/>
              <a:defRPr/>
            </a:pPr>
            <a:r>
              <a:rPr kumimoji="0" lang="en-US" sz="1688" b="0" i="0" u="none" strike="noStrike" kern="0" cap="none" spc="-34" normalizeH="0" baseline="0" noProof="0" dirty="0">
                <a:ln>
                  <a:noFill/>
                </a:ln>
                <a:solidFill>
                  <a:srgbClr val="000000">
                    <a:alpha val="56000"/>
                  </a:srgbClr>
                </a:solidFill>
                <a:effectLst/>
                <a:uLnTx/>
                <a:uFillTx/>
                <a:latin typeface="Inter" pitchFamily="34" charset="0"/>
                <a:ea typeface="Inter" pitchFamily="34" charset="-122"/>
                <a:cs typeface="Inter" pitchFamily="34" charset="-120"/>
              </a:rPr>
              <a:t>Leverage GenAI to synthesize existing evidence, map linkages between outputs, and identify gaps for evaluation questions</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9" name="Object 8"/>
          <p:cNvSpPr/>
          <p:nvPr/>
        </p:nvSpPr>
        <p:spPr>
          <a:xfrm>
            <a:off x="8094226" y="1590277"/>
            <a:ext cx="3618595" cy="2109260"/>
          </a:xfrm>
          <a:prstGeom prst="rect">
            <a:avLst/>
          </a:prstGeom>
          <a:solidFill>
            <a:srgbClr val="FEC088"/>
          </a:solidFill>
        </p:spPr>
      </p:sp>
      <p:sp>
        <p:nvSpPr>
          <p:cNvPr id="10" name="Object 9"/>
          <p:cNvSpPr/>
          <p:nvPr/>
        </p:nvSpPr>
        <p:spPr>
          <a:xfrm>
            <a:off x="8379905" y="1816539"/>
            <a:ext cx="3456711" cy="340334"/>
          </a:xfrm>
          <a:prstGeom prst="rect">
            <a:avLst/>
          </a:prstGeom>
          <a:noFill/>
        </p:spPr>
        <p:txBody>
          <a:bodyPr wrap="square" lIns="0" tIns="0" rIns="0" bIns="0" rtlCol="0" anchor="t"/>
          <a:lstStyle/>
          <a:p>
            <a:pPr marL="0" marR="0" lvl="0" indent="0" algn="l" defTabSz="914400" rtl="0" eaLnBrk="1" fontAlgn="auto" latinLnBrk="0" hangingPunct="1">
              <a:lnSpc>
                <a:spcPts val="2681"/>
              </a:lnSpc>
              <a:spcBef>
                <a:spcPts val="0"/>
              </a:spcBef>
              <a:spcAft>
                <a:spcPts val="0"/>
              </a:spcAft>
              <a:buClrTx/>
              <a:buSzTx/>
              <a:buFontTx/>
              <a:buNone/>
              <a:tabLst/>
              <a:defRPr/>
            </a:pPr>
            <a:r>
              <a:rPr kumimoji="0" lang="en-US" sz="2295" b="1" i="0" u="none" strike="noStrike" kern="0" cap="none" spc="-138" normalizeH="0" baseline="0" noProof="0" dirty="0">
                <a:ln>
                  <a:noFill/>
                </a:ln>
                <a:solidFill>
                  <a:srgbClr val="333333"/>
                </a:solidFill>
                <a:effectLst/>
                <a:uLnTx/>
                <a:uFillTx/>
                <a:latin typeface="Inter" pitchFamily="34" charset="0"/>
                <a:ea typeface="Inter" pitchFamily="34" charset="-122"/>
                <a:cs typeface="Inter" pitchFamily="34" charset="-120"/>
              </a:rPr>
              <a:t>Fieldwork Phase</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11" name="Object 10"/>
          <p:cNvSpPr/>
          <p:nvPr/>
        </p:nvSpPr>
        <p:spPr>
          <a:xfrm>
            <a:off x="8379905" y="2278584"/>
            <a:ext cx="3050285" cy="1188344"/>
          </a:xfrm>
          <a:prstGeom prst="rect">
            <a:avLst/>
          </a:prstGeom>
          <a:noFill/>
        </p:spPr>
        <p:txBody>
          <a:bodyPr wrap="square" lIns="0" tIns="0" rIns="0" bIns="0" rtlCol="0" anchor="t"/>
          <a:lstStyle/>
          <a:p>
            <a:pPr marL="0" marR="0" lvl="0" indent="0" algn="l" defTabSz="914400" rtl="0" eaLnBrk="1" fontAlgn="auto" latinLnBrk="0" hangingPunct="1">
              <a:lnSpc>
                <a:spcPts val="2341"/>
              </a:lnSpc>
              <a:spcBef>
                <a:spcPts val="940"/>
              </a:spcBef>
              <a:spcAft>
                <a:spcPts val="0"/>
              </a:spcAft>
              <a:buClrTx/>
              <a:buSzTx/>
              <a:buFontTx/>
              <a:buNone/>
              <a:tabLst/>
              <a:defRPr/>
            </a:pPr>
            <a:r>
              <a:rPr kumimoji="0" lang="en-US" sz="1688" b="0" i="0" u="none" strike="noStrike" kern="0" cap="none" spc="-34" normalizeH="0" baseline="0" noProof="0" dirty="0">
                <a:ln>
                  <a:noFill/>
                </a:ln>
                <a:solidFill>
                  <a:srgbClr val="000000">
                    <a:alpha val="56000"/>
                  </a:srgbClr>
                </a:solidFill>
                <a:effectLst/>
                <a:uLnTx/>
                <a:uFillTx/>
                <a:latin typeface="Inter" pitchFamily="34" charset="0"/>
                <a:ea typeface="Inter" pitchFamily="34" charset="-122"/>
                <a:cs typeface="Inter" pitchFamily="34" charset="-120"/>
              </a:rPr>
              <a:t>Deploy GenAI for interview/FGD transcription, auto-coding, and sentiment analysis on survey open-ends</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12" name="Object 11"/>
          <p:cNvSpPr/>
          <p:nvPr/>
        </p:nvSpPr>
        <p:spPr>
          <a:xfrm>
            <a:off x="476131" y="3889990"/>
            <a:ext cx="5523119" cy="2109260"/>
          </a:xfrm>
          <a:prstGeom prst="rect">
            <a:avLst/>
          </a:prstGeom>
          <a:solidFill>
            <a:srgbClr val="FD864D"/>
          </a:solidFill>
        </p:spPr>
      </p:sp>
      <p:sp>
        <p:nvSpPr>
          <p:cNvPr id="13" name="Object 12"/>
          <p:cNvSpPr/>
          <p:nvPr/>
        </p:nvSpPr>
        <p:spPr>
          <a:xfrm>
            <a:off x="761810" y="4116251"/>
            <a:ext cx="5551687" cy="340334"/>
          </a:xfrm>
          <a:prstGeom prst="rect">
            <a:avLst/>
          </a:prstGeom>
          <a:noFill/>
        </p:spPr>
        <p:txBody>
          <a:bodyPr wrap="square" lIns="0" tIns="0" rIns="0" bIns="0" rtlCol="0" anchor="t"/>
          <a:lstStyle/>
          <a:p>
            <a:pPr marL="0" marR="0" lvl="0" indent="0" algn="l" defTabSz="914400" rtl="0" eaLnBrk="1" fontAlgn="auto" latinLnBrk="0" hangingPunct="1">
              <a:lnSpc>
                <a:spcPts val="2681"/>
              </a:lnSpc>
              <a:spcBef>
                <a:spcPts val="0"/>
              </a:spcBef>
              <a:spcAft>
                <a:spcPts val="0"/>
              </a:spcAft>
              <a:buClrTx/>
              <a:buSzTx/>
              <a:buFontTx/>
              <a:buNone/>
              <a:tabLst/>
              <a:defRPr/>
            </a:pPr>
            <a:r>
              <a:rPr kumimoji="0" lang="en-US" sz="2295" b="1" i="0" u="none" strike="noStrike" kern="0" cap="none" spc="-138" normalizeH="0" baseline="0" noProof="0" dirty="0">
                <a:ln>
                  <a:noFill/>
                </a:ln>
                <a:solidFill>
                  <a:srgbClr val="333333"/>
                </a:solidFill>
                <a:effectLst/>
                <a:uLnTx/>
                <a:uFillTx/>
                <a:latin typeface="Inter" pitchFamily="34" charset="0"/>
                <a:ea typeface="Inter" pitchFamily="34" charset="-122"/>
                <a:cs typeface="Inter" pitchFamily="34" charset="-120"/>
              </a:rPr>
              <a:t>Reporting Phase</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14" name="Object 13"/>
          <p:cNvSpPr/>
          <p:nvPr/>
        </p:nvSpPr>
        <p:spPr>
          <a:xfrm>
            <a:off x="761810" y="4578297"/>
            <a:ext cx="5551687" cy="891258"/>
          </a:xfrm>
          <a:prstGeom prst="rect">
            <a:avLst/>
          </a:prstGeom>
          <a:noFill/>
        </p:spPr>
        <p:txBody>
          <a:bodyPr wrap="square" lIns="0" tIns="0" rIns="0" bIns="0" rtlCol="0" anchor="t"/>
          <a:lstStyle/>
          <a:p>
            <a:pPr marL="0" marR="0" lvl="0" indent="0" algn="l" defTabSz="914400" rtl="0" eaLnBrk="1" fontAlgn="auto" latinLnBrk="0" hangingPunct="1">
              <a:lnSpc>
                <a:spcPts val="2341"/>
              </a:lnSpc>
              <a:spcBef>
                <a:spcPts val="940"/>
              </a:spcBef>
              <a:spcAft>
                <a:spcPts val="0"/>
              </a:spcAft>
              <a:buClrTx/>
              <a:buSzTx/>
              <a:buFontTx/>
              <a:buNone/>
              <a:tabLst/>
              <a:defRPr/>
            </a:pPr>
            <a:r>
              <a:rPr kumimoji="0" lang="en-US" sz="1688" b="0" i="0" u="none" strike="noStrike" kern="0" cap="none" spc="-34" normalizeH="0" baseline="0" noProof="0" dirty="0">
                <a:ln>
                  <a:noFill/>
                </a:ln>
                <a:solidFill>
                  <a:srgbClr val="000000">
                    <a:alpha val="56000"/>
                  </a:srgbClr>
                </a:solidFill>
                <a:effectLst/>
                <a:uLnTx/>
                <a:uFillTx/>
                <a:latin typeface="Inter" pitchFamily="34" charset="0"/>
                <a:ea typeface="Inter" pitchFamily="34" charset="-122"/>
                <a:cs typeface="Inter" pitchFamily="34" charset="-120"/>
              </a:rPr>
              <a:t>Generate draft narrative sections of evaluation reports using GenAI, and simplify technical language for non-technical stakeholders</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15" name="Object 14"/>
          <p:cNvSpPr/>
          <p:nvPr/>
        </p:nvSpPr>
        <p:spPr>
          <a:xfrm>
            <a:off x="6189702" y="3889990"/>
            <a:ext cx="5523119" cy="2109260"/>
          </a:xfrm>
          <a:prstGeom prst="rect">
            <a:avLst/>
          </a:prstGeom>
          <a:solidFill>
            <a:srgbClr val="FF8000"/>
          </a:solidFill>
        </p:spPr>
      </p:sp>
      <p:sp>
        <p:nvSpPr>
          <p:cNvPr id="16" name="Object 15"/>
          <p:cNvSpPr/>
          <p:nvPr/>
        </p:nvSpPr>
        <p:spPr>
          <a:xfrm>
            <a:off x="6475381" y="4116251"/>
            <a:ext cx="5551687" cy="340334"/>
          </a:xfrm>
          <a:prstGeom prst="rect">
            <a:avLst/>
          </a:prstGeom>
          <a:noFill/>
        </p:spPr>
        <p:txBody>
          <a:bodyPr wrap="square" lIns="0" tIns="0" rIns="0" bIns="0" rtlCol="0" anchor="t"/>
          <a:lstStyle/>
          <a:p>
            <a:pPr marL="0" marR="0" lvl="0" indent="0" algn="l" defTabSz="914400" rtl="0" eaLnBrk="1" fontAlgn="auto" latinLnBrk="0" hangingPunct="1">
              <a:lnSpc>
                <a:spcPts val="2681"/>
              </a:lnSpc>
              <a:spcBef>
                <a:spcPts val="0"/>
              </a:spcBef>
              <a:spcAft>
                <a:spcPts val="0"/>
              </a:spcAft>
              <a:buClrTx/>
              <a:buSzTx/>
              <a:buFontTx/>
              <a:buNone/>
              <a:tabLst/>
              <a:defRPr/>
            </a:pPr>
            <a:r>
              <a:rPr kumimoji="0" lang="en-US" sz="2295" b="1" i="0" u="none" strike="noStrike" kern="0" cap="none" spc="-138" normalizeH="0" baseline="0" noProof="0" dirty="0">
                <a:ln>
                  <a:noFill/>
                </a:ln>
                <a:solidFill>
                  <a:srgbClr val="333333"/>
                </a:solidFill>
                <a:effectLst/>
                <a:uLnTx/>
                <a:uFillTx/>
                <a:latin typeface="Inter" pitchFamily="34" charset="0"/>
                <a:ea typeface="Inter" pitchFamily="34" charset="-122"/>
                <a:cs typeface="Inter" pitchFamily="34" charset="-120"/>
              </a:rPr>
              <a:t>Dissemination Phase</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17" name="Object 16"/>
          <p:cNvSpPr/>
          <p:nvPr/>
        </p:nvSpPr>
        <p:spPr>
          <a:xfrm>
            <a:off x="6475381" y="4578297"/>
            <a:ext cx="5551687" cy="891258"/>
          </a:xfrm>
          <a:prstGeom prst="rect">
            <a:avLst/>
          </a:prstGeom>
          <a:noFill/>
        </p:spPr>
        <p:txBody>
          <a:bodyPr wrap="square" lIns="0" tIns="0" rIns="0" bIns="0" rtlCol="0" anchor="t"/>
          <a:lstStyle/>
          <a:p>
            <a:pPr marL="0" marR="0" lvl="0" indent="0" algn="l" defTabSz="914400" rtl="0" eaLnBrk="1" fontAlgn="auto" latinLnBrk="0" hangingPunct="1">
              <a:lnSpc>
                <a:spcPts val="2341"/>
              </a:lnSpc>
              <a:spcBef>
                <a:spcPts val="940"/>
              </a:spcBef>
              <a:spcAft>
                <a:spcPts val="0"/>
              </a:spcAft>
              <a:buClrTx/>
              <a:buSzTx/>
              <a:buFontTx/>
              <a:buNone/>
              <a:tabLst/>
              <a:defRPr/>
            </a:pPr>
            <a:r>
              <a:rPr kumimoji="0" lang="en-US" sz="1688" b="0" i="0" u="none" strike="noStrike" kern="0" cap="none" spc="-34" normalizeH="0" baseline="0" noProof="0" dirty="0">
                <a:ln>
                  <a:noFill/>
                </a:ln>
                <a:solidFill>
                  <a:srgbClr val="000000">
                    <a:alpha val="56000"/>
                  </a:srgbClr>
                </a:solidFill>
                <a:effectLst/>
                <a:uLnTx/>
                <a:uFillTx/>
                <a:latin typeface="Inter" pitchFamily="34" charset="0"/>
                <a:ea typeface="Inter" pitchFamily="34" charset="-122"/>
                <a:cs typeface="Inter" pitchFamily="34" charset="-120"/>
              </a:rPr>
              <a:t>Automate translation, accessibility formatting, and user-segmented briefs/newsletters with GenAI support</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18" name="Object 17"/>
          <p:cNvSpPr/>
          <p:nvPr/>
        </p:nvSpPr>
        <p:spPr>
          <a:xfrm>
            <a:off x="11798525" y="6497898"/>
            <a:ext cx="199975" cy="237669"/>
          </a:xfrm>
          <a:prstGeom prst="rect">
            <a:avLst/>
          </a:prstGeom>
          <a:noFill/>
        </p:spPr>
      </p:sp>
      <p:sp>
        <p:nvSpPr>
          <p:cNvPr id="25" name="Slide Number Placeholder 24"/>
          <p:cNvSpPr>
            <a:spLocks noGrp="1"/>
          </p:cNvSpPr>
          <p:nvPr>
            <p:ph type="sldNum" sz="quarter" idx="4294967295"/>
          </p:nvPr>
        </p:nvSpPr>
        <p:spPr>
          <a:xfrm>
            <a:off x="11826240" y="6515100"/>
            <a:ext cx="800000" cy="300000"/>
          </a:xfrm>
          <a:prstGeom prst="rect">
            <a:avLst/>
          </a:prstGeom>
          <a:extLst>
            <a:ext uri="{C572A759-6A51-4108-AA02-DFA0A04FC94B}">
              <ma14:wrappingTextBoxFlag xmlns="" xmlns:ma14="http://schemas.microsoft.com/office/mac/drawingml/2011/main" val="0"/>
            </a:ext>
          </a:extLst>
        </p:spPr>
        <p:txBody>
          <a:bodyPr/>
          <a:lstStyle>
            <a:lvl1pPr>
              <a:defRPr sz="1100"/>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100" b="0" i="0" u="none" strike="noStrike" kern="1200" cap="none" spc="0" normalizeH="0" baseline="0" noProof="0" smtClean="0">
                <a:ln>
                  <a:noFill/>
                </a:ln>
                <a:solidFill>
                  <a:prstClr val="black"/>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29</a:t>
            </a:fld>
            <a:endParaRPr kumimoji="0" lang="en-US" sz="1100" b="0" i="0" u="none" strike="noStrike" kern="1200" cap="none" spc="0" normalizeH="0" baseline="0" noProof="0">
              <a:ln>
                <a:noFill/>
              </a:ln>
              <a:solidFill>
                <a:prstClr val="black"/>
              </a:solidFill>
              <a:effectLst/>
              <a:uLnTx/>
              <a:uFillTx/>
              <a:latin typeface="Arial"/>
              <a:ea typeface="+mn-ea"/>
              <a:cs typeface="+mn-cs"/>
            </a:endParaRPr>
          </a:p>
        </p:txBody>
      </p:sp>
    </p:spTree>
    <p:extLst>
      <p:ext uri="{BB962C8B-B14F-4D97-AF65-F5344CB8AC3E}">
        <p14:creationId xmlns:p14="http://schemas.microsoft.com/office/powerpoint/2010/main" val="30609348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538028" y="2013439"/>
            <a:ext cx="11112896" cy="2346135"/>
          </a:xfrm>
          <a:prstGeom prst="rect">
            <a:avLst/>
          </a:prstGeom>
          <a:noFill/>
        </p:spPr>
        <p:txBody>
          <a:bodyPr wrap="square" lIns="0" tIns="0" rIns="0" bIns="0" rtlCol="0" anchor="ctr"/>
          <a:lstStyle/>
          <a:p>
            <a:pPr marL="0" marR="0" lvl="0" indent="0" algn="ctr" defTabSz="914400" rtl="0" eaLnBrk="1" fontAlgn="auto" latinLnBrk="0" hangingPunct="1">
              <a:lnSpc>
                <a:spcPts val="6160"/>
              </a:lnSpc>
              <a:spcBef>
                <a:spcPts val="0"/>
              </a:spcBef>
              <a:spcAft>
                <a:spcPts val="0"/>
              </a:spcAft>
              <a:buClrTx/>
              <a:buSzTx/>
              <a:buFontTx/>
              <a:buNone/>
              <a:tabLst/>
              <a:defRPr/>
            </a:pPr>
            <a:r>
              <a:rPr kumimoji="0" lang="en-US" sz="5625" b="1" i="0" u="none" strike="noStrike" kern="0" cap="none" spc="-337" normalizeH="0" baseline="0" noProof="0" dirty="0">
                <a:ln>
                  <a:noFill/>
                </a:ln>
                <a:solidFill>
                  <a:srgbClr val="333333"/>
                </a:solidFill>
                <a:effectLst/>
                <a:uLnTx/>
                <a:uFillTx/>
                <a:latin typeface="Inter" pitchFamily="34" charset="0"/>
                <a:ea typeface="Inter" pitchFamily="34" charset="-122"/>
                <a:cs typeface="Inter" pitchFamily="34" charset="-120"/>
              </a:rPr>
              <a:t>“GenAI is a tool, not a decision-maker. Human wisdom, ethics, and critical oversight must always lead.”</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3" name="Object 2"/>
          <p:cNvSpPr/>
          <p:nvPr/>
        </p:nvSpPr>
        <p:spPr>
          <a:xfrm>
            <a:off x="538028" y="4445873"/>
            <a:ext cx="11112896" cy="333589"/>
          </a:xfrm>
          <a:prstGeom prst="rect">
            <a:avLst/>
          </a:prstGeom>
          <a:noFill/>
        </p:spPr>
        <p:txBody>
          <a:bodyPr wrap="square" lIns="0" tIns="0" rIns="0" bIns="0" rtlCol="0" anchor="ctr"/>
          <a:lstStyle/>
          <a:p>
            <a:pPr marL="0" marR="0" lvl="0" indent="0" algn="ctr" defTabSz="914400" rtl="0" eaLnBrk="1" fontAlgn="auto" latinLnBrk="0" hangingPunct="1">
              <a:lnSpc>
                <a:spcPts val="2628"/>
              </a:lnSpc>
              <a:spcBef>
                <a:spcPts val="666"/>
              </a:spcBef>
              <a:spcAft>
                <a:spcPts val="0"/>
              </a:spcAft>
              <a:buClrTx/>
              <a:buSzTx/>
              <a:buFontTx/>
              <a:buNone/>
              <a:tabLst/>
              <a:defRPr/>
            </a:pPr>
            <a:r>
              <a:rPr kumimoji="0" lang="en-US" sz="2250" b="1" i="0" u="none" strike="noStrike" kern="0" cap="none" spc="-135" normalizeH="0" baseline="0" noProof="0" dirty="0">
                <a:ln>
                  <a:noFill/>
                </a:ln>
                <a:solidFill>
                  <a:srgbClr val="000000">
                    <a:alpha val="56000"/>
                  </a:srgbClr>
                </a:solidFill>
                <a:effectLst/>
                <a:uLnTx/>
                <a:uFillTx/>
                <a:latin typeface="Inter" pitchFamily="34" charset="0"/>
                <a:ea typeface="Inter" pitchFamily="34" charset="-122"/>
                <a:cs typeface="Inter" pitchFamily="34" charset="-120"/>
              </a:rPr>
              <a:t>UNFPA</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Tree>
    <p:extLst>
      <p:ext uri="{BB962C8B-B14F-4D97-AF65-F5344CB8AC3E}">
        <p14:creationId xmlns:p14="http://schemas.microsoft.com/office/powerpoint/2010/main" val="369462845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Object 1"/>
          <p:cNvSpPr/>
          <p:nvPr/>
        </p:nvSpPr>
        <p:spPr>
          <a:xfrm>
            <a:off x="0" y="379020"/>
            <a:ext cx="12188952" cy="556081"/>
          </a:xfrm>
          <a:prstGeom prst="rect">
            <a:avLst/>
          </a:prstGeom>
          <a:noFill/>
        </p:spPr>
        <p:txBody>
          <a:bodyPr wrap="square" lIns="0" tIns="0" rIns="0" bIns="0" rtlCol="0" anchor="t"/>
          <a:lstStyle/>
          <a:p>
            <a:pPr algn="ctr">
              <a:lnSpc>
                <a:spcPts val="4380"/>
              </a:lnSpc>
              <a:buNone/>
            </a:pPr>
            <a:r>
              <a:rPr lang="en-US" sz="3750" b="1" kern="0" spc="-225" dirty="0">
                <a:latin typeface="Inter" pitchFamily="34" charset="0"/>
                <a:ea typeface="Inter" pitchFamily="34" charset="-122"/>
                <a:cs typeface="Inter" pitchFamily="34" charset="-120"/>
              </a:rPr>
              <a:t>Selecting GenAI Tools</a:t>
            </a:r>
            <a:endParaRPr lang="en-US" dirty="0"/>
          </a:p>
        </p:txBody>
      </p:sp>
      <p:sp>
        <p:nvSpPr>
          <p:cNvPr id="3" name="Object 2"/>
          <p:cNvSpPr/>
          <p:nvPr/>
        </p:nvSpPr>
        <p:spPr>
          <a:xfrm>
            <a:off x="952262" y="1824474"/>
            <a:ext cx="5446938" cy="3941868"/>
          </a:xfrm>
          <a:prstGeom prst="rect">
            <a:avLst/>
          </a:prstGeom>
          <a:noFill/>
        </p:spPr>
        <p:txBody>
          <a:bodyPr wrap="square" lIns="0" tIns="0" rIns="0" bIns="0" rtlCol="0" anchor="t"/>
          <a:lstStyle/>
          <a:p>
            <a:pPr marL="242900" indent="-242900" algn="l">
              <a:lnSpc>
                <a:spcPts val="1892"/>
              </a:lnSpc>
              <a:buSzPct val="100000"/>
              <a:buChar char="•"/>
            </a:pPr>
            <a:r>
              <a:rPr lang="en-US" sz="1620" b="1" kern="0" spc="-98" dirty="0">
                <a:latin typeface="Inter" pitchFamily="34" charset="0"/>
                <a:ea typeface="Inter" pitchFamily="34" charset="-122"/>
                <a:cs typeface="Inter" pitchFamily="34" charset="-120"/>
              </a:rPr>
              <a:t>Assess resource availability</a:t>
            </a:r>
          </a:p>
          <a:p>
            <a:pPr lvl="1" algn="l">
              <a:lnSpc>
                <a:spcPts val="1436"/>
              </a:lnSpc>
              <a:spcBef>
                <a:spcPts val="193"/>
              </a:spcBef>
              <a:buNone/>
            </a:pPr>
            <a:r>
              <a:rPr lang="en-US" sz="1035" kern="0" spc="-21" dirty="0">
                <a:latin typeface="Inter" pitchFamily="34" charset="0"/>
                <a:ea typeface="Inter" pitchFamily="34" charset="-122"/>
                <a:cs typeface="Inter" pitchFamily="34" charset="-120"/>
              </a:rPr>
              <a:t>Evaluate the availability of necessary resources, including financial, human, and technological, to support the implementation and maintenance of GenAI tools.</a:t>
            </a:r>
          </a:p>
          <a:p>
            <a:pPr marL="242900" indent="-242900" algn="l">
              <a:lnSpc>
                <a:spcPts val="1892"/>
              </a:lnSpc>
              <a:spcBef>
                <a:spcPts val="1533"/>
              </a:spcBef>
              <a:buSzPct val="100000"/>
              <a:buChar char="•"/>
            </a:pPr>
            <a:r>
              <a:rPr lang="en-US" sz="1620" b="1" kern="0" spc="-98" dirty="0">
                <a:latin typeface="Inter" pitchFamily="34" charset="0"/>
                <a:ea typeface="Inter" pitchFamily="34" charset="-122"/>
                <a:cs typeface="Inter" pitchFamily="34" charset="-120"/>
              </a:rPr>
              <a:t>Evaluate legal and IT requirements</a:t>
            </a:r>
          </a:p>
          <a:p>
            <a:pPr lvl="1" algn="l">
              <a:lnSpc>
                <a:spcPts val="1436"/>
              </a:lnSpc>
              <a:spcBef>
                <a:spcPts val="193"/>
              </a:spcBef>
              <a:buNone/>
            </a:pPr>
            <a:r>
              <a:rPr lang="en-US" sz="1035" kern="0" spc="-21" dirty="0">
                <a:latin typeface="Inter" pitchFamily="34" charset="0"/>
                <a:ea typeface="Inter" pitchFamily="34" charset="-122"/>
                <a:cs typeface="Inter" pitchFamily="34" charset="-120"/>
              </a:rPr>
              <a:t>Ensure the selected GenAI tools align with UNFPA's legal and IT policies, as well as any applicable regulations and data privacy standards.</a:t>
            </a:r>
          </a:p>
          <a:p>
            <a:pPr marL="242900" indent="-242900" algn="l">
              <a:lnSpc>
                <a:spcPts val="1892"/>
              </a:lnSpc>
              <a:spcBef>
                <a:spcPts val="1533"/>
              </a:spcBef>
              <a:buSzPct val="100000"/>
              <a:buChar char="•"/>
            </a:pPr>
            <a:r>
              <a:rPr lang="en-US" sz="1620" b="1" kern="0" spc="-98" dirty="0">
                <a:latin typeface="Inter" pitchFamily="34" charset="0"/>
                <a:ea typeface="Inter" pitchFamily="34" charset="-122"/>
                <a:cs typeface="Inter" pitchFamily="34" charset="-120"/>
              </a:rPr>
              <a:t>Prioritize procurement fit</a:t>
            </a:r>
          </a:p>
          <a:p>
            <a:pPr lvl="1" algn="l">
              <a:lnSpc>
                <a:spcPts val="1436"/>
              </a:lnSpc>
              <a:spcBef>
                <a:spcPts val="193"/>
              </a:spcBef>
              <a:buNone/>
            </a:pPr>
            <a:r>
              <a:rPr lang="en-US" sz="1035" kern="0" spc="-21" dirty="0">
                <a:latin typeface="Inter" pitchFamily="34" charset="0"/>
                <a:ea typeface="Inter" pitchFamily="34" charset="-122"/>
                <a:cs typeface="Inter" pitchFamily="34" charset="-120"/>
              </a:rPr>
              <a:t>Assess the compatibility of GenAI tools with UNFPA's procurement processes and procedures to enable efficient and compliant acquisition.</a:t>
            </a:r>
          </a:p>
          <a:p>
            <a:pPr marL="242900" indent="-242900" algn="l">
              <a:lnSpc>
                <a:spcPts val="1892"/>
              </a:lnSpc>
              <a:spcBef>
                <a:spcPts val="1533"/>
              </a:spcBef>
              <a:buSzPct val="100000"/>
              <a:buChar char="•"/>
            </a:pPr>
            <a:r>
              <a:rPr lang="en-US" sz="1620" b="1" kern="0" spc="-98" dirty="0">
                <a:latin typeface="Inter" pitchFamily="34" charset="0"/>
                <a:ea typeface="Inter" pitchFamily="34" charset="-122"/>
                <a:cs typeface="Inter" pitchFamily="34" charset="-120"/>
              </a:rPr>
              <a:t>Assess UNFPA IT architecture alignment</a:t>
            </a:r>
          </a:p>
          <a:p>
            <a:pPr lvl="1" algn="l">
              <a:lnSpc>
                <a:spcPts val="1436"/>
              </a:lnSpc>
              <a:spcBef>
                <a:spcPts val="193"/>
              </a:spcBef>
              <a:buNone/>
            </a:pPr>
            <a:r>
              <a:rPr lang="en-US" sz="1035" kern="0" spc="-21" dirty="0">
                <a:latin typeface="Inter" pitchFamily="34" charset="0"/>
                <a:ea typeface="Inter" pitchFamily="34" charset="-122"/>
                <a:cs typeface="Inter" pitchFamily="34" charset="-120"/>
              </a:rPr>
              <a:t>Evaluate the integration of GenAI tools with UNFPA's existing IT infrastructure and systems to ensure seamless implementation and data management.</a:t>
            </a:r>
          </a:p>
          <a:p>
            <a:pPr marL="242900" indent="-242900" algn="l">
              <a:lnSpc>
                <a:spcPts val="1892"/>
              </a:lnSpc>
              <a:spcBef>
                <a:spcPts val="1533"/>
              </a:spcBef>
              <a:buSzPct val="100000"/>
              <a:buChar char="•"/>
            </a:pPr>
            <a:r>
              <a:rPr lang="en-US" sz="1620" b="1" kern="0" spc="-98" dirty="0">
                <a:latin typeface="Inter" pitchFamily="34" charset="0"/>
                <a:ea typeface="Inter" pitchFamily="34" charset="-122"/>
                <a:cs typeface="Inter" pitchFamily="34" charset="-120"/>
              </a:rPr>
              <a:t>Evaluate key solution features</a:t>
            </a:r>
          </a:p>
          <a:p>
            <a:pPr lvl="1" algn="l">
              <a:lnSpc>
                <a:spcPts val="1436"/>
              </a:lnSpc>
              <a:spcBef>
                <a:spcPts val="193"/>
              </a:spcBef>
              <a:buNone/>
            </a:pPr>
            <a:r>
              <a:rPr lang="en-US" sz="1035" kern="0" spc="-21" dirty="0">
                <a:latin typeface="Inter" pitchFamily="34" charset="0"/>
                <a:ea typeface="Inter" pitchFamily="34" charset="-122"/>
                <a:cs typeface="Inter" pitchFamily="34" charset="-120"/>
              </a:rPr>
              <a:t>Assess the specific capabilities and functionalities of GenAI tools to ensure they meet the identified evaluation needs and requirements.</a:t>
            </a:r>
            <a:endParaRPr lang="en-US" dirty="0"/>
          </a:p>
        </p:txBody>
      </p:sp>
      <p:sp>
        <p:nvSpPr>
          <p:cNvPr id="4" name="Object 3"/>
          <p:cNvSpPr/>
          <p:nvPr/>
        </p:nvSpPr>
        <p:spPr>
          <a:xfrm>
            <a:off x="6284928" y="1824474"/>
            <a:ext cx="5446938" cy="3941868"/>
          </a:xfrm>
          <a:prstGeom prst="rect">
            <a:avLst/>
          </a:prstGeom>
          <a:noFill/>
        </p:spPr>
        <p:txBody>
          <a:bodyPr wrap="square" lIns="0" tIns="0" rIns="0" bIns="0" rtlCol="0" anchor="t"/>
          <a:lstStyle/>
          <a:p>
            <a:pPr marL="242900" indent="-242900" algn="l">
              <a:lnSpc>
                <a:spcPts val="1892"/>
              </a:lnSpc>
              <a:buSzPct val="100000"/>
              <a:buChar char="•"/>
            </a:pPr>
            <a:r>
              <a:rPr lang="en-US" sz="1620" b="1" kern="0" spc="-98" dirty="0">
                <a:latin typeface="Inter" pitchFamily="34" charset="0"/>
                <a:ea typeface="Inter" pitchFamily="34" charset="-122"/>
                <a:cs typeface="Inter" pitchFamily="34" charset="-120"/>
              </a:rPr>
              <a:t>Prioritize security and data privacy</a:t>
            </a:r>
          </a:p>
          <a:p>
            <a:pPr lvl="1" algn="l">
              <a:lnSpc>
                <a:spcPts val="1436"/>
              </a:lnSpc>
              <a:spcBef>
                <a:spcPts val="193"/>
              </a:spcBef>
              <a:buNone/>
            </a:pPr>
            <a:r>
              <a:rPr lang="en-US" sz="1035" kern="0" spc="-21" dirty="0">
                <a:latin typeface="Inter" pitchFamily="34" charset="0"/>
                <a:ea typeface="Inter" pitchFamily="34" charset="-122"/>
                <a:cs typeface="Inter" pitchFamily="34" charset="-120"/>
              </a:rPr>
              <a:t>Ensure the selected GenAI tools have robust information security features and comprehensive data privacy protocols to protect sensitive evaluation data.</a:t>
            </a:r>
          </a:p>
          <a:p>
            <a:pPr marL="242900" indent="-242900" algn="l">
              <a:lnSpc>
                <a:spcPts val="1892"/>
              </a:lnSpc>
              <a:spcBef>
                <a:spcPts val="1533"/>
              </a:spcBef>
              <a:buSzPct val="100000"/>
              <a:buChar char="•"/>
            </a:pPr>
            <a:r>
              <a:rPr lang="en-US" sz="1620" b="1" kern="0" spc="-98" dirty="0">
                <a:latin typeface="Inter" pitchFamily="34" charset="0"/>
                <a:ea typeface="Inter" pitchFamily="34" charset="-122"/>
                <a:cs typeface="Inter" pitchFamily="34" charset="-120"/>
              </a:rPr>
              <a:t>Consider cost implications</a:t>
            </a:r>
          </a:p>
          <a:p>
            <a:pPr lvl="1" algn="l">
              <a:lnSpc>
                <a:spcPts val="1436"/>
              </a:lnSpc>
              <a:spcBef>
                <a:spcPts val="193"/>
              </a:spcBef>
              <a:buNone/>
            </a:pPr>
            <a:r>
              <a:rPr lang="en-US" sz="1035" kern="0" spc="-21" dirty="0">
                <a:latin typeface="Inter" pitchFamily="34" charset="0"/>
                <a:ea typeface="Inter" pitchFamily="34" charset="-122"/>
                <a:cs typeface="Inter" pitchFamily="34" charset="-120"/>
              </a:rPr>
              <a:t>Evaluate the start-up, continuation, and maintenance costs associated with the implementation and use of GenAI tools to ensure long-term sustainability.</a:t>
            </a:r>
          </a:p>
          <a:p>
            <a:pPr marL="242900" indent="-242900" algn="l">
              <a:lnSpc>
                <a:spcPts val="1892"/>
              </a:lnSpc>
              <a:spcBef>
                <a:spcPts val="1533"/>
              </a:spcBef>
              <a:buSzPct val="100000"/>
              <a:buChar char="•"/>
            </a:pPr>
            <a:r>
              <a:rPr lang="en-US" sz="1620" b="1" kern="0" spc="-98" dirty="0">
                <a:latin typeface="Inter" pitchFamily="34" charset="0"/>
                <a:ea typeface="Inter" pitchFamily="34" charset="-122"/>
                <a:cs typeface="Inter" pitchFamily="34" charset="-120"/>
              </a:rPr>
              <a:t>Estimate optimization potential</a:t>
            </a:r>
          </a:p>
          <a:p>
            <a:pPr lvl="1" algn="l">
              <a:lnSpc>
                <a:spcPts val="1436"/>
              </a:lnSpc>
              <a:spcBef>
                <a:spcPts val="193"/>
              </a:spcBef>
              <a:buNone/>
            </a:pPr>
            <a:r>
              <a:rPr lang="en-US" sz="1035" kern="0" spc="-21" dirty="0">
                <a:latin typeface="Inter" pitchFamily="34" charset="0"/>
                <a:ea typeface="Inter" pitchFamily="34" charset="-122"/>
                <a:cs typeface="Inter" pitchFamily="34" charset="-120"/>
              </a:rPr>
              <a:t>Assess the potential of GenAI tools to optimize specific evaluation processes or workflows, and the anticipated benefits in terms of efficiency and effectiveness.</a:t>
            </a:r>
          </a:p>
          <a:p>
            <a:pPr marL="242900" indent="-242900" algn="l">
              <a:lnSpc>
                <a:spcPts val="1892"/>
              </a:lnSpc>
              <a:spcBef>
                <a:spcPts val="1533"/>
              </a:spcBef>
              <a:buSzPct val="100000"/>
              <a:buChar char="•"/>
            </a:pPr>
            <a:r>
              <a:rPr lang="en-US" sz="1620" b="1" kern="0" spc="-98" dirty="0">
                <a:latin typeface="Inter" pitchFamily="34" charset="0"/>
                <a:ea typeface="Inter" pitchFamily="34" charset="-122"/>
                <a:cs typeface="Inter" pitchFamily="34" charset="-120"/>
              </a:rPr>
              <a:t>Identify and mitigate risks</a:t>
            </a:r>
          </a:p>
          <a:p>
            <a:pPr lvl="1" algn="l">
              <a:lnSpc>
                <a:spcPts val="1436"/>
              </a:lnSpc>
              <a:spcBef>
                <a:spcPts val="193"/>
              </a:spcBef>
              <a:buNone/>
            </a:pPr>
            <a:r>
              <a:rPr lang="en-US" sz="1035" kern="0" spc="-21" dirty="0">
                <a:latin typeface="Inter" pitchFamily="34" charset="0"/>
                <a:ea typeface="Inter" pitchFamily="34" charset="-122"/>
                <a:cs typeface="Inter" pitchFamily="34" charset="-120"/>
              </a:rPr>
              <a:t>Carefully assess the potential risks and harms associated with the use of GenAI tools across various use cases, and develop appropriate mitigation strategies.</a:t>
            </a:r>
          </a:p>
          <a:p>
            <a:pPr marL="242900" indent="-242900" algn="l">
              <a:lnSpc>
                <a:spcPts val="1892"/>
              </a:lnSpc>
              <a:spcBef>
                <a:spcPts val="1533"/>
              </a:spcBef>
              <a:buSzPct val="100000"/>
              <a:buChar char="•"/>
            </a:pPr>
            <a:r>
              <a:rPr lang="en-US" sz="1620" b="1" kern="0" spc="-98" dirty="0">
                <a:latin typeface="Inter" pitchFamily="34" charset="0"/>
                <a:ea typeface="Inter" pitchFamily="34" charset="-122"/>
                <a:cs typeface="Inter" pitchFamily="34" charset="-120"/>
              </a:rPr>
              <a:t>Prioritize low-code/no-code solutions</a:t>
            </a:r>
          </a:p>
          <a:p>
            <a:pPr lvl="1" algn="l">
              <a:lnSpc>
                <a:spcPts val="1436"/>
              </a:lnSpc>
              <a:spcBef>
                <a:spcPts val="193"/>
              </a:spcBef>
              <a:buNone/>
            </a:pPr>
            <a:r>
              <a:rPr lang="en-US" sz="1035" kern="0" spc="-21" dirty="0">
                <a:latin typeface="Inter" pitchFamily="34" charset="0"/>
                <a:ea typeface="Inter" pitchFamily="34" charset="-122"/>
                <a:cs typeface="Inter" pitchFamily="34" charset="-120"/>
              </a:rPr>
              <a:t>Leverage the Google ecosystem to explore and test the feasibility of developing no-code or low-code GenAI solutions that meet UNFPA's evaluation needs.</a:t>
            </a:r>
            <a:endParaRPr lang="en-US" dirty="0"/>
          </a:p>
        </p:txBody>
      </p:sp>
      <p:sp>
        <p:nvSpPr>
          <p:cNvPr id="5" name="Object 4"/>
          <p:cNvSpPr/>
          <p:nvPr/>
        </p:nvSpPr>
        <p:spPr>
          <a:xfrm>
            <a:off x="11798525" y="6497898"/>
            <a:ext cx="199975" cy="237669"/>
          </a:xfrm>
          <a:prstGeom prst="rect">
            <a:avLst/>
          </a:prstGeom>
          <a:noFill/>
        </p:spPr>
      </p:sp>
      <p:sp>
        <p:nvSpPr>
          <p:cNvPr id="25" name="Slide Number Placeholder 24"/>
          <p:cNvSpPr>
            <a:spLocks noGrp="1"/>
          </p:cNvSpPr>
          <p:nvPr>
            <p:ph type="sldNum" sz="quarter" idx="4294967295"/>
          </p:nvPr>
        </p:nvSpPr>
        <p:spPr>
          <a:xfrm>
            <a:off x="11826240" y="6515100"/>
            <a:ext cx="800000" cy="300000"/>
          </a:xfrm>
          <a:prstGeom prst="rect">
            <a:avLst/>
          </a:prstGeom>
          <a:extLst>
            <a:ext uri="{C572A759-6A51-4108-AA02-DFA0A04FC94B}">
              <ma14:wrappingTextBoxFlag xmlns="" xmlns:ma14="http://schemas.microsoft.com/office/mac/drawingml/2011/main" val="0"/>
            </a:ext>
          </a:extLst>
        </p:spPr>
        <p:txBody>
          <a:bodyPr/>
          <a:lstStyle>
            <a:lvl1pPr>
              <a:defRPr sz="1100"/>
            </a:lvl1pPr>
          </a:lstStyle>
          <a:p>
            <a:fld id="{F7021451-1387-4CA6-816F-3879F97B5CBC}" type="slidenum">
              <a:rPr lang="en-US" smtClean="0"/>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name="Slide 16">
    <p:spTree>
      <p:nvGrpSpPr>
        <p:cNvPr id="1" name=""/>
        <p:cNvGrpSpPr/>
        <p:nvPr/>
      </p:nvGrpSpPr>
      <p:grpSpPr>
        <a:xfrm>
          <a:off x="0" y="0"/>
          <a:ext cx="0" cy="0"/>
          <a:chOff x="0" y="0"/>
          <a:chExt cx="0" cy="0"/>
        </a:xfrm>
      </p:grpSpPr>
      <p:sp>
        <p:nvSpPr>
          <p:cNvPr id="2" name="Object 1"/>
          <p:cNvSpPr/>
          <p:nvPr/>
        </p:nvSpPr>
        <p:spPr>
          <a:xfrm>
            <a:off x="0" y="379020"/>
            <a:ext cx="12188952" cy="556081"/>
          </a:xfrm>
          <a:prstGeom prst="rect">
            <a:avLst/>
          </a:prstGeom>
          <a:noFill/>
        </p:spPr>
        <p:txBody>
          <a:bodyPr wrap="square" lIns="0" tIns="0" rIns="0" bIns="0" rtlCol="0" anchor="t"/>
          <a:lstStyle/>
          <a:p>
            <a:pPr algn="ctr">
              <a:lnSpc>
                <a:spcPts val="4380"/>
              </a:lnSpc>
              <a:buNone/>
            </a:pPr>
            <a:r>
              <a:rPr lang="en-US" sz="3750" b="1" kern="0" spc="-225" dirty="0">
                <a:latin typeface="Inter" pitchFamily="34" charset="0"/>
                <a:ea typeface="Inter" pitchFamily="34" charset="-122"/>
                <a:cs typeface="Inter" pitchFamily="34" charset="-120"/>
              </a:rPr>
              <a:t>Roles &amp; Responsibilities</a:t>
            </a:r>
            <a:endParaRPr lang="en-US" dirty="0"/>
          </a:p>
        </p:txBody>
      </p:sp>
      <p:sp>
        <p:nvSpPr>
          <p:cNvPr id="3" name="Object 2"/>
          <p:cNvSpPr/>
          <p:nvPr/>
        </p:nvSpPr>
        <p:spPr>
          <a:xfrm>
            <a:off x="476131" y="1590277"/>
            <a:ext cx="5523119" cy="2109260"/>
          </a:xfrm>
          <a:prstGeom prst="rect">
            <a:avLst/>
          </a:prstGeom>
          <a:solidFill>
            <a:srgbClr val="22AAEE"/>
          </a:solidFill>
        </p:spPr>
      </p:sp>
      <p:sp>
        <p:nvSpPr>
          <p:cNvPr id="4" name="Object 3"/>
          <p:cNvSpPr/>
          <p:nvPr/>
        </p:nvSpPr>
        <p:spPr>
          <a:xfrm>
            <a:off x="761810" y="1826458"/>
            <a:ext cx="5551687" cy="283595"/>
          </a:xfrm>
          <a:prstGeom prst="rect">
            <a:avLst/>
          </a:prstGeom>
          <a:noFill/>
        </p:spPr>
        <p:txBody>
          <a:bodyPr wrap="square" lIns="0" tIns="0" rIns="0" bIns="0" rtlCol="0" anchor="t"/>
          <a:lstStyle/>
          <a:p>
            <a:pPr algn="l">
              <a:lnSpc>
                <a:spcPts val="2234"/>
              </a:lnSpc>
              <a:buNone/>
            </a:pPr>
            <a:r>
              <a:rPr lang="en-US" sz="1913" b="1" kern="0" spc="-115" dirty="0">
                <a:solidFill>
                  <a:srgbClr val="333333"/>
                </a:solidFill>
                <a:latin typeface="Inter" pitchFamily="34" charset="0"/>
                <a:ea typeface="Inter" pitchFamily="34" charset="-122"/>
                <a:cs typeface="Inter" pitchFamily="34" charset="-120"/>
              </a:rPr>
              <a:t>Internal Stakeholders</a:t>
            </a:r>
            <a:endParaRPr lang="en-US" dirty="0"/>
          </a:p>
        </p:txBody>
      </p:sp>
      <p:sp>
        <p:nvSpPr>
          <p:cNvPr id="5" name="Object 4"/>
          <p:cNvSpPr/>
          <p:nvPr/>
        </p:nvSpPr>
        <p:spPr>
          <a:xfrm>
            <a:off x="761810" y="2211430"/>
            <a:ext cx="5551687" cy="1237940"/>
          </a:xfrm>
          <a:prstGeom prst="rect">
            <a:avLst/>
          </a:prstGeom>
          <a:noFill/>
        </p:spPr>
        <p:txBody>
          <a:bodyPr wrap="square" lIns="0" tIns="0" rIns="0" bIns="0" rtlCol="0" anchor="t"/>
          <a:lstStyle/>
          <a:p>
            <a:pPr algn="l">
              <a:lnSpc>
                <a:spcPts val="1951"/>
              </a:lnSpc>
              <a:spcBef>
                <a:spcPts val="783"/>
              </a:spcBef>
              <a:buNone/>
            </a:pPr>
            <a:r>
              <a:rPr lang="en-US" sz="1406" kern="0" spc="-29" dirty="0">
                <a:solidFill>
                  <a:srgbClr val="000000">
                    <a:alpha val="56000"/>
                  </a:srgbClr>
                </a:solidFill>
                <a:latin typeface="Inter" pitchFamily="34" charset="0"/>
                <a:ea typeface="Inter" pitchFamily="34" charset="-122"/>
                <a:cs typeface="Inter" pitchFamily="34" charset="-120"/>
              </a:rPr>
              <a:t>- IEO Director: principle approval, ethics oversight - AI Specialists: tool development, vetting, ethics alignment - Evaluation Managers: integration, quality assurance - M&amp;E Advisors: decentralized training and support - ITSO/PSD/TD: infrastructure, policy, risk management</a:t>
            </a:r>
            <a:endParaRPr lang="en-US" dirty="0"/>
          </a:p>
        </p:txBody>
      </p:sp>
      <p:sp>
        <p:nvSpPr>
          <p:cNvPr id="6" name="Object 5"/>
          <p:cNvSpPr/>
          <p:nvPr/>
        </p:nvSpPr>
        <p:spPr>
          <a:xfrm>
            <a:off x="6189702" y="1590277"/>
            <a:ext cx="5523119" cy="2109260"/>
          </a:xfrm>
          <a:prstGeom prst="rect">
            <a:avLst/>
          </a:prstGeom>
          <a:solidFill>
            <a:srgbClr val="FFD9AD"/>
          </a:solidFill>
        </p:spPr>
      </p:sp>
      <p:sp>
        <p:nvSpPr>
          <p:cNvPr id="7" name="Object 6"/>
          <p:cNvSpPr/>
          <p:nvPr/>
        </p:nvSpPr>
        <p:spPr>
          <a:xfrm>
            <a:off x="6475381" y="1826458"/>
            <a:ext cx="5551687" cy="283595"/>
          </a:xfrm>
          <a:prstGeom prst="rect">
            <a:avLst/>
          </a:prstGeom>
          <a:noFill/>
        </p:spPr>
        <p:txBody>
          <a:bodyPr wrap="square" lIns="0" tIns="0" rIns="0" bIns="0" rtlCol="0" anchor="t"/>
          <a:lstStyle/>
          <a:p>
            <a:pPr algn="l">
              <a:lnSpc>
                <a:spcPts val="2234"/>
              </a:lnSpc>
              <a:buNone/>
            </a:pPr>
            <a:r>
              <a:rPr lang="en-US" sz="1913" b="1" kern="0" spc="-115" dirty="0">
                <a:solidFill>
                  <a:srgbClr val="333333"/>
                </a:solidFill>
                <a:latin typeface="Inter" pitchFamily="34" charset="0"/>
                <a:ea typeface="Inter" pitchFamily="34" charset="-122"/>
                <a:cs typeface="Inter" pitchFamily="34" charset="-120"/>
              </a:rPr>
              <a:t>External Stakeholders</a:t>
            </a:r>
            <a:endParaRPr lang="en-US" dirty="0"/>
          </a:p>
        </p:txBody>
      </p:sp>
      <p:sp>
        <p:nvSpPr>
          <p:cNvPr id="8" name="Object 7"/>
          <p:cNvSpPr/>
          <p:nvPr/>
        </p:nvSpPr>
        <p:spPr>
          <a:xfrm>
            <a:off x="6475381" y="2211430"/>
            <a:ext cx="5551687" cy="742764"/>
          </a:xfrm>
          <a:prstGeom prst="rect">
            <a:avLst/>
          </a:prstGeom>
          <a:noFill/>
        </p:spPr>
        <p:txBody>
          <a:bodyPr wrap="square" lIns="0" tIns="0" rIns="0" bIns="0" rtlCol="0" anchor="t"/>
          <a:lstStyle/>
          <a:p>
            <a:pPr algn="l">
              <a:lnSpc>
                <a:spcPts val="1951"/>
              </a:lnSpc>
              <a:spcBef>
                <a:spcPts val="783"/>
              </a:spcBef>
              <a:buNone/>
            </a:pPr>
            <a:r>
              <a:rPr lang="en-US" sz="1406" kern="0" spc="-29" dirty="0">
                <a:solidFill>
                  <a:srgbClr val="000000">
                    <a:alpha val="56000"/>
                  </a:srgbClr>
                </a:solidFill>
                <a:latin typeface="Inter" pitchFamily="34" charset="0"/>
                <a:ea typeface="Inter" pitchFamily="34" charset="-122"/>
                <a:cs typeface="Inter" pitchFamily="34" charset="-120"/>
              </a:rPr>
              <a:t>- UNEG and Meta-evaluation Experts: standard-setting - AI Ethics Advisors: ongoing risk guidance - Global South Partners: capacity building and advocacy</a:t>
            </a:r>
            <a:endParaRPr lang="en-US" dirty="0"/>
          </a:p>
        </p:txBody>
      </p:sp>
      <p:sp>
        <p:nvSpPr>
          <p:cNvPr id="9" name="Object 8"/>
          <p:cNvSpPr/>
          <p:nvPr/>
        </p:nvSpPr>
        <p:spPr>
          <a:xfrm>
            <a:off x="476131" y="3889990"/>
            <a:ext cx="5523119" cy="2109260"/>
          </a:xfrm>
          <a:prstGeom prst="rect">
            <a:avLst/>
          </a:prstGeom>
          <a:solidFill>
            <a:srgbClr val="FEC088"/>
          </a:solidFill>
        </p:spPr>
      </p:sp>
      <p:sp>
        <p:nvSpPr>
          <p:cNvPr id="10" name="Object 9"/>
          <p:cNvSpPr/>
          <p:nvPr/>
        </p:nvSpPr>
        <p:spPr>
          <a:xfrm>
            <a:off x="761810" y="4126171"/>
            <a:ext cx="5551687" cy="283595"/>
          </a:xfrm>
          <a:prstGeom prst="rect">
            <a:avLst/>
          </a:prstGeom>
          <a:noFill/>
        </p:spPr>
        <p:txBody>
          <a:bodyPr wrap="square" lIns="0" tIns="0" rIns="0" bIns="0" rtlCol="0" anchor="t"/>
          <a:lstStyle/>
          <a:p>
            <a:pPr algn="l">
              <a:lnSpc>
                <a:spcPts val="2234"/>
              </a:lnSpc>
              <a:buNone/>
            </a:pPr>
            <a:r>
              <a:rPr lang="en-US" sz="1913" b="1" kern="0" spc="-115" dirty="0">
                <a:solidFill>
                  <a:srgbClr val="333333"/>
                </a:solidFill>
                <a:latin typeface="Inter" pitchFamily="34" charset="0"/>
                <a:ea typeface="Inter" pitchFamily="34" charset="-122"/>
                <a:cs typeface="Inter" pitchFamily="34" charset="-120"/>
              </a:rPr>
              <a:t>Coordinating Mechanisms</a:t>
            </a:r>
            <a:endParaRPr lang="en-US" dirty="0"/>
          </a:p>
        </p:txBody>
      </p:sp>
      <p:sp>
        <p:nvSpPr>
          <p:cNvPr id="11" name="Object 10"/>
          <p:cNvSpPr/>
          <p:nvPr/>
        </p:nvSpPr>
        <p:spPr>
          <a:xfrm>
            <a:off x="761810" y="4511142"/>
            <a:ext cx="5551687" cy="742764"/>
          </a:xfrm>
          <a:prstGeom prst="rect">
            <a:avLst/>
          </a:prstGeom>
          <a:noFill/>
        </p:spPr>
        <p:txBody>
          <a:bodyPr wrap="square" lIns="0" tIns="0" rIns="0" bIns="0" rtlCol="0" anchor="t"/>
          <a:lstStyle/>
          <a:p>
            <a:pPr algn="l">
              <a:lnSpc>
                <a:spcPts val="1951"/>
              </a:lnSpc>
              <a:spcBef>
                <a:spcPts val="783"/>
              </a:spcBef>
              <a:buNone/>
            </a:pPr>
            <a:r>
              <a:rPr lang="en-US" sz="1406" kern="0" spc="-29" dirty="0">
                <a:solidFill>
                  <a:srgbClr val="000000">
                    <a:alpha val="56000"/>
                  </a:srgbClr>
                </a:solidFill>
                <a:latin typeface="Inter" pitchFamily="34" charset="0"/>
                <a:ea typeface="Inter" pitchFamily="34" charset="-122"/>
                <a:cs typeface="Inter" pitchFamily="34" charset="-120"/>
              </a:rPr>
              <a:t>- AI Advisory Body (Dec '23): inclusivity, accountability, data governance - Joint working groups and communities of practice - Shared learning and knowledge exchange across UN entities</a:t>
            </a:r>
            <a:endParaRPr lang="en-US" dirty="0"/>
          </a:p>
        </p:txBody>
      </p:sp>
      <p:sp>
        <p:nvSpPr>
          <p:cNvPr id="12" name="Object 11"/>
          <p:cNvSpPr/>
          <p:nvPr/>
        </p:nvSpPr>
        <p:spPr>
          <a:xfrm>
            <a:off x="6189702" y="3889990"/>
            <a:ext cx="5523119" cy="2109260"/>
          </a:xfrm>
          <a:prstGeom prst="rect">
            <a:avLst/>
          </a:prstGeom>
          <a:solidFill>
            <a:srgbClr val="FD864D"/>
          </a:solidFill>
        </p:spPr>
      </p:sp>
      <p:sp>
        <p:nvSpPr>
          <p:cNvPr id="13" name="Object 12"/>
          <p:cNvSpPr/>
          <p:nvPr/>
        </p:nvSpPr>
        <p:spPr>
          <a:xfrm>
            <a:off x="6475381" y="4126171"/>
            <a:ext cx="5551687" cy="283595"/>
          </a:xfrm>
          <a:prstGeom prst="rect">
            <a:avLst/>
          </a:prstGeom>
          <a:noFill/>
        </p:spPr>
        <p:txBody>
          <a:bodyPr wrap="square" lIns="0" tIns="0" rIns="0" bIns="0" rtlCol="0" anchor="t"/>
          <a:lstStyle/>
          <a:p>
            <a:pPr algn="l">
              <a:lnSpc>
                <a:spcPts val="2234"/>
              </a:lnSpc>
              <a:buNone/>
            </a:pPr>
            <a:r>
              <a:rPr lang="en-US" sz="1913" b="1" kern="0" spc="-115" dirty="0">
                <a:solidFill>
                  <a:srgbClr val="333333"/>
                </a:solidFill>
                <a:latin typeface="Inter" pitchFamily="34" charset="0"/>
                <a:ea typeface="Inter" pitchFamily="34" charset="-122"/>
                <a:cs typeface="Inter" pitchFamily="34" charset="-120"/>
              </a:rPr>
              <a:t>Capacity Building</a:t>
            </a:r>
            <a:endParaRPr lang="en-US" dirty="0"/>
          </a:p>
        </p:txBody>
      </p:sp>
      <p:sp>
        <p:nvSpPr>
          <p:cNvPr id="14" name="Object 13"/>
          <p:cNvSpPr/>
          <p:nvPr/>
        </p:nvSpPr>
        <p:spPr>
          <a:xfrm>
            <a:off x="6475381" y="4511142"/>
            <a:ext cx="5551687" cy="990352"/>
          </a:xfrm>
          <a:prstGeom prst="rect">
            <a:avLst/>
          </a:prstGeom>
          <a:noFill/>
        </p:spPr>
        <p:txBody>
          <a:bodyPr wrap="square" lIns="0" tIns="0" rIns="0" bIns="0" rtlCol="0" anchor="t"/>
          <a:lstStyle/>
          <a:p>
            <a:pPr algn="l">
              <a:lnSpc>
                <a:spcPts val="1951"/>
              </a:lnSpc>
              <a:spcBef>
                <a:spcPts val="783"/>
              </a:spcBef>
              <a:buNone/>
            </a:pPr>
            <a:r>
              <a:rPr lang="en-US" sz="1406" kern="0" spc="-29" dirty="0">
                <a:solidFill>
                  <a:srgbClr val="000000">
                    <a:alpha val="56000"/>
                  </a:srgbClr>
                </a:solidFill>
                <a:latin typeface="Inter" pitchFamily="34" charset="0"/>
                <a:ea typeface="Inter" pitchFamily="34" charset="-122"/>
                <a:cs typeface="Inter" pitchFamily="34" charset="-120"/>
              </a:rPr>
              <a:t>- GenAI literacy training for all IEO staff - Targeted upskilling for managers, analysts, quality assurance leads, and external contractors - Partnerships and collaborations among UN agencies on digital transformation</a:t>
            </a:r>
            <a:endParaRPr lang="en-US" dirty="0"/>
          </a:p>
        </p:txBody>
      </p:sp>
      <p:sp>
        <p:nvSpPr>
          <p:cNvPr id="15" name="Object 14"/>
          <p:cNvSpPr/>
          <p:nvPr/>
        </p:nvSpPr>
        <p:spPr>
          <a:xfrm>
            <a:off x="11798525" y="6497898"/>
            <a:ext cx="199975" cy="237669"/>
          </a:xfrm>
          <a:prstGeom prst="rect">
            <a:avLst/>
          </a:prstGeom>
          <a:noFill/>
        </p:spPr>
      </p:sp>
      <p:sp>
        <p:nvSpPr>
          <p:cNvPr id="25" name="Slide Number Placeholder 24"/>
          <p:cNvSpPr>
            <a:spLocks noGrp="1"/>
          </p:cNvSpPr>
          <p:nvPr>
            <p:ph type="sldNum" sz="quarter" idx="4294967295"/>
          </p:nvPr>
        </p:nvSpPr>
        <p:spPr>
          <a:xfrm>
            <a:off x="11826240" y="6515100"/>
            <a:ext cx="800000" cy="300000"/>
          </a:xfrm>
          <a:prstGeom prst="rect">
            <a:avLst/>
          </a:prstGeom>
          <a:extLst>
            <a:ext uri="{C572A759-6A51-4108-AA02-DFA0A04FC94B}">
              <ma14:wrappingTextBoxFlag xmlns="" xmlns:ma14="http://schemas.microsoft.com/office/mac/drawingml/2011/main" val="0"/>
            </a:ext>
          </a:extLst>
        </p:spPr>
        <p:txBody>
          <a:bodyPr/>
          <a:lstStyle>
            <a:lvl1pPr>
              <a:defRPr sz="1100"/>
            </a:lvl1pPr>
          </a:lstStyle>
          <a:p>
            <a:fld id="{F7021451-1387-4CA6-816F-3879F97B5CBC}" type="slidenum">
              <a:rPr lang="en-US" smtClean="0"/>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868D3CB-BF7E-21C8-E4A6-BB89883A2F1E}"/>
              </a:ext>
            </a:extLst>
          </p:cNvPr>
          <p:cNvPicPr>
            <a:picLocks noChangeAspect="1"/>
          </p:cNvPicPr>
          <p:nvPr/>
        </p:nvPicPr>
        <p:blipFill>
          <a:blip r:embed="rId2"/>
          <a:stretch>
            <a:fillRect/>
          </a:stretch>
        </p:blipFill>
        <p:spPr>
          <a:xfrm>
            <a:off x="2667000" y="0"/>
            <a:ext cx="6858000" cy="6858000"/>
          </a:xfrm>
          <a:prstGeom prst="rect">
            <a:avLst/>
          </a:prstGeom>
        </p:spPr>
      </p:pic>
    </p:spTree>
    <p:extLst>
      <p:ext uri="{BB962C8B-B14F-4D97-AF65-F5344CB8AC3E}">
        <p14:creationId xmlns:p14="http://schemas.microsoft.com/office/powerpoint/2010/main" val="271287899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we="http://schemas.microsoft.com/office/webextensions/webextension/2010/11" xmlns:pca="http://schemas.microsoft.com/office/powerpoint/2013/contentapp" Requires="we pca">
          <p:graphicFrame>
            <p:nvGraphicFramePr>
              <p:cNvPr id="2" name="Add-in 1">
                <a:extLst>
                  <a:ext uri="{FF2B5EF4-FFF2-40B4-BE49-F238E27FC236}">
                    <a16:creationId xmlns:a16="http://schemas.microsoft.com/office/drawing/2014/main" id="{17331AD9-A420-1DA8-B258-1378F7A5FDFC}"/>
                  </a:ext>
                </a:extLst>
              </p:cNvPr>
              <p:cNvGraphicFramePr>
                <a:graphicFrameLocks noGrp="1"/>
              </p:cNvGraphicFramePr>
              <p:nvPr>
                <p:extLst>
                  <p:ext uri="{D42A27DB-BD31-4B8C-83A1-F6EECF244321}">
                    <p14:modId xmlns:p14="http://schemas.microsoft.com/office/powerpoint/2010/main" val="3691172380"/>
                  </p:ext>
                </p:extLst>
              </p:nvPr>
            </p:nvGraphicFramePr>
            <p:xfrm>
              <a:off x="296091" y="130629"/>
              <a:ext cx="11686903" cy="6662057"/>
            </p:xfrm>
            <a:graphic>
              <a:graphicData uri="http://schemas.microsoft.com/office/webextensions/webextension/2010/11">
                <we:webextensionref xmlns:we="http://schemas.microsoft.com/office/webextensions/webextension/2010/11" xmlns:r="http://schemas.openxmlformats.org/officeDocument/2006/relationships" r:id="rId2"/>
              </a:graphicData>
            </a:graphic>
          </p:graphicFrame>
        </mc:Choice>
        <mc:Fallback>
          <p:pic>
            <p:nvPicPr>
              <p:cNvPr id="2" name="Add-in 1">
                <a:extLst>
                  <a:ext uri="{FF2B5EF4-FFF2-40B4-BE49-F238E27FC236}">
                    <a16:creationId xmlns:a16="http://schemas.microsoft.com/office/drawing/2014/main" id="{17331AD9-A420-1DA8-B258-1378F7A5FDFC}"/>
                  </a:ext>
                </a:extLst>
              </p:cNvPr>
              <p:cNvPicPr>
                <a:picLocks noGrp="1" noRot="1" noChangeAspect="1" noMove="1" noResize="1" noEditPoints="1" noAdjustHandles="1" noChangeArrowheads="1" noChangeShapeType="1"/>
              </p:cNvPicPr>
              <p:nvPr/>
            </p:nvPicPr>
            <p:blipFill>
              <a:blip r:embed="rId3"/>
              <a:stretch>
                <a:fillRect/>
              </a:stretch>
            </p:blipFill>
            <p:spPr>
              <a:xfrm>
                <a:off x="296091" y="130629"/>
                <a:ext cx="11686903" cy="6662057"/>
              </a:xfrm>
              <a:prstGeom prst="rect">
                <a:avLst/>
              </a:prstGeom>
            </p:spPr>
          </p:pic>
        </mc:Fallback>
      </mc:AlternateContent>
    </p:spTree>
    <p:extLst>
      <p:ext uri="{BB962C8B-B14F-4D97-AF65-F5344CB8AC3E}">
        <p14:creationId xmlns:p14="http://schemas.microsoft.com/office/powerpoint/2010/main" val="63942648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we="http://schemas.microsoft.com/office/webextensions/webextension/2010/11" xmlns:pca="http://schemas.microsoft.com/office/powerpoint/2013/contentapp" Requires="we pca">
          <p:graphicFrame>
            <p:nvGraphicFramePr>
              <p:cNvPr id="2" name="Add-in 1">
                <a:extLst>
                  <a:ext uri="{FF2B5EF4-FFF2-40B4-BE49-F238E27FC236}">
                    <a16:creationId xmlns:a16="http://schemas.microsoft.com/office/drawing/2014/main" id="{3AD33410-42D2-09F0-704D-9E13FB6B6970}"/>
                  </a:ext>
                </a:extLst>
              </p:cNvPr>
              <p:cNvGraphicFramePr>
                <a:graphicFrameLocks noGrp="1"/>
              </p:cNvGraphicFramePr>
              <p:nvPr>
                <p:extLst>
                  <p:ext uri="{D42A27DB-BD31-4B8C-83A1-F6EECF244321}">
                    <p14:modId xmlns:p14="http://schemas.microsoft.com/office/powerpoint/2010/main" val="3052425416"/>
                  </p:ext>
                </p:extLst>
              </p:nvPr>
            </p:nvGraphicFramePr>
            <p:xfrm>
              <a:off x="182880" y="1"/>
              <a:ext cx="12009120" cy="6505302"/>
            </p:xfrm>
            <a:graphic>
              <a:graphicData uri="http://schemas.microsoft.com/office/webextensions/webextension/2010/11">
                <we:webextensionref xmlns:we="http://schemas.microsoft.com/office/webextensions/webextension/2010/11" xmlns:r="http://schemas.openxmlformats.org/officeDocument/2006/relationships" r:id="rId2"/>
              </a:graphicData>
            </a:graphic>
          </p:graphicFrame>
        </mc:Choice>
        <mc:Fallback>
          <p:pic>
            <p:nvPicPr>
              <p:cNvPr id="2" name="Add-in 1">
                <a:extLst>
                  <a:ext uri="{FF2B5EF4-FFF2-40B4-BE49-F238E27FC236}">
                    <a16:creationId xmlns:a16="http://schemas.microsoft.com/office/drawing/2014/main" id="{3AD33410-42D2-09F0-704D-9E13FB6B6970}"/>
                  </a:ext>
                </a:extLst>
              </p:cNvPr>
              <p:cNvPicPr>
                <a:picLocks noGrp="1" noRot="1" noChangeAspect="1" noMove="1" noResize="1" noEditPoints="1" noAdjustHandles="1" noChangeArrowheads="1" noChangeShapeType="1"/>
              </p:cNvPicPr>
              <p:nvPr/>
            </p:nvPicPr>
            <p:blipFill>
              <a:blip r:embed="rId3"/>
              <a:stretch>
                <a:fillRect/>
              </a:stretch>
            </p:blipFill>
            <p:spPr>
              <a:xfrm>
                <a:off x="182880" y="1"/>
                <a:ext cx="12009120" cy="6505302"/>
              </a:xfrm>
              <a:prstGeom prst="rect">
                <a:avLst/>
              </a:prstGeom>
            </p:spPr>
          </p:pic>
        </mc:Fallback>
      </mc:AlternateContent>
    </p:spTree>
    <p:extLst>
      <p:ext uri="{BB962C8B-B14F-4D97-AF65-F5344CB8AC3E}">
        <p14:creationId xmlns:p14="http://schemas.microsoft.com/office/powerpoint/2010/main" val="364763935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55EE131-0E40-75AA-32D3-D7FEC0705152}"/>
              </a:ext>
            </a:extLst>
          </p:cNvPr>
          <p:cNvSpPr txBox="1"/>
          <p:nvPr/>
        </p:nvSpPr>
        <p:spPr>
          <a:xfrm>
            <a:off x="444137" y="1088571"/>
            <a:ext cx="5233852" cy="4770537"/>
          </a:xfrm>
          <a:prstGeom prst="rect">
            <a:avLst/>
          </a:prstGeom>
          <a:noFill/>
        </p:spPr>
        <p:txBody>
          <a:bodyPr wrap="square" rtlCol="0">
            <a:spAutoFit/>
          </a:bodyPr>
          <a:lstStyle/>
          <a:p>
            <a:r>
              <a:rPr lang="en-GB" sz="1600" dirty="0"/>
              <a:t>✅ Obtain prior written approval from the IEO Director before using any AI tool in your design work ​</a:t>
            </a:r>
          </a:p>
          <a:p>
            <a:r>
              <a:rPr lang="en-GB" sz="1600" dirty="0"/>
              <a:t>✅ Use only IEO-vetted GenAI platforms (per Annex 3) ​</a:t>
            </a:r>
          </a:p>
          <a:p>
            <a:r>
              <a:rPr lang="en-GB" sz="1600" dirty="0"/>
              <a:t>✅ Declare in your </a:t>
            </a:r>
            <a:r>
              <a:rPr lang="en-GB" sz="1600" dirty="0" err="1"/>
              <a:t>ToR</a:t>
            </a:r>
            <a:r>
              <a:rPr lang="en-GB" sz="1600" dirty="0"/>
              <a:t> and design docs which AI tool you used and for which task ​</a:t>
            </a:r>
          </a:p>
          <a:p>
            <a:r>
              <a:rPr lang="en-GB" sz="1600" dirty="0"/>
              <a:t>✅ Validate every output manually: check facts, correct hallucinations, ensure relevance ​</a:t>
            </a:r>
          </a:p>
          <a:p>
            <a:r>
              <a:rPr lang="en-GB" sz="1600" dirty="0"/>
              <a:t>✅ Keep a human-in-the-loop: AI drafts or suggests, but humans finalize logic models, questions, risk checklists ​</a:t>
            </a:r>
          </a:p>
          <a:p>
            <a:r>
              <a:rPr lang="en-GB" sz="1600" dirty="0"/>
              <a:t>✅ Adhere to UNFPA’s data-security and privacy policies—never upload personal or sensitive data to public models ​</a:t>
            </a:r>
          </a:p>
          <a:p>
            <a:r>
              <a:rPr lang="en-GB" sz="1600" dirty="0"/>
              <a:t>✅ Document your prompts, input sources, and how you incorporated the AI-generated text into the final design ​</a:t>
            </a:r>
          </a:p>
          <a:p>
            <a:r>
              <a:rPr lang="en-GB" sz="1600" dirty="0"/>
              <a:t>✅ Apply ethical principles (transparency, fairness, non-discrimination) when crafting evaluation questions or stakeholder maps </a:t>
            </a:r>
            <a:endParaRPr lang="en-US" sz="1600" dirty="0"/>
          </a:p>
        </p:txBody>
      </p:sp>
      <p:sp>
        <p:nvSpPr>
          <p:cNvPr id="9" name="TextBox 8">
            <a:extLst>
              <a:ext uri="{FF2B5EF4-FFF2-40B4-BE49-F238E27FC236}">
                <a16:creationId xmlns:a16="http://schemas.microsoft.com/office/drawing/2014/main" id="{45C842ED-803A-C375-17E0-8B3787D727B7}"/>
              </a:ext>
            </a:extLst>
          </p:cNvPr>
          <p:cNvSpPr txBox="1"/>
          <p:nvPr/>
        </p:nvSpPr>
        <p:spPr>
          <a:xfrm>
            <a:off x="5830389" y="1088571"/>
            <a:ext cx="5233852" cy="4770537"/>
          </a:xfrm>
          <a:prstGeom prst="rect">
            <a:avLst/>
          </a:prstGeom>
          <a:noFill/>
        </p:spPr>
        <p:txBody>
          <a:bodyPr wrap="square" rtlCol="0">
            <a:spAutoFit/>
          </a:bodyPr>
          <a:lstStyle/>
          <a:p>
            <a:r>
              <a:rPr lang="en-GB" sz="1600" dirty="0"/>
              <a:t>❌ Use AI without explicit written approval ​</a:t>
            </a:r>
          </a:p>
          <a:p>
            <a:r>
              <a:rPr lang="en-GB" sz="1600" dirty="0"/>
              <a:t>❌ Upload confidential UNFPA data (e.g., participant lists, raw survey responses) into public LLMs ​</a:t>
            </a:r>
          </a:p>
          <a:p>
            <a:r>
              <a:rPr lang="en-GB" sz="1600" dirty="0"/>
              <a:t>❌ Rely on AI to draw final conclusions or write sensitive sections (e.g., GBV ethics, human-rights analysis) without human oversight</a:t>
            </a:r>
          </a:p>
          <a:p>
            <a:r>
              <a:rPr lang="en-GB" sz="1600" dirty="0"/>
              <a:t>❌ Skip the accuracy check - never accept AI text as-is, since models can hallucinate or introduce bias ​</a:t>
            </a:r>
          </a:p>
          <a:p>
            <a:r>
              <a:rPr lang="en-GB" sz="1600" dirty="0"/>
              <a:t>❌ Fail to declare AI use—omitting disclosure violates the AI usage clause ​</a:t>
            </a:r>
          </a:p>
          <a:p>
            <a:r>
              <a:rPr lang="en-GB" sz="1600" dirty="0"/>
              <a:t>❌ Overlook bias mitigation - do not ignore signs of stereotyping, under-representation, or discriminatory language in AI outputs</a:t>
            </a:r>
          </a:p>
          <a:p>
            <a:r>
              <a:rPr lang="en-GB" sz="1600" dirty="0"/>
              <a:t>❌ Disregard copyright or IP: do not pass off AI-generated text that mirrors proprietary sources without proper adaptation and attribution ​</a:t>
            </a:r>
          </a:p>
          <a:p>
            <a:r>
              <a:rPr lang="en-GB" sz="1600" dirty="0"/>
              <a:t>❌ Use AI as a black-box: avoid any “fire-and-forget” approach; maintain full transparency on how AI shaped your design artifacts ​</a:t>
            </a:r>
            <a:endParaRPr lang="en-US" sz="1600" dirty="0"/>
          </a:p>
        </p:txBody>
      </p:sp>
      <p:sp>
        <p:nvSpPr>
          <p:cNvPr id="16" name="TextBox 15">
            <a:extLst>
              <a:ext uri="{FF2B5EF4-FFF2-40B4-BE49-F238E27FC236}">
                <a16:creationId xmlns:a16="http://schemas.microsoft.com/office/drawing/2014/main" id="{48964BC3-DCA8-CD6E-56B8-29CABCD9BFEE}"/>
              </a:ext>
            </a:extLst>
          </p:cNvPr>
          <p:cNvSpPr txBox="1"/>
          <p:nvPr/>
        </p:nvSpPr>
        <p:spPr>
          <a:xfrm>
            <a:off x="2782389" y="150677"/>
            <a:ext cx="6096000" cy="656590"/>
          </a:xfrm>
          <a:prstGeom prst="rect">
            <a:avLst/>
          </a:prstGeom>
          <a:noFill/>
        </p:spPr>
        <p:txBody>
          <a:bodyPr wrap="square">
            <a:spAutoFit/>
          </a:bodyPr>
          <a:lstStyle/>
          <a:p>
            <a:pPr marL="0" marR="0" lvl="0" indent="0" algn="ctr" defTabSz="914400" rtl="0" eaLnBrk="1" fontAlgn="auto" latinLnBrk="0" hangingPunct="1">
              <a:lnSpc>
                <a:spcPts val="4380"/>
              </a:lnSpc>
              <a:spcBef>
                <a:spcPts val="0"/>
              </a:spcBef>
              <a:spcAft>
                <a:spcPts val="0"/>
              </a:spcAft>
              <a:buClrTx/>
              <a:buSzTx/>
              <a:buFontTx/>
              <a:buNone/>
              <a:tabLst/>
              <a:defRPr/>
            </a:pPr>
            <a:r>
              <a:rPr kumimoji="0" lang="en-US" sz="3750" b="1" i="0" u="none" strike="noStrike" kern="0" cap="none" spc="-225" normalizeH="0" baseline="0" noProof="0" dirty="0">
                <a:ln>
                  <a:noFill/>
                </a:ln>
                <a:solidFill>
                  <a:prstClr val="black"/>
                </a:solidFill>
                <a:effectLst/>
                <a:uLnTx/>
                <a:uFillTx/>
                <a:latin typeface="Inter" pitchFamily="34" charset="0"/>
                <a:ea typeface="Inter" pitchFamily="34" charset="-122"/>
                <a:cs typeface="Inter" pitchFamily="34" charset="-120"/>
              </a:rPr>
              <a:t>Do’s and Don'ts Summary</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Tree>
    <p:extLst>
      <p:ext uri="{BB962C8B-B14F-4D97-AF65-F5344CB8AC3E}">
        <p14:creationId xmlns:p14="http://schemas.microsoft.com/office/powerpoint/2010/main" val="386697264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Object 1"/>
          <p:cNvSpPr/>
          <p:nvPr/>
        </p:nvSpPr>
        <p:spPr>
          <a:xfrm>
            <a:off x="0" y="379020"/>
            <a:ext cx="12188952" cy="556081"/>
          </a:xfrm>
          <a:prstGeom prst="rect">
            <a:avLst/>
          </a:prstGeom>
          <a:noFill/>
        </p:spPr>
        <p:txBody>
          <a:bodyPr wrap="square" lIns="0" tIns="0" rIns="0" bIns="0" rtlCol="0" anchor="t"/>
          <a:lstStyle/>
          <a:p>
            <a:pPr algn="ctr">
              <a:lnSpc>
                <a:spcPts val="4380"/>
              </a:lnSpc>
              <a:buNone/>
            </a:pPr>
            <a:r>
              <a:rPr lang="en-US" sz="3750" b="1" kern="0" spc="-225" dirty="0">
                <a:latin typeface="Inter" pitchFamily="34" charset="0"/>
                <a:ea typeface="Inter" pitchFamily="34" charset="-122"/>
                <a:cs typeface="Inter" pitchFamily="34" charset="-120"/>
              </a:rPr>
              <a:t>Next Steps &amp; AI Clauses</a:t>
            </a:r>
            <a:endParaRPr lang="en-US" dirty="0"/>
          </a:p>
        </p:txBody>
      </p:sp>
      <p:sp>
        <p:nvSpPr>
          <p:cNvPr id="3" name="Object 2"/>
          <p:cNvSpPr/>
          <p:nvPr/>
        </p:nvSpPr>
        <p:spPr>
          <a:xfrm>
            <a:off x="1476006" y="1695026"/>
            <a:ext cx="1428393" cy="1428393"/>
          </a:xfrm>
          <a:prstGeom prst="ellipse">
            <a:avLst/>
          </a:prstGeom>
          <a:solidFill>
            <a:srgbClr val="22AAEE"/>
          </a:solidFill>
        </p:spPr>
      </p:sp>
      <p:pic>
        <p:nvPicPr>
          <p:cNvPr id="4" name="Object 3"/>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888903" y="2074439"/>
            <a:ext cx="599925" cy="657061"/>
          </a:xfrm>
          <a:prstGeom prst="rect">
            <a:avLst/>
          </a:prstGeom>
        </p:spPr>
      </p:pic>
      <p:sp>
        <p:nvSpPr>
          <p:cNvPr id="5" name="Object 4"/>
          <p:cNvSpPr/>
          <p:nvPr/>
        </p:nvSpPr>
        <p:spPr>
          <a:xfrm>
            <a:off x="645157" y="3219637"/>
            <a:ext cx="3090090" cy="266931"/>
          </a:xfrm>
          <a:prstGeom prst="rect">
            <a:avLst/>
          </a:prstGeom>
          <a:noFill/>
        </p:spPr>
        <p:txBody>
          <a:bodyPr wrap="square" lIns="0" tIns="0" rIns="0" bIns="0" rtlCol="0" anchor="t"/>
          <a:lstStyle/>
          <a:p>
            <a:pPr algn="ctr">
              <a:lnSpc>
                <a:spcPts val="2102"/>
              </a:lnSpc>
              <a:buNone/>
            </a:pPr>
            <a:r>
              <a:rPr lang="en-US" sz="1800" b="1" kern="0" spc="-108" dirty="0">
                <a:latin typeface="Inter" pitchFamily="34" charset="0"/>
                <a:ea typeface="Inter" pitchFamily="34" charset="-122"/>
                <a:cs typeface="Inter" pitchFamily="34" charset="-120"/>
              </a:rPr>
              <a:t>Obtain written IEO approval</a:t>
            </a:r>
            <a:endParaRPr lang="en-US" dirty="0"/>
          </a:p>
        </p:txBody>
      </p:sp>
      <p:sp>
        <p:nvSpPr>
          <p:cNvPr id="6" name="Object 5"/>
          <p:cNvSpPr/>
          <p:nvPr/>
        </p:nvSpPr>
        <p:spPr>
          <a:xfrm>
            <a:off x="645157" y="3563741"/>
            <a:ext cx="3090090" cy="792460"/>
          </a:xfrm>
          <a:prstGeom prst="rect">
            <a:avLst/>
          </a:prstGeom>
          <a:noFill/>
        </p:spPr>
        <p:txBody>
          <a:bodyPr wrap="square" lIns="0" tIns="0" rIns="0" bIns="0" rtlCol="0" anchor="t"/>
          <a:lstStyle/>
          <a:p>
            <a:pPr algn="ctr">
              <a:lnSpc>
                <a:spcPts val="2081"/>
              </a:lnSpc>
              <a:spcBef>
                <a:spcPts val="596"/>
              </a:spcBef>
              <a:buNone/>
            </a:pPr>
            <a:r>
              <a:rPr lang="en-US" sz="1500" kern="0" spc="-30" dirty="0">
                <a:latin typeface="Inter" pitchFamily="34" charset="0"/>
                <a:ea typeface="Inter" pitchFamily="34" charset="-122"/>
                <a:cs typeface="Inter" pitchFamily="34" charset="-120"/>
              </a:rPr>
              <a:t>Formally approve the strategy and declare all AI tool use in evaluation contracts</a:t>
            </a:r>
            <a:endParaRPr lang="en-US" dirty="0"/>
          </a:p>
        </p:txBody>
      </p:sp>
      <p:sp>
        <p:nvSpPr>
          <p:cNvPr id="7" name="Object 6"/>
          <p:cNvSpPr/>
          <p:nvPr/>
        </p:nvSpPr>
        <p:spPr>
          <a:xfrm>
            <a:off x="5380280" y="1695026"/>
            <a:ext cx="1428393" cy="1428393"/>
          </a:xfrm>
          <a:prstGeom prst="ellipse">
            <a:avLst/>
          </a:prstGeom>
          <a:solidFill>
            <a:srgbClr val="FFD9AD"/>
          </a:solidFill>
        </p:spPr>
      </p:sp>
      <p:pic>
        <p:nvPicPr>
          <p:cNvPr id="8" name="Object 7"/>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768066" y="2124659"/>
            <a:ext cx="666583" cy="571357"/>
          </a:xfrm>
          <a:prstGeom prst="rect">
            <a:avLst/>
          </a:prstGeom>
        </p:spPr>
      </p:pic>
      <p:sp>
        <p:nvSpPr>
          <p:cNvPr id="9" name="Object 8"/>
          <p:cNvSpPr/>
          <p:nvPr/>
        </p:nvSpPr>
        <p:spPr>
          <a:xfrm>
            <a:off x="4538956" y="3219637"/>
            <a:ext cx="3111040" cy="266931"/>
          </a:xfrm>
          <a:prstGeom prst="rect">
            <a:avLst/>
          </a:prstGeom>
          <a:noFill/>
        </p:spPr>
        <p:txBody>
          <a:bodyPr wrap="square" lIns="0" tIns="0" rIns="0" bIns="0" rtlCol="0" anchor="t"/>
          <a:lstStyle/>
          <a:p>
            <a:pPr algn="ctr">
              <a:lnSpc>
                <a:spcPts val="2102"/>
              </a:lnSpc>
              <a:buNone/>
            </a:pPr>
            <a:r>
              <a:rPr lang="en-US" sz="1800" b="1" kern="0" spc="-108" dirty="0">
                <a:latin typeface="Inter" pitchFamily="34" charset="0"/>
                <a:ea typeface="Inter" pitchFamily="34" charset="-122"/>
                <a:cs typeface="Inter" pitchFamily="34" charset="-120"/>
              </a:rPr>
              <a:t>Validate AI outputs</a:t>
            </a:r>
            <a:endParaRPr lang="en-US" dirty="0"/>
          </a:p>
        </p:txBody>
      </p:sp>
      <p:sp>
        <p:nvSpPr>
          <p:cNvPr id="10" name="Object 9"/>
          <p:cNvSpPr/>
          <p:nvPr/>
        </p:nvSpPr>
        <p:spPr>
          <a:xfrm>
            <a:off x="4538956" y="3563741"/>
            <a:ext cx="3111040" cy="792460"/>
          </a:xfrm>
          <a:prstGeom prst="rect">
            <a:avLst/>
          </a:prstGeom>
          <a:noFill/>
        </p:spPr>
        <p:txBody>
          <a:bodyPr wrap="square" lIns="0" tIns="0" rIns="0" bIns="0" rtlCol="0" anchor="t"/>
          <a:lstStyle/>
          <a:p>
            <a:pPr algn="ctr">
              <a:lnSpc>
                <a:spcPts val="2081"/>
              </a:lnSpc>
              <a:spcBef>
                <a:spcPts val="596"/>
              </a:spcBef>
              <a:buNone/>
            </a:pPr>
            <a:r>
              <a:rPr lang="en-US" sz="1500" kern="0" spc="-30" dirty="0">
                <a:latin typeface="Inter" pitchFamily="34" charset="0"/>
                <a:ea typeface="Inter" pitchFamily="34" charset="-122"/>
                <a:cs typeface="Inter" pitchFamily="34" charset="-120"/>
              </a:rPr>
              <a:t>Implement rapid bias-correction processes to ensure accuracy and credibility</a:t>
            </a:r>
            <a:endParaRPr lang="en-US" dirty="0"/>
          </a:p>
        </p:txBody>
      </p:sp>
      <p:sp>
        <p:nvSpPr>
          <p:cNvPr id="11" name="Object 10"/>
          <p:cNvSpPr/>
          <p:nvPr/>
        </p:nvSpPr>
        <p:spPr>
          <a:xfrm>
            <a:off x="9284553" y="1695026"/>
            <a:ext cx="1428393" cy="1428393"/>
          </a:xfrm>
          <a:prstGeom prst="ellipse">
            <a:avLst/>
          </a:prstGeom>
          <a:solidFill>
            <a:srgbClr val="FEC088"/>
          </a:solidFill>
        </p:spPr>
      </p:sp>
      <p:pic>
        <p:nvPicPr>
          <p:cNvPr id="12" name="Object 11"/>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705818" y="2141401"/>
            <a:ext cx="580880" cy="542789"/>
          </a:xfrm>
          <a:prstGeom prst="rect">
            <a:avLst/>
          </a:prstGeom>
        </p:spPr>
      </p:pic>
      <p:sp>
        <p:nvSpPr>
          <p:cNvPr id="13" name="Object 12"/>
          <p:cNvSpPr/>
          <p:nvPr/>
        </p:nvSpPr>
        <p:spPr>
          <a:xfrm>
            <a:off x="8139458" y="3219637"/>
            <a:ext cx="3718583" cy="266931"/>
          </a:xfrm>
          <a:prstGeom prst="rect">
            <a:avLst/>
          </a:prstGeom>
          <a:noFill/>
        </p:spPr>
        <p:txBody>
          <a:bodyPr wrap="square" lIns="0" tIns="0" rIns="0" bIns="0" rtlCol="0" anchor="t"/>
          <a:lstStyle/>
          <a:p>
            <a:pPr algn="ctr">
              <a:lnSpc>
                <a:spcPts val="2102"/>
              </a:lnSpc>
              <a:buNone/>
            </a:pPr>
            <a:r>
              <a:rPr lang="en-US" sz="1800" b="1" kern="0" spc="-108" dirty="0">
                <a:latin typeface="Inter" pitchFamily="34" charset="0"/>
                <a:ea typeface="Inter" pitchFamily="34" charset="-122"/>
                <a:cs typeface="Inter" pitchFamily="34" charset="-120"/>
              </a:rPr>
              <a:t>Embed methodology notes</a:t>
            </a:r>
            <a:endParaRPr lang="en-US" dirty="0"/>
          </a:p>
        </p:txBody>
      </p:sp>
      <p:sp>
        <p:nvSpPr>
          <p:cNvPr id="14" name="Object 13"/>
          <p:cNvSpPr/>
          <p:nvPr/>
        </p:nvSpPr>
        <p:spPr>
          <a:xfrm>
            <a:off x="8139458" y="3563741"/>
            <a:ext cx="3718583" cy="528307"/>
          </a:xfrm>
          <a:prstGeom prst="rect">
            <a:avLst/>
          </a:prstGeom>
          <a:noFill/>
        </p:spPr>
        <p:txBody>
          <a:bodyPr wrap="square" lIns="0" tIns="0" rIns="0" bIns="0" rtlCol="0" anchor="t"/>
          <a:lstStyle/>
          <a:p>
            <a:pPr algn="ctr">
              <a:lnSpc>
                <a:spcPts val="2081"/>
              </a:lnSpc>
              <a:spcBef>
                <a:spcPts val="596"/>
              </a:spcBef>
              <a:buNone/>
            </a:pPr>
            <a:r>
              <a:rPr lang="en-US" sz="1500" kern="0" spc="-30" dirty="0">
                <a:latin typeface="Inter" pitchFamily="34" charset="0"/>
                <a:ea typeface="Inter" pitchFamily="34" charset="-122"/>
                <a:cs typeface="Inter" pitchFamily="34" charset="-120"/>
              </a:rPr>
              <a:t>Include ethical disclosures on AI use in all evaluation outputs and reports</a:t>
            </a:r>
            <a:endParaRPr lang="en-US" dirty="0"/>
          </a:p>
        </p:txBody>
      </p:sp>
      <p:sp>
        <p:nvSpPr>
          <p:cNvPr id="15" name="Object 14"/>
          <p:cNvSpPr/>
          <p:nvPr/>
        </p:nvSpPr>
        <p:spPr>
          <a:xfrm>
            <a:off x="0" y="4875581"/>
            <a:ext cx="12188952" cy="1980705"/>
          </a:xfrm>
          <a:prstGeom prst="rect">
            <a:avLst/>
          </a:prstGeom>
          <a:solidFill>
            <a:srgbClr val="FFD9AD"/>
          </a:solidFill>
        </p:spPr>
      </p:sp>
      <p:sp>
        <p:nvSpPr>
          <p:cNvPr id="16" name="Object 15"/>
          <p:cNvSpPr/>
          <p:nvPr/>
        </p:nvSpPr>
        <p:spPr>
          <a:xfrm>
            <a:off x="1296981" y="5198259"/>
            <a:ext cx="9594991" cy="1334357"/>
          </a:xfrm>
          <a:prstGeom prst="rect">
            <a:avLst/>
          </a:prstGeom>
          <a:noFill/>
        </p:spPr>
        <p:txBody>
          <a:bodyPr wrap="square" lIns="0" tIns="0" rIns="0" bIns="0" rtlCol="0" anchor="ctr"/>
          <a:lstStyle/>
          <a:p>
            <a:pPr algn="ctr">
              <a:lnSpc>
                <a:spcPts val="2628"/>
              </a:lnSpc>
              <a:buNone/>
            </a:pPr>
            <a:r>
              <a:rPr lang="en-US" sz="2250" b="1" kern="0" spc="-135" dirty="0">
                <a:latin typeface="Inter" pitchFamily="34" charset="0"/>
                <a:ea typeface="Inter" pitchFamily="34" charset="-122"/>
                <a:cs typeface="Inter" pitchFamily="34" charset="-120"/>
              </a:rPr>
              <a:t>By taking these immediate next steps, UNFPA will ensure a robust, transparent, and accountable approach to the responsible use of GenAI in its evaluation function, setting a strong precedent for the wider evaluation community.</a:t>
            </a:r>
            <a:endParaRPr lang="en-US" dirty="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ENTIMETER_SERIES_ID_KEY" val="aldkn72govua6pfafvcqwyenx833iuzs"/>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webextension1.xml.rels><?xml version="1.0" encoding="UTF-8" standalone="yes"?>
<Relationships xmlns="http://schemas.openxmlformats.org/package/2006/relationships"><Relationship Id="rId1" Type="http://schemas.openxmlformats.org/officeDocument/2006/relationships/image" Target="../media/image2.png"/></Relationships>
</file>

<file path=ppt/webextensions/_rels/webextension2.xml.rels><?xml version="1.0" encoding="UTF-8" standalone="yes"?>
<Relationships xmlns="http://schemas.openxmlformats.org/package/2006/relationships"><Relationship Id="rId1" Type="http://schemas.openxmlformats.org/officeDocument/2006/relationships/image" Target="../media/image102.png"/></Relationships>
</file>

<file path=ppt/webextensions/_rels/webextension3.xml.rels><?xml version="1.0" encoding="UTF-8" standalone="yes"?>
<Relationships xmlns="http://schemas.openxmlformats.org/package/2006/relationships"><Relationship Id="rId1" Type="http://schemas.openxmlformats.org/officeDocument/2006/relationships/image" Target="../media/image103.png"/></Relationships>
</file>

<file path=ppt/webextensions/webextension1.xml><?xml version="1.0" encoding="utf-8"?>
<we:webextension xmlns:we="http://schemas.microsoft.com/office/webextensions/webextension/2010/11" id="{99732E29-32B6-4E68-916D-596A73258E37}">
  <we:reference id="wa104379261" version="4.3.0.0" store="en-US" storeType="OMEX"/>
  <we:alternateReferences>
    <we:reference id="WA104379261" version="4.3.0.0" store="" storeType="OMEX"/>
  </we:alternateReferences>
  <we:properties>
    <we:property name="MENTIMETER_QUESTION_ID_KEY" value="&quot;evkmecixoj8y&quot;"/>
  </we:properties>
  <we:bindings/>
  <we:snapshot xmlns:r="http://schemas.openxmlformats.org/officeDocument/2006/relationships" r:embed="rId1"/>
</we:webextension>
</file>

<file path=ppt/webextensions/webextension2.xml><?xml version="1.0" encoding="utf-8"?>
<we:webextension xmlns:we="http://schemas.microsoft.com/office/webextensions/webextension/2010/11" id="{09BE6080-8303-46A4-957A-F5B63F373B53}">
  <we:reference id="wa104379261" version="4.3.0.0" store="en-US" storeType="OMEX"/>
  <we:alternateReferences>
    <we:reference id="wa104379261" version="4.3.0.0" store="wa104379261" storeType="OMEX"/>
  </we:alternateReferences>
  <we:properties>
    <we:property name="MENTIMETER_QUESTION_ID_KEY" value="&quot;h9ji6id121ub&quot;"/>
  </we:properties>
  <we:bindings/>
  <we:snapshot xmlns:r="http://schemas.openxmlformats.org/officeDocument/2006/relationships" r:embed="rId1"/>
</we:webextension>
</file>

<file path=ppt/webextensions/webextension3.xml><?xml version="1.0" encoding="utf-8"?>
<we:webextension xmlns:we="http://schemas.microsoft.com/office/webextensions/webextension/2010/11" id="{0985C8CA-9791-4F46-8BA8-2786228114F4}">
  <we:reference id="wa104379261" version="4.3.0.0" store="en-US" storeType="OMEX"/>
  <we:alternateReferences>
    <we:reference id="WA104379261" version="4.3.0.0" store="" storeType="OMEX"/>
  </we:alternateReferences>
  <we:properties>
    <we:property name="MENTIMETER_QUESTION_ID_KEY" value="&quot;oxzrv4kxz42c&quot;"/>
  </we:properties>
  <we:bindings/>
  <we:snapshot xmlns:r="http://schemas.openxmlformats.org/officeDocument/2006/relationships" r:embed="rId1"/>
</we:webextension>
</file>

<file path=docProps/app.xml><?xml version="1.0" encoding="utf-8"?>
<Properties xmlns="http://schemas.openxmlformats.org/officeDocument/2006/extended-properties" xmlns:vt="http://schemas.openxmlformats.org/officeDocument/2006/docPropsVTypes">
  <TotalTime>304</TotalTime>
  <Words>3820</Words>
  <Application>Microsoft Office PowerPoint</Application>
  <PresentationFormat>Widescreen</PresentationFormat>
  <Paragraphs>376</Paragraphs>
  <Slides>37</Slides>
  <Notes>31</Notes>
  <HiddenSlides>3</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37</vt:i4>
      </vt:variant>
    </vt:vector>
  </HeadingPairs>
  <TitlesOfParts>
    <vt:vector size="42" baseType="lpstr">
      <vt:lpstr>Inter Medium</vt:lpstr>
      <vt:lpstr>Inter</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Beautiful.ai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GenAI-Powered Evaluation at UNFPA</dc:title>
  <dc:subject>GenAI-Powered Evaluation at UNFPA</dc:subject>
  <dc:creator>Rafi Jahin</dc:creator>
  <cp:lastModifiedBy>Rafi Jahin</cp:lastModifiedBy>
  <cp:revision>9</cp:revision>
  <dcterms:created xsi:type="dcterms:W3CDTF">2025-04-28T06:08:17Z</dcterms:created>
  <dcterms:modified xsi:type="dcterms:W3CDTF">2025-04-28T12:35:48Z</dcterms:modified>
</cp:coreProperties>
</file>